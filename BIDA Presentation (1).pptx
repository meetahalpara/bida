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84" r:id="rId2"/>
    <p:sldId id="451" r:id="rId3"/>
    <p:sldId id="326" r:id="rId4"/>
    <p:sldId id="257" r:id="rId5"/>
    <p:sldId id="325" r:id="rId6"/>
    <p:sldId id="328" r:id="rId7"/>
    <p:sldId id="327" r:id="rId8"/>
    <p:sldId id="329" r:id="rId9"/>
    <p:sldId id="262" r:id="rId10"/>
    <p:sldId id="330" r:id="rId11"/>
    <p:sldId id="332" r:id="rId12"/>
    <p:sldId id="471" r:id="rId13"/>
    <p:sldId id="459" r:id="rId14"/>
    <p:sldId id="465" r:id="rId15"/>
    <p:sldId id="466" r:id="rId16"/>
    <p:sldId id="472" r:id="rId17"/>
    <p:sldId id="460" r:id="rId18"/>
    <p:sldId id="467" r:id="rId19"/>
    <p:sldId id="468" r:id="rId20"/>
    <p:sldId id="473" r:id="rId21"/>
    <p:sldId id="464" r:id="rId22"/>
    <p:sldId id="469" r:id="rId23"/>
    <p:sldId id="474" r:id="rId24"/>
    <p:sldId id="462" r:id="rId25"/>
    <p:sldId id="336" r:id="rId26"/>
    <p:sldId id="475" r:id="rId27"/>
    <p:sldId id="347" r:id="rId28"/>
    <p:sldId id="394" r:id="rId29"/>
    <p:sldId id="395" r:id="rId30"/>
    <p:sldId id="396" r:id="rId31"/>
    <p:sldId id="397" r:id="rId32"/>
    <p:sldId id="398" r:id="rId33"/>
    <p:sldId id="399" r:id="rId34"/>
    <p:sldId id="400" r:id="rId35"/>
    <p:sldId id="401" r:id="rId36"/>
    <p:sldId id="477" r:id="rId37"/>
    <p:sldId id="402" r:id="rId38"/>
    <p:sldId id="478" r:id="rId39"/>
    <p:sldId id="403" r:id="rId40"/>
    <p:sldId id="479" r:id="rId41"/>
    <p:sldId id="480" r:id="rId42"/>
    <p:sldId id="481" r:id="rId43"/>
    <p:sldId id="482" r:id="rId44"/>
    <p:sldId id="404" r:id="rId45"/>
    <p:sldId id="483" r:id="rId46"/>
    <p:sldId id="405" r:id="rId47"/>
    <p:sldId id="348" r:id="rId48"/>
    <p:sldId id="338" r:id="rId49"/>
    <p:sldId id="354" r:id="rId50"/>
    <p:sldId id="357" r:id="rId51"/>
    <p:sldId id="358" r:id="rId52"/>
    <p:sldId id="361" r:id="rId53"/>
    <p:sldId id="362" r:id="rId54"/>
    <p:sldId id="363" r:id="rId55"/>
    <p:sldId id="364" r:id="rId56"/>
    <p:sldId id="365" r:id="rId57"/>
    <p:sldId id="366" r:id="rId58"/>
    <p:sldId id="367" r:id="rId59"/>
    <p:sldId id="368" r:id="rId60"/>
    <p:sldId id="369" r:id="rId61"/>
    <p:sldId id="406" r:id="rId62"/>
    <p:sldId id="407" r:id="rId63"/>
    <p:sldId id="408" r:id="rId64"/>
    <p:sldId id="409" r:id="rId65"/>
    <p:sldId id="410" r:id="rId66"/>
    <p:sldId id="411" r:id="rId67"/>
    <p:sldId id="412" r:id="rId68"/>
    <p:sldId id="413" r:id="rId69"/>
    <p:sldId id="414" r:id="rId70"/>
    <p:sldId id="415" r:id="rId71"/>
    <p:sldId id="431" r:id="rId72"/>
    <p:sldId id="433" r:id="rId73"/>
    <p:sldId id="434" r:id="rId74"/>
    <p:sldId id="435" r:id="rId75"/>
    <p:sldId id="416" r:id="rId76"/>
    <p:sldId id="417" r:id="rId77"/>
    <p:sldId id="437" r:id="rId78"/>
    <p:sldId id="436" r:id="rId79"/>
    <p:sldId id="350" r:id="rId80"/>
    <p:sldId id="418" r:id="rId81"/>
    <p:sldId id="419" r:id="rId82"/>
    <p:sldId id="420" r:id="rId83"/>
    <p:sldId id="438" r:id="rId84"/>
    <p:sldId id="439" r:id="rId85"/>
    <p:sldId id="422" r:id="rId86"/>
    <p:sldId id="440" r:id="rId87"/>
    <p:sldId id="441" r:id="rId88"/>
    <p:sldId id="447" r:id="rId89"/>
    <p:sldId id="456" r:id="rId90"/>
    <p:sldId id="449" r:id="rId91"/>
    <p:sldId id="448" r:id="rId92"/>
    <p:sldId id="423" r:id="rId93"/>
    <p:sldId id="452" r:id="rId94"/>
    <p:sldId id="454" r:id="rId95"/>
    <p:sldId id="458" r:id="rId96"/>
    <p:sldId id="457" r:id="rId97"/>
    <p:sldId id="453" r:id="rId98"/>
    <p:sldId id="463" r:id="rId99"/>
    <p:sldId id="470" r:id="rId100"/>
    <p:sldId id="476" r:id="rId101"/>
    <p:sldId id="323" r:id="rId10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B2EDB5E-47F9-4E9C-A52A-DA06D8499C3F}">
          <p14:sldIdLst>
            <p14:sldId id="484"/>
            <p14:sldId id="451"/>
            <p14:sldId id="326"/>
          </p14:sldIdLst>
        </p14:section>
        <p14:section name="Business Understanding" id="{E2CE6094-0E99-4A8C-A00C-02C8DD13787B}">
          <p14:sldIdLst>
            <p14:sldId id="257"/>
            <p14:sldId id="325"/>
            <p14:sldId id="328"/>
            <p14:sldId id="327"/>
            <p14:sldId id="329"/>
          </p14:sldIdLst>
        </p14:section>
        <p14:section name="Data Understanding" id="{BC722A12-2828-43D9-8BFB-0C126C45D54B}">
          <p14:sldIdLst>
            <p14:sldId id="262"/>
            <p14:sldId id="330"/>
            <p14:sldId id="332"/>
            <p14:sldId id="471"/>
            <p14:sldId id="459"/>
            <p14:sldId id="465"/>
            <p14:sldId id="466"/>
            <p14:sldId id="472"/>
            <p14:sldId id="460"/>
            <p14:sldId id="467"/>
            <p14:sldId id="468"/>
            <p14:sldId id="473"/>
            <p14:sldId id="464"/>
            <p14:sldId id="469"/>
            <p14:sldId id="474"/>
            <p14:sldId id="462"/>
            <p14:sldId id="336"/>
            <p14:sldId id="475"/>
          </p14:sldIdLst>
        </p14:section>
        <p14:section name="kNN" id="{6F95A380-6210-49C6-876C-7B238853A399}">
          <p14:sldIdLst>
            <p14:sldId id="347"/>
            <p14:sldId id="394"/>
            <p14:sldId id="395"/>
            <p14:sldId id="396"/>
            <p14:sldId id="397"/>
            <p14:sldId id="398"/>
            <p14:sldId id="399"/>
            <p14:sldId id="400"/>
            <p14:sldId id="401"/>
            <p14:sldId id="477"/>
            <p14:sldId id="402"/>
            <p14:sldId id="478"/>
            <p14:sldId id="403"/>
            <p14:sldId id="479"/>
            <p14:sldId id="480"/>
            <p14:sldId id="481"/>
            <p14:sldId id="482"/>
            <p14:sldId id="404"/>
            <p14:sldId id="483"/>
            <p14:sldId id="405"/>
          </p14:sldIdLst>
        </p14:section>
        <p14:section name="Decision Tree" id="{9842CCF5-ADBC-4EE5-9993-2F20455A0524}">
          <p14:sldIdLst>
            <p14:sldId id="348"/>
            <p14:sldId id="338"/>
            <p14:sldId id="354"/>
            <p14:sldId id="357"/>
            <p14:sldId id="358"/>
            <p14:sldId id="361"/>
            <p14:sldId id="362"/>
            <p14:sldId id="363"/>
            <p14:sldId id="364"/>
            <p14:sldId id="365"/>
            <p14:sldId id="366"/>
            <p14:sldId id="367"/>
            <p14:sldId id="368"/>
          </p14:sldIdLst>
        </p14:section>
        <p14:section name="Clustering" id="{55E81D89-164F-465C-9C6A-E0E4E64AF213}">
          <p14:sldIdLst>
            <p14:sldId id="369"/>
            <p14:sldId id="406"/>
            <p14:sldId id="407"/>
            <p14:sldId id="408"/>
            <p14:sldId id="409"/>
            <p14:sldId id="410"/>
            <p14:sldId id="411"/>
            <p14:sldId id="412"/>
            <p14:sldId id="413"/>
            <p14:sldId id="414"/>
            <p14:sldId id="415"/>
            <p14:sldId id="431"/>
            <p14:sldId id="433"/>
            <p14:sldId id="434"/>
            <p14:sldId id="435"/>
            <p14:sldId id="416"/>
            <p14:sldId id="417"/>
            <p14:sldId id="437"/>
            <p14:sldId id="436"/>
          </p14:sldIdLst>
        </p14:section>
        <p14:section name="Outlier Detection" id="{0D95FCC4-5853-4874-B9EE-451E1731EC2F}">
          <p14:sldIdLst>
            <p14:sldId id="350"/>
            <p14:sldId id="418"/>
            <p14:sldId id="419"/>
            <p14:sldId id="420"/>
            <p14:sldId id="438"/>
            <p14:sldId id="439"/>
            <p14:sldId id="422"/>
            <p14:sldId id="440"/>
            <p14:sldId id="441"/>
            <p14:sldId id="447"/>
            <p14:sldId id="456"/>
            <p14:sldId id="449"/>
            <p14:sldId id="448"/>
            <p14:sldId id="423"/>
            <p14:sldId id="452"/>
            <p14:sldId id="454"/>
            <p14:sldId id="458"/>
            <p14:sldId id="457"/>
            <p14:sldId id="453"/>
            <p14:sldId id="463"/>
            <p14:sldId id="470"/>
            <p14:sldId id="476"/>
          </p14:sldIdLst>
        </p14:section>
        <p14:section name="Conclusion" id="{2CD3FD40-79D1-481E-B4A8-A78CBD2EB4F5}">
          <p14:sldIdLst>
            <p14:sldId id="32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3A7D04-B3BB-6697-FD28-D03084D45D31}" name="Joseph Riel" initials="JR" userId="S::riel0015@algonquinlive.com::7e05e435-ad37-4f5b-a9ca-5862c389491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A7026-6EA1-62AF-C80B-8127387D1379}" v="4" dt="2025-03-31T03:48:30.655"/>
    <p1510:client id="{0F9500B1-08BB-356A-D6CC-17EA437A3996}" v="592" dt="2025-03-29T21:15:38.049"/>
    <p1510:client id="{2C504CB7-76C1-DD17-02FF-1980C6CA7BCE}" v="6" dt="2025-03-30T19:34:59.114"/>
    <p1510:client id="{5380C904-DE68-DE67-E6CF-F99E76110B2F}" v="1310" dt="2025-03-29T18:22:21.751"/>
    <p1510:client id="{556842E3-C1EF-B4FE-EE6C-9557808010F8}" v="1045" dt="2025-03-30T23:55:08.388"/>
    <p1510:client id="{65AC020D-72C5-1A6C-5AB1-7044CDAEBA4D}" v="117" dt="2025-03-30T23:05:41.879"/>
    <p1510:client id="{6F7C5BC8-D682-4250-9110-44C0078F6EE2}" v="177" dt="2025-03-30T05:33:58.906"/>
    <p1510:client id="{89CFE757-7162-B73F-FB8B-06C1AB755843}" v="612" dt="2025-03-30T23:59:52.785"/>
    <p1510:client id="{A24C5C7D-2A8E-167A-716D-59A6B3777529}" v="29" dt="2025-03-31T03:24:38.264"/>
    <p1510:client id="{B37619F4-3A39-3932-5E1F-FDAAE6ECDF23}" v="4015" dt="2025-03-29T21:01:30.158"/>
    <p1510:client id="{B51B1903-1417-39D9-E3BA-450B7BA7FB64}" v="152" dt="2025-03-31T00:44:26.472"/>
    <p1510:client id="{C7E9C3F2-AEBC-C35C-38E8-EE1905863CBF}" v="13" dt="2025-03-31T03:50:10.062"/>
    <p1510:client id="{E0DAE709-3324-089B-A7AF-388EF05427E7}" v="420" dt="2025-03-31T02:47:11.415"/>
    <p1510:client id="{E12EF1F1-27BA-E220-21EA-757D6B2060B9}" v="3" dt="2025-03-30T23:05:11.030"/>
    <p1510:client id="{E2CEE9C5-8FA4-01D3-4018-CFFB01566294}" v="2480" dt="2025-03-30T23:19:13.1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5/10/relationships/revisionInfo" Target="revisionInfo.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open.toronto.ca/dataset/bicycle-theft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F212A-EB16-6703-5C07-FE5C5639D502}"/>
              </a:ext>
            </a:extLst>
          </p:cNvPr>
          <p:cNvSpPr>
            <a:spLocks noGrp="1"/>
          </p:cNvSpPr>
          <p:nvPr>
            <p:ph type="ctrTitle"/>
          </p:nvPr>
        </p:nvSpPr>
        <p:spPr>
          <a:xfrm>
            <a:off x="685800" y="838338"/>
            <a:ext cx="7176053" cy="2706894"/>
          </a:xfrm>
        </p:spPr>
        <p:txBody>
          <a:bodyPr/>
          <a:lstStyle/>
          <a:p>
            <a:r>
              <a:rPr lang="en-US" sz="2600">
                <a:latin typeface="Times New Roman"/>
                <a:cs typeface="Times New Roman"/>
              </a:rPr>
              <a:t>Understanding Bicycle Theft Risk: </a:t>
            </a:r>
            <a:endParaRPr lang="en-US"/>
          </a:p>
          <a:p>
            <a:r>
              <a:rPr lang="en-US" sz="2600">
                <a:latin typeface="Times New Roman"/>
                <a:cs typeface="Times New Roman"/>
              </a:rPr>
              <a:t>Drawing Correlations Between Bicycle Cost and Risk of Theft Based on Location &amp; Time Factors</a:t>
            </a:r>
            <a:endParaRPr lang="en-US"/>
          </a:p>
          <a:p>
            <a:endParaRPr lang="en-US" dirty="0">
              <a:ea typeface="Calibri"/>
              <a:cs typeface="Calibri"/>
            </a:endParaRPr>
          </a:p>
        </p:txBody>
      </p:sp>
      <p:sp>
        <p:nvSpPr>
          <p:cNvPr id="3" name="Subtitle 2">
            <a:extLst>
              <a:ext uri="{FF2B5EF4-FFF2-40B4-BE49-F238E27FC236}">
                <a16:creationId xmlns:a16="http://schemas.microsoft.com/office/drawing/2014/main" id="{D34B3EF1-64CD-4905-8343-80BADD392ECF}"/>
              </a:ext>
            </a:extLst>
          </p:cNvPr>
          <p:cNvSpPr>
            <a:spLocks noGrp="1"/>
          </p:cNvSpPr>
          <p:nvPr>
            <p:ph type="subTitle" idx="1"/>
          </p:nvPr>
        </p:nvSpPr>
        <p:spPr>
          <a:xfrm>
            <a:off x="1371600" y="3830982"/>
            <a:ext cx="6400800" cy="1807818"/>
          </a:xfrm>
        </p:spPr>
        <p:txBody>
          <a:bodyPr vert="horz" lIns="91440" tIns="45720" rIns="91440" bIns="45720" rtlCol="0" anchor="t">
            <a:normAutofit fontScale="40000" lnSpcReduction="20000"/>
          </a:bodyPr>
          <a:lstStyle/>
          <a:p>
            <a:r>
              <a:rPr lang="en-US" sz="1800" dirty="0">
                <a:latin typeface="Times New Roman"/>
                <a:cs typeface="Times New Roman"/>
              </a:rPr>
              <a:t>CST8390 – 011</a:t>
            </a:r>
            <a:br>
              <a:rPr lang="en-US" sz="1800" dirty="0">
                <a:latin typeface="Times New Roman"/>
                <a:cs typeface="Times New Roman"/>
              </a:rPr>
            </a:br>
            <a:r>
              <a:rPr lang="en-US" sz="1800" dirty="0">
                <a:latin typeface="Times New Roman"/>
                <a:cs typeface="Times New Roman"/>
              </a:rPr>
              <a:t> Group Project</a:t>
            </a:r>
            <a:endParaRPr lang="en-US" dirty="0"/>
          </a:p>
          <a:p>
            <a:endParaRPr lang="en-US"/>
          </a:p>
          <a:p>
            <a:endParaRPr lang="en-US" dirty="0">
              <a:latin typeface="Calibri"/>
              <a:ea typeface="Calibri"/>
              <a:cs typeface="Calibri"/>
            </a:endParaRPr>
          </a:p>
          <a:p>
            <a:r>
              <a:rPr lang="en-US" sz="1600" dirty="0">
                <a:latin typeface="Times New Roman"/>
                <a:cs typeface="Times New Roman"/>
              </a:rPr>
              <a:t>Meet </a:t>
            </a:r>
            <a:r>
              <a:rPr lang="en-US" sz="1600" dirty="0" err="1">
                <a:latin typeface="Times New Roman"/>
                <a:cs typeface="Times New Roman"/>
              </a:rPr>
              <a:t>Ahalpara</a:t>
            </a:r>
            <a:endParaRPr lang="en-US" dirty="0" err="1"/>
          </a:p>
          <a:p>
            <a:r>
              <a:rPr lang="en-US" sz="1600" dirty="0">
                <a:latin typeface="Times New Roman"/>
                <a:cs typeface="Times New Roman"/>
              </a:rPr>
              <a:t>Nataliya </a:t>
            </a:r>
            <a:r>
              <a:rPr lang="en-US" sz="1600" dirty="0" err="1">
                <a:latin typeface="Times New Roman"/>
                <a:cs typeface="Times New Roman"/>
              </a:rPr>
              <a:t>Burlakov</a:t>
            </a:r>
            <a:endParaRPr lang="en-US" dirty="0" err="1"/>
          </a:p>
          <a:p>
            <a:r>
              <a:rPr lang="en-US" sz="1600" dirty="0">
                <a:latin typeface="Times New Roman"/>
                <a:cs typeface="Times New Roman"/>
              </a:rPr>
              <a:t>Krish Patel</a:t>
            </a:r>
            <a:endParaRPr lang="en-US" dirty="0"/>
          </a:p>
          <a:p>
            <a:r>
              <a:rPr lang="en-US" sz="1600" dirty="0">
                <a:latin typeface="Times New Roman"/>
                <a:cs typeface="Times New Roman"/>
              </a:rPr>
              <a:t>Joseph Riel</a:t>
            </a:r>
            <a:endParaRPr lang="en-US" dirty="0"/>
          </a:p>
          <a:p>
            <a:endParaRPr lang="en-US"/>
          </a:p>
          <a:p>
            <a:endParaRPr lang="en-US"/>
          </a:p>
          <a:p>
            <a:r>
              <a:rPr lang="en-US" sz="1800" dirty="0">
                <a:latin typeface="Times New Roman"/>
                <a:cs typeface="Times New Roman"/>
              </a:rPr>
              <a:t>March 30, 2025</a:t>
            </a:r>
            <a:endParaRPr lang="en-US" dirty="0"/>
          </a:p>
          <a:p>
            <a:endParaRPr lang="en-US" dirty="0">
              <a:ea typeface="Calibri"/>
              <a:cs typeface="Calibri"/>
            </a:endParaRPr>
          </a:p>
        </p:txBody>
      </p:sp>
    </p:spTree>
    <p:extLst>
      <p:ext uri="{BB962C8B-B14F-4D97-AF65-F5344CB8AC3E}">
        <p14:creationId xmlns:p14="http://schemas.microsoft.com/office/powerpoint/2010/main" val="3742484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2A665-9AEA-BEDD-768E-79F6DEA49E4E}"/>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58E56CBF-84D3-CD73-37B1-F4CE81DFA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6" name="Rectangle 5">
              <a:extLst>
                <a:ext uri="{FF2B5EF4-FFF2-40B4-BE49-F238E27FC236}">
                  <a16:creationId xmlns:a16="http://schemas.microsoft.com/office/drawing/2014/main" id="{BC80B467-534F-FF73-307A-CA2A7C3038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32195098-088F-0B88-3133-426F8FB03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432B1DD0-D8F7-3419-B6B8-EBD2D1FFE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5F0A65A1-ABBD-03D3-66E8-0C99D04292C4}"/>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Introduction</a:t>
            </a:r>
          </a:p>
        </p:txBody>
      </p:sp>
      <p:sp>
        <p:nvSpPr>
          <p:cNvPr id="3" name="Content Placeholder 2">
            <a:extLst>
              <a:ext uri="{FF2B5EF4-FFF2-40B4-BE49-F238E27FC236}">
                <a16:creationId xmlns:a16="http://schemas.microsoft.com/office/drawing/2014/main" id="{DF048219-BAA6-F094-FB45-F5262208CEE8}"/>
              </a:ext>
            </a:extLst>
          </p:cNvPr>
          <p:cNvSpPr>
            <a:spLocks noGrp="1"/>
          </p:cNvSpPr>
          <p:nvPr>
            <p:ph idx="1"/>
          </p:nvPr>
        </p:nvSpPr>
        <p:spPr>
          <a:xfrm>
            <a:off x="657518" y="2308124"/>
            <a:ext cx="7857832" cy="3673576"/>
          </a:xfrm>
        </p:spPr>
        <p:txBody>
          <a:bodyPr>
            <a:normAutofit/>
          </a:bodyPr>
          <a:lstStyle/>
          <a:p>
            <a:r>
              <a:rPr lang="en-US" sz="2400"/>
              <a:t>Bicycle theft is a common urban issue; identifying patterns and risk factors can help prevent crimes.</a:t>
            </a:r>
          </a:p>
          <a:p>
            <a:r>
              <a:rPr lang="en-US" sz="2400"/>
              <a:t>This study analyzes Toronto Police Service bicycle theft data to uncover trends and risk factors.</a:t>
            </a:r>
          </a:p>
          <a:p>
            <a:r>
              <a:rPr lang="en-US" sz="2400"/>
              <a:t>The dataset includes details like date, time, location, and bicycle attributes (adjusted for privacy).</a:t>
            </a:r>
          </a:p>
          <a:p>
            <a:r>
              <a:rPr lang="en-US" sz="2400"/>
              <a:t>Various data models (KNN, Decision Trees, Clustering, Outlier Detection) are applied to identify key theft factors</a:t>
            </a:r>
            <a:r>
              <a:rPr lang="en-US" sz="1800"/>
              <a:t>.</a:t>
            </a:r>
            <a:endParaRPr lang="en-CA" sz="1800"/>
          </a:p>
        </p:txBody>
      </p:sp>
    </p:spTree>
    <p:extLst>
      <p:ext uri="{BB962C8B-B14F-4D97-AF65-F5344CB8AC3E}">
        <p14:creationId xmlns:p14="http://schemas.microsoft.com/office/powerpoint/2010/main" val="4155082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6" name="Rectangle 5">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70C240E-BDF9-4139-61F2-804E00789B0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Our Presentation</a:t>
            </a:r>
          </a:p>
        </p:txBody>
      </p:sp>
      <p:sp>
        <p:nvSpPr>
          <p:cNvPr id="3" name="Content Placeholder 2">
            <a:extLst>
              <a:ext uri="{FF2B5EF4-FFF2-40B4-BE49-F238E27FC236}">
                <a16:creationId xmlns:a16="http://schemas.microsoft.com/office/drawing/2014/main" id="{0FD24BBC-0F1A-49ED-9481-C25354FC3FE9}"/>
              </a:ext>
            </a:extLst>
          </p:cNvPr>
          <p:cNvSpPr>
            <a:spLocks noGrp="1"/>
          </p:cNvSpPr>
          <p:nvPr>
            <p:ph idx="1"/>
          </p:nvPr>
        </p:nvSpPr>
        <p:spPr>
          <a:xfrm>
            <a:off x="657518" y="2308124"/>
            <a:ext cx="7857832" cy="3673576"/>
          </a:xfrm>
        </p:spPr>
        <p:txBody>
          <a:bodyPr>
            <a:normAutofit/>
          </a:bodyPr>
          <a:lstStyle/>
          <a:p>
            <a:r>
              <a:rPr lang="en-CA"/>
              <a:t>Will be structured based on the Cross-Industry Standard Process for Data Mining (CRISP-DM)</a:t>
            </a:r>
          </a:p>
          <a:p>
            <a:endParaRPr lang="en-CA" sz="1700"/>
          </a:p>
        </p:txBody>
      </p:sp>
    </p:spTree>
    <p:extLst>
      <p:ext uri="{BB962C8B-B14F-4D97-AF65-F5344CB8AC3E}">
        <p14:creationId xmlns:p14="http://schemas.microsoft.com/office/powerpoint/2010/main" val="1841924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657518" y="301843"/>
            <a:ext cx="7857832" cy="1003532"/>
          </a:xfrm>
        </p:spPr>
        <p:txBody>
          <a:bodyPr anchor="ctr">
            <a:normAutofit/>
          </a:bodyPr>
          <a:lstStyle/>
          <a:p>
            <a:r>
              <a:rPr lang="en-CA" sz="2800">
                <a:solidFill>
                  <a:srgbClr val="FFFFFF"/>
                </a:solidFill>
              </a:rPr>
              <a:t>2.0 Business Understanding</a:t>
            </a:r>
          </a:p>
        </p:txBody>
      </p:sp>
      <p:sp>
        <p:nvSpPr>
          <p:cNvPr id="3" name="Content Placeholder 2"/>
          <p:cNvSpPr>
            <a:spLocks noGrp="1"/>
          </p:cNvSpPr>
          <p:nvPr>
            <p:ph idx="1"/>
          </p:nvPr>
        </p:nvSpPr>
        <p:spPr>
          <a:xfrm>
            <a:off x="657518" y="2308124"/>
            <a:ext cx="7857832" cy="3673576"/>
          </a:xfrm>
        </p:spPr>
        <p:txBody>
          <a:bodyPr>
            <a:normAutofit/>
          </a:bodyPr>
          <a:lstStyle/>
          <a:p>
            <a:r>
              <a:rPr lang="en-CA" sz="2400"/>
              <a:t>In this section we’ll run you through:</a:t>
            </a:r>
          </a:p>
          <a:p>
            <a:pPr marL="971550" lvl="1" indent="-514350">
              <a:buFont typeface="+mj-lt"/>
              <a:buAutoNum type="arabicPeriod"/>
            </a:pPr>
            <a:r>
              <a:rPr lang="en-CA" sz="2400"/>
              <a:t>What our business objectives are</a:t>
            </a:r>
          </a:p>
          <a:p>
            <a:pPr marL="971550" lvl="1" indent="-514350">
              <a:buFont typeface="+mj-lt"/>
              <a:buAutoNum type="arabicPeriod"/>
            </a:pPr>
            <a:r>
              <a:rPr lang="en-CA" sz="2400"/>
              <a:t>Assess the ongoing bike-theft situation in Toronto area</a:t>
            </a:r>
          </a:p>
          <a:p>
            <a:pPr marL="1371600" lvl="2" indent="-514350"/>
            <a:r>
              <a:rPr lang="en-CA"/>
              <a:t>Will not include the greater Toronto area (GTA: Markham, Vaughan, Kitchener, etc.)</a:t>
            </a:r>
          </a:p>
          <a:p>
            <a:pPr marL="971550" lvl="1" indent="-514350">
              <a:buFont typeface="+mj-lt"/>
              <a:buAutoNum type="arabicPeriod"/>
            </a:pPr>
            <a:r>
              <a:rPr lang="en-CA" sz="2400"/>
              <a:t>What our data mining goals were</a:t>
            </a:r>
          </a:p>
          <a:p>
            <a:pPr lvl="1"/>
            <a:endParaRPr lang="en-CA" sz="1700"/>
          </a:p>
          <a:p>
            <a:pPr lvl="1"/>
            <a:endParaRPr lang="en-CA" sz="1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7AF469F-64A7-F77E-0B9F-6877A770B93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Business Objectives</a:t>
            </a:r>
          </a:p>
        </p:txBody>
      </p:sp>
      <p:sp>
        <p:nvSpPr>
          <p:cNvPr id="3" name="Content Placeholder 2">
            <a:extLst>
              <a:ext uri="{FF2B5EF4-FFF2-40B4-BE49-F238E27FC236}">
                <a16:creationId xmlns:a16="http://schemas.microsoft.com/office/drawing/2014/main" id="{2EE34EFA-4793-6040-7B0A-2760795594A4}"/>
              </a:ext>
            </a:extLst>
          </p:cNvPr>
          <p:cNvSpPr>
            <a:spLocks noGrp="1"/>
          </p:cNvSpPr>
          <p:nvPr>
            <p:ph idx="1"/>
          </p:nvPr>
        </p:nvSpPr>
        <p:spPr>
          <a:xfrm>
            <a:off x="657518" y="2308124"/>
            <a:ext cx="7857832" cy="3673576"/>
          </a:xfrm>
        </p:spPr>
        <p:txBody>
          <a:bodyPr>
            <a:normAutofit/>
          </a:bodyPr>
          <a:lstStyle/>
          <a:p>
            <a:r>
              <a:rPr lang="en-US" sz="2400"/>
              <a:t>Analyze bicycle theft incidents reported by the Toronto Police Service (2014-2024)</a:t>
            </a:r>
          </a:p>
          <a:p>
            <a:r>
              <a:rPr lang="en-US" sz="2400"/>
              <a:t>Identify patterns in theft locations, times, and bicycle attributes.</a:t>
            </a:r>
          </a:p>
          <a:p>
            <a:r>
              <a:rPr lang="en-US" sz="2400"/>
              <a:t>Support crime prevention and bike recovery efforts through data-driven insights.</a:t>
            </a:r>
            <a:endParaRPr lang="en-CA" sz="2400"/>
          </a:p>
        </p:txBody>
      </p:sp>
    </p:spTree>
    <p:extLst>
      <p:ext uri="{BB962C8B-B14F-4D97-AF65-F5344CB8AC3E}">
        <p14:creationId xmlns:p14="http://schemas.microsoft.com/office/powerpoint/2010/main" val="2030362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EDB89A-2DDC-362D-0C09-443B60C70B6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365A8CE-D0A8-3227-26BB-ABB8037E9ACD}"/>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The Situation – Data Resources</a:t>
            </a:r>
          </a:p>
        </p:txBody>
      </p:sp>
      <p:sp>
        <p:nvSpPr>
          <p:cNvPr id="3" name="Content Placeholder 2">
            <a:extLst>
              <a:ext uri="{FF2B5EF4-FFF2-40B4-BE49-F238E27FC236}">
                <a16:creationId xmlns:a16="http://schemas.microsoft.com/office/drawing/2014/main" id="{ECF5B6C0-49EB-12BA-B6AE-686D763EF484}"/>
              </a:ext>
            </a:extLst>
          </p:cNvPr>
          <p:cNvSpPr>
            <a:spLocks noGrp="1"/>
          </p:cNvSpPr>
          <p:nvPr>
            <p:ph idx="1"/>
          </p:nvPr>
        </p:nvSpPr>
        <p:spPr>
          <a:xfrm>
            <a:off x="657518" y="2308124"/>
            <a:ext cx="7857831" cy="3673576"/>
          </a:xfrm>
        </p:spPr>
        <p:txBody>
          <a:bodyPr>
            <a:normAutofit/>
          </a:bodyPr>
          <a:lstStyle/>
          <a:p>
            <a:r>
              <a:rPr lang="en-CA" sz="2400"/>
              <a:t>Availability of Resources</a:t>
            </a:r>
          </a:p>
          <a:p>
            <a:pPr lvl="1"/>
            <a:r>
              <a:rPr lang="en-US" sz="2400"/>
              <a:t>Toronto Police Service Open Data Portal provides theft data</a:t>
            </a:r>
          </a:p>
          <a:p>
            <a:pPr lvl="2"/>
            <a:r>
              <a:rPr lang="en-US"/>
              <a:t>Dataset includes theft locations, bike types, premises, and case statuses.</a:t>
            </a:r>
          </a:p>
          <a:p>
            <a:pPr lvl="2"/>
            <a:r>
              <a:rPr lang="en-US"/>
              <a:t>Dataset covers 10 years, spanning 2014-2024</a:t>
            </a:r>
          </a:p>
          <a:p>
            <a:pPr lvl="2"/>
            <a:r>
              <a:rPr lang="en-US"/>
              <a:t>Details theft locations, bike types, cost, and whether the case was resolved/not resolves</a:t>
            </a:r>
          </a:p>
        </p:txBody>
      </p:sp>
    </p:spTree>
    <p:extLst>
      <p:ext uri="{BB962C8B-B14F-4D97-AF65-F5344CB8AC3E}">
        <p14:creationId xmlns:p14="http://schemas.microsoft.com/office/powerpoint/2010/main" val="366982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FE8084-2728-7832-9DF6-765D54E51547}"/>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1E4FD85-C4AE-C746-BB06-CC9567B74A29}"/>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The Situation – Bike Theft Risks</a:t>
            </a:r>
          </a:p>
        </p:txBody>
      </p:sp>
      <p:sp>
        <p:nvSpPr>
          <p:cNvPr id="3" name="Content Placeholder 2">
            <a:extLst>
              <a:ext uri="{FF2B5EF4-FFF2-40B4-BE49-F238E27FC236}">
                <a16:creationId xmlns:a16="http://schemas.microsoft.com/office/drawing/2014/main" id="{AAE6A109-141D-52D5-8E2F-BF4C32487D07}"/>
              </a:ext>
            </a:extLst>
          </p:cNvPr>
          <p:cNvSpPr>
            <a:spLocks noGrp="1"/>
          </p:cNvSpPr>
          <p:nvPr>
            <p:ph idx="1"/>
          </p:nvPr>
        </p:nvSpPr>
        <p:spPr>
          <a:xfrm>
            <a:off x="657518" y="2308124"/>
            <a:ext cx="7857832" cy="3673576"/>
          </a:xfrm>
        </p:spPr>
        <p:txBody>
          <a:bodyPr>
            <a:normAutofit/>
          </a:bodyPr>
          <a:lstStyle/>
          <a:p>
            <a:pPr marL="514350" indent="-457200"/>
            <a:r>
              <a:rPr lang="en-US" sz="2400"/>
              <a:t>Key Risks in Toronto Bicycle Theft are:</a:t>
            </a:r>
          </a:p>
          <a:p>
            <a:pPr marL="971550" lvl="1" indent="-514350">
              <a:buFont typeface="+mj-lt"/>
              <a:buAutoNum type="arabicPeriod"/>
            </a:pPr>
            <a:r>
              <a:rPr lang="en-US" sz="2400"/>
              <a:t>High-Theft Locations – Outdoor spaces and apartment buildings have higher incidents.</a:t>
            </a:r>
          </a:p>
          <a:p>
            <a:pPr marL="971550" lvl="1" indent="-514350">
              <a:buFont typeface="+mj-lt"/>
              <a:buAutoNum type="arabicPeriod"/>
            </a:pPr>
            <a:r>
              <a:rPr lang="en-US" sz="2400"/>
              <a:t>Bike Value &amp; Targeting – Expensive bikes may be stolen more frequently.</a:t>
            </a:r>
          </a:p>
          <a:p>
            <a:pPr marL="971550" lvl="1" indent="-514350">
              <a:buFont typeface="+mj-lt"/>
              <a:buAutoNum type="arabicPeriod"/>
            </a:pPr>
            <a:r>
              <a:rPr lang="en-US" sz="2400"/>
              <a:t>Seasonal Trends – Warmer months see increased bike theft (obviously).</a:t>
            </a:r>
            <a:endParaRPr lang="en-CA" sz="2400"/>
          </a:p>
        </p:txBody>
      </p:sp>
    </p:spTree>
    <p:extLst>
      <p:ext uri="{BB962C8B-B14F-4D97-AF65-F5344CB8AC3E}">
        <p14:creationId xmlns:p14="http://schemas.microsoft.com/office/powerpoint/2010/main" val="1760094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15AA31-98C9-2391-AA2D-2B173E54A1F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441ED46-1418-DB98-5426-6A8B7AF740F0}"/>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The Situation – Data Mining Goals</a:t>
            </a:r>
          </a:p>
        </p:txBody>
      </p:sp>
      <p:sp>
        <p:nvSpPr>
          <p:cNvPr id="3" name="Content Placeholder 2">
            <a:extLst>
              <a:ext uri="{FF2B5EF4-FFF2-40B4-BE49-F238E27FC236}">
                <a16:creationId xmlns:a16="http://schemas.microsoft.com/office/drawing/2014/main" id="{8C5A4158-23F9-22F3-F48B-A6F374F80DBE}"/>
              </a:ext>
            </a:extLst>
          </p:cNvPr>
          <p:cNvSpPr>
            <a:spLocks noGrp="1"/>
          </p:cNvSpPr>
          <p:nvPr>
            <p:ph idx="1"/>
          </p:nvPr>
        </p:nvSpPr>
        <p:spPr>
          <a:xfrm>
            <a:off x="657518" y="2308124"/>
            <a:ext cx="7857831" cy="3673576"/>
          </a:xfrm>
        </p:spPr>
        <p:txBody>
          <a:bodyPr>
            <a:normAutofit/>
          </a:bodyPr>
          <a:lstStyle/>
          <a:p>
            <a:r>
              <a:rPr lang="en-CA" sz="2400"/>
              <a:t>Our data mining goals were:</a:t>
            </a:r>
          </a:p>
          <a:p>
            <a:pPr marL="971550" lvl="1" indent="-514350">
              <a:buFont typeface="+mj-lt"/>
              <a:buAutoNum type="arabicPeriod"/>
            </a:pPr>
            <a:r>
              <a:rPr lang="en-US" sz="2400"/>
              <a:t>Identify high-risk locations and peak theft times.</a:t>
            </a:r>
          </a:p>
          <a:p>
            <a:pPr marL="971550" lvl="1" indent="-514350">
              <a:buFont typeface="+mj-lt"/>
              <a:buAutoNum type="arabicPeriod"/>
            </a:pPr>
            <a:r>
              <a:rPr lang="en-US" sz="2400"/>
              <a:t>Classify theft risk based on bike cost (Low, Medium, High).</a:t>
            </a:r>
          </a:p>
          <a:p>
            <a:pPr marL="971550" lvl="1" indent="-514350">
              <a:buFont typeface="+mj-lt"/>
              <a:buAutoNum type="arabicPeriod"/>
            </a:pPr>
            <a:r>
              <a:rPr lang="en-US" sz="2400"/>
              <a:t>Detect &amp; visualize unusual theft patterns using outlier detection &amp; decision tree modelling.</a:t>
            </a:r>
          </a:p>
          <a:p>
            <a:pPr marL="971550" lvl="1" indent="-514350">
              <a:buFont typeface="+mj-lt"/>
              <a:buAutoNum type="arabicPeriod"/>
            </a:pPr>
            <a:r>
              <a:rPr lang="en-US" sz="2400"/>
              <a:t>Provide data to develop predictive models for theft hotspots and prevention strategies.</a:t>
            </a:r>
            <a:endParaRPr lang="en-CA" sz="2400"/>
          </a:p>
        </p:txBody>
      </p:sp>
    </p:spTree>
    <p:extLst>
      <p:ext uri="{BB962C8B-B14F-4D97-AF65-F5344CB8AC3E}">
        <p14:creationId xmlns:p14="http://schemas.microsoft.com/office/powerpoint/2010/main" val="3312403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657518" y="301843"/>
            <a:ext cx="7857832" cy="1003532"/>
          </a:xfrm>
        </p:spPr>
        <p:txBody>
          <a:bodyPr anchor="ctr">
            <a:normAutofit/>
          </a:bodyPr>
          <a:lstStyle/>
          <a:p>
            <a:r>
              <a:rPr lang="en-CA" sz="2800">
                <a:solidFill>
                  <a:srgbClr val="FFFFFF"/>
                </a:solidFill>
              </a:rPr>
              <a:t>3.0 Data Understanding</a:t>
            </a:r>
          </a:p>
        </p:txBody>
      </p:sp>
      <p:sp>
        <p:nvSpPr>
          <p:cNvPr id="3" name="Content Placeholder 2"/>
          <p:cNvSpPr>
            <a:spLocks noGrp="1"/>
          </p:cNvSpPr>
          <p:nvPr>
            <p:ph idx="1"/>
          </p:nvPr>
        </p:nvSpPr>
        <p:spPr>
          <a:xfrm>
            <a:off x="657518" y="2308124"/>
            <a:ext cx="7857832" cy="3673576"/>
          </a:xfrm>
        </p:spPr>
        <p:txBody>
          <a:bodyPr>
            <a:normAutofit/>
          </a:bodyPr>
          <a:lstStyle/>
          <a:p>
            <a:r>
              <a:rPr lang="en-US" sz="2400"/>
              <a:t>In this section we will briefly</a:t>
            </a:r>
          </a:p>
          <a:p>
            <a:pPr marL="971550" lvl="1" indent="-514350">
              <a:buFont typeface="+mj-lt"/>
              <a:buAutoNum type="arabicPeriod"/>
            </a:pPr>
            <a:r>
              <a:rPr lang="en-US" sz="2400"/>
              <a:t>Talk about the initial data collected</a:t>
            </a:r>
          </a:p>
          <a:p>
            <a:pPr marL="971550" lvl="1" indent="-514350">
              <a:buFont typeface="+mj-lt"/>
              <a:buAutoNum type="arabicPeriod"/>
            </a:pPr>
            <a:r>
              <a:rPr lang="en-US" sz="2400"/>
              <a:t>Describe our Data</a:t>
            </a:r>
          </a:p>
          <a:p>
            <a:pPr marL="971550" lvl="1" indent="-514350">
              <a:buFont typeface="+mj-lt"/>
              <a:buAutoNum type="arabicPeriod"/>
            </a:pPr>
            <a:r>
              <a:rPr lang="en-US" sz="2400"/>
              <a:t>Explore the data with visualizations</a:t>
            </a:r>
          </a:p>
          <a:p>
            <a:pPr marL="971550" lvl="1" indent="-514350">
              <a:buFont typeface="+mj-lt"/>
              <a:buAutoNum type="arabicPeriod"/>
            </a:pPr>
            <a:r>
              <a:rPr lang="en-US" sz="2400"/>
              <a:t>Verify Data Quality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847BA0A-929A-BC4F-6DC1-D8BC71C3507D}"/>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Collected</a:t>
            </a:r>
          </a:p>
        </p:txBody>
      </p:sp>
      <p:sp>
        <p:nvSpPr>
          <p:cNvPr id="3" name="Content Placeholder 2">
            <a:extLst>
              <a:ext uri="{FF2B5EF4-FFF2-40B4-BE49-F238E27FC236}">
                <a16:creationId xmlns:a16="http://schemas.microsoft.com/office/drawing/2014/main" id="{C1A97B9B-CC6D-A0A0-BA48-A47B04682F94}"/>
              </a:ext>
            </a:extLst>
          </p:cNvPr>
          <p:cNvSpPr>
            <a:spLocks noGrp="1"/>
          </p:cNvSpPr>
          <p:nvPr>
            <p:ph idx="1"/>
          </p:nvPr>
        </p:nvSpPr>
        <p:spPr>
          <a:xfrm>
            <a:off x="657518" y="1842568"/>
            <a:ext cx="7857832" cy="4676312"/>
          </a:xfrm>
        </p:spPr>
        <p:txBody>
          <a:bodyPr vert="horz" lIns="91440" tIns="45720" rIns="91440" bIns="45720" rtlCol="0" anchor="t">
            <a:noAutofit/>
          </a:bodyPr>
          <a:lstStyle/>
          <a:p>
            <a:r>
              <a:rPr lang="en-CA" sz="2400"/>
              <a:t>Dataset from Toronto Police Service Open Data Portal (2014-2024). </a:t>
            </a:r>
          </a:p>
          <a:p>
            <a:pPr marL="0" indent="0">
              <a:buNone/>
            </a:pPr>
            <a:r>
              <a:rPr lang="en-US" sz="2400">
                <a:hlinkClick r:id="rId2"/>
              </a:rPr>
              <a:t>Bicycle Thefts - City of Toronto Open Data Portal</a:t>
            </a:r>
            <a:endParaRPr lang="en-CA" sz="2400">
              <a:ea typeface="Calibri"/>
              <a:cs typeface="Calibri"/>
            </a:endParaRPr>
          </a:p>
          <a:p>
            <a:r>
              <a:rPr lang="en-CA" sz="2400">
                <a:ea typeface="Calibri"/>
                <a:cs typeface="Calibri"/>
              </a:rPr>
              <a:t>The dataset was initially provided as a CSV file.</a:t>
            </a:r>
            <a:endParaRPr lang="en-US" sz="2400">
              <a:ea typeface="Calibri"/>
              <a:cs typeface="Calibri"/>
            </a:endParaRPr>
          </a:p>
          <a:p>
            <a:r>
              <a:rPr lang="en-CA" sz="2400"/>
              <a:t>Includes:</a:t>
            </a:r>
            <a:endParaRPr lang="en-CA" sz="2400">
              <a:ea typeface="Calibri"/>
              <a:cs typeface="Calibri"/>
            </a:endParaRPr>
          </a:p>
          <a:p>
            <a:pPr lvl="1"/>
            <a:r>
              <a:rPr lang="en-US" sz="2400"/>
              <a:t>Reported bicycle thefts</a:t>
            </a:r>
            <a:endParaRPr lang="en-US" sz="2400">
              <a:ea typeface="Calibri"/>
              <a:cs typeface="Calibri"/>
            </a:endParaRPr>
          </a:p>
          <a:p>
            <a:pPr lvl="1"/>
            <a:r>
              <a:rPr lang="en-US" sz="2400"/>
              <a:t>Theft locations and times</a:t>
            </a:r>
            <a:endParaRPr lang="en-US" sz="2400">
              <a:ea typeface="Calibri"/>
              <a:cs typeface="Calibri"/>
            </a:endParaRPr>
          </a:p>
          <a:p>
            <a:pPr lvl="1"/>
            <a:r>
              <a:rPr lang="en-US" sz="2400"/>
              <a:t>Bike details (make, model, color, value)</a:t>
            </a:r>
            <a:endParaRPr lang="en-US" sz="2400">
              <a:ea typeface="Calibri"/>
              <a:cs typeface="Calibri"/>
            </a:endParaRPr>
          </a:p>
          <a:p>
            <a:pPr lvl="1"/>
            <a:r>
              <a:rPr lang="en-US" sz="2400"/>
              <a:t>Premises type (e.g., apartment, transit station, home)</a:t>
            </a:r>
            <a:endParaRPr lang="en-US" sz="2400">
              <a:ea typeface="Calibri"/>
              <a:cs typeface="Calibri"/>
            </a:endParaRPr>
          </a:p>
          <a:p>
            <a:pPr lvl="1"/>
            <a:r>
              <a:rPr lang="en-US" sz="2400"/>
              <a:t>Status (Stolen, Recovered, Unknown)</a:t>
            </a:r>
            <a:endParaRPr lang="en-CA" sz="2400"/>
          </a:p>
        </p:txBody>
      </p:sp>
    </p:spTree>
    <p:extLst>
      <p:ext uri="{BB962C8B-B14F-4D97-AF65-F5344CB8AC3E}">
        <p14:creationId xmlns:p14="http://schemas.microsoft.com/office/powerpoint/2010/main" val="694797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E0659A0-91EE-85D8-50CD-F166DE475CF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Collected Cont.</a:t>
            </a:r>
          </a:p>
        </p:txBody>
      </p:sp>
      <p:sp>
        <p:nvSpPr>
          <p:cNvPr id="3" name="Content Placeholder 2">
            <a:extLst>
              <a:ext uri="{FF2B5EF4-FFF2-40B4-BE49-F238E27FC236}">
                <a16:creationId xmlns:a16="http://schemas.microsoft.com/office/drawing/2014/main" id="{883C96CB-A703-2488-BCEF-C56D88B1D2DE}"/>
              </a:ext>
            </a:extLst>
          </p:cNvPr>
          <p:cNvSpPr>
            <a:spLocks noGrp="1"/>
          </p:cNvSpPr>
          <p:nvPr>
            <p:ph idx="1"/>
          </p:nvPr>
        </p:nvSpPr>
        <p:spPr>
          <a:xfrm>
            <a:off x="607554" y="2308124"/>
            <a:ext cx="7907796" cy="3673576"/>
          </a:xfrm>
        </p:spPr>
        <p:txBody>
          <a:bodyPr>
            <a:normAutofit/>
          </a:bodyPr>
          <a:lstStyle/>
          <a:p>
            <a:r>
              <a:rPr lang="en-CA" sz="2400"/>
              <a:t>Key Considerations during data collection:</a:t>
            </a:r>
          </a:p>
          <a:p>
            <a:pPr lvl="1"/>
            <a:r>
              <a:rPr lang="en-US" sz="2400"/>
              <a:t>The dataset does not include occurrences that have been deemed unfounded. </a:t>
            </a:r>
          </a:p>
          <a:p>
            <a:pPr lvl="1"/>
            <a:r>
              <a:rPr lang="en-US" sz="2400"/>
              <a:t>The location of crime occurrences has been deliberately offset to the nearest road intersection node to protect the privacy of parties involved in the occurrence. </a:t>
            </a:r>
          </a:p>
          <a:p>
            <a:pPr lvl="1"/>
            <a:r>
              <a:rPr lang="en-US" sz="2400"/>
              <a:t>Some records may not have been fully verified at the time of publication. </a:t>
            </a:r>
            <a:endParaRPr lang="en-CA" sz="2400"/>
          </a:p>
        </p:txBody>
      </p:sp>
    </p:spTree>
    <p:extLst>
      <p:ext uri="{BB962C8B-B14F-4D97-AF65-F5344CB8AC3E}">
        <p14:creationId xmlns:p14="http://schemas.microsoft.com/office/powerpoint/2010/main" val="2744148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25199F-C48B-8DB5-365B-4AF48055C1E8}"/>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CC29555A-3A17-7446-6AD8-0D62E0EB95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73161398-DD8E-B4B9-1E07-8147A17A1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97E7A6C-3A65-7DD3-6965-028A86FFD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DFF001E-BF5D-F66A-81FF-D277C8837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E3D444C-6BF2-D29A-0E21-34F7515AA7B6}"/>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Verify Data Quality</a:t>
            </a:r>
          </a:p>
        </p:txBody>
      </p:sp>
      <p:sp>
        <p:nvSpPr>
          <p:cNvPr id="6" name="Content Placeholder 2">
            <a:extLst>
              <a:ext uri="{FF2B5EF4-FFF2-40B4-BE49-F238E27FC236}">
                <a16:creationId xmlns:a16="http://schemas.microsoft.com/office/drawing/2014/main" id="{437081D6-315E-9E0F-92EA-0F1938F5DAD2}"/>
              </a:ext>
            </a:extLst>
          </p:cNvPr>
          <p:cNvSpPr>
            <a:spLocks noGrp="1"/>
          </p:cNvSpPr>
          <p:nvPr/>
        </p:nvSpPr>
        <p:spPr>
          <a:xfrm>
            <a:off x="653627" y="2433763"/>
            <a:ext cx="7631722" cy="2696544"/>
          </a:xfrm>
          <a:prstGeom prst="rect">
            <a:avLst/>
          </a:prstGeom>
        </p:spPr>
        <p:txBody>
          <a:bodyPr vert="horz" lIns="91440" tIns="45720" rIns="91440" bIns="45720" rtlCol="0" anchor="ct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latin typeface="Aptos"/>
              </a:rPr>
              <a:t>Data was checked for duplicates, and were removed</a:t>
            </a:r>
          </a:p>
          <a:p>
            <a:pPr marL="0" indent="0">
              <a:buNone/>
            </a:pPr>
            <a:endParaRPr lang="en-US" sz="2000">
              <a:latin typeface="Aptos"/>
              <a:ea typeface="Calibri"/>
              <a:cs typeface="Calibri"/>
            </a:endParaRPr>
          </a:p>
          <a:p>
            <a:r>
              <a:rPr lang="en-US" sz="2000">
                <a:latin typeface="Aptos"/>
              </a:rPr>
              <a:t>Sample of 10 000 records were taken</a:t>
            </a:r>
          </a:p>
          <a:p>
            <a:pPr marL="0" indent="0">
              <a:buNone/>
            </a:pPr>
            <a:endParaRPr lang="en-US" sz="2000">
              <a:latin typeface="Aptos"/>
              <a:ea typeface="Calibri"/>
              <a:cs typeface="Calibri"/>
            </a:endParaRPr>
          </a:p>
          <a:p>
            <a:r>
              <a:rPr lang="en-US" sz="2000">
                <a:latin typeface="Aptos"/>
              </a:rPr>
              <a:t>BIKE_COST attribute was categorized (binned) into 3 categories (</a:t>
            </a:r>
            <a:r>
              <a:rPr lang="en-US" sz="2000">
                <a:solidFill>
                  <a:srgbClr val="FF0000"/>
                </a:solidFill>
                <a:latin typeface="Aptos"/>
              </a:rPr>
              <a:t>Low, Medium, High</a:t>
            </a:r>
            <a:r>
              <a:rPr lang="en-US" sz="2000">
                <a:latin typeface="Aptos"/>
              </a:rPr>
              <a:t>) depending on their cost (Low &lt; $500, Medium &lt;= $1000, High &gt; $1001) and BIKE_COST_CLASS column was created.</a:t>
            </a:r>
          </a:p>
        </p:txBody>
      </p:sp>
    </p:spTree>
    <p:extLst>
      <p:ext uri="{BB962C8B-B14F-4D97-AF65-F5344CB8AC3E}">
        <p14:creationId xmlns:p14="http://schemas.microsoft.com/office/powerpoint/2010/main" val="2561901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5798E7-3450-92D5-96A3-EF5E7CD80D9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396B6E4-F068-7D86-F77F-A686791CCD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DC0B046-9F10-1F44-F2B4-A0E60948F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F665F2-933E-7CB2-42CA-1F4CAF1E5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DD7BDA-E657-C86A-E7C9-9B3753D55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EA53291-BED4-9A31-9E1E-E42551425950}"/>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Describe Data</a:t>
            </a:r>
          </a:p>
        </p:txBody>
      </p:sp>
      <p:graphicFrame>
        <p:nvGraphicFramePr>
          <p:cNvPr id="7" name="Content Placeholder 6">
            <a:extLst>
              <a:ext uri="{FF2B5EF4-FFF2-40B4-BE49-F238E27FC236}">
                <a16:creationId xmlns:a16="http://schemas.microsoft.com/office/drawing/2014/main" id="{23E9E0C5-72C5-344D-61B8-9C7C849B8DF6}"/>
              </a:ext>
            </a:extLst>
          </p:cNvPr>
          <p:cNvGraphicFramePr>
            <a:graphicFrameLocks noGrp="1"/>
          </p:cNvGraphicFramePr>
          <p:nvPr>
            <p:ph idx="1"/>
            <p:extLst>
              <p:ext uri="{D42A27DB-BD31-4B8C-83A1-F6EECF244321}">
                <p14:modId xmlns:p14="http://schemas.microsoft.com/office/powerpoint/2010/main" val="4200413547"/>
              </p:ext>
            </p:extLst>
          </p:nvPr>
        </p:nvGraphicFramePr>
        <p:xfrm>
          <a:off x="459117" y="2097891"/>
          <a:ext cx="8229598" cy="3667760"/>
        </p:xfrm>
        <a:graphic>
          <a:graphicData uri="http://schemas.openxmlformats.org/drawingml/2006/table">
            <a:tbl>
              <a:tblPr bandRow="1">
                <a:tableStyleId>{5C22544A-7EE6-4342-B048-85BDC9FD1C3A}</a:tableStyleId>
              </a:tblPr>
              <a:tblGrid>
                <a:gridCol w="2315801">
                  <a:extLst>
                    <a:ext uri="{9D8B030D-6E8A-4147-A177-3AD203B41FA5}">
                      <a16:colId xmlns:a16="http://schemas.microsoft.com/office/drawing/2014/main" val="2698303643"/>
                    </a:ext>
                  </a:extLst>
                </a:gridCol>
                <a:gridCol w="3454076">
                  <a:extLst>
                    <a:ext uri="{9D8B030D-6E8A-4147-A177-3AD203B41FA5}">
                      <a16:colId xmlns:a16="http://schemas.microsoft.com/office/drawing/2014/main" val="1472766228"/>
                    </a:ext>
                  </a:extLst>
                </a:gridCol>
                <a:gridCol w="2459721">
                  <a:extLst>
                    <a:ext uri="{9D8B030D-6E8A-4147-A177-3AD203B41FA5}">
                      <a16:colId xmlns:a16="http://schemas.microsoft.com/office/drawing/2014/main" val="2804638109"/>
                    </a:ext>
                  </a:extLst>
                </a:gridCol>
              </a:tblGrid>
              <a:tr h="190500">
                <a:tc>
                  <a:txBody>
                    <a:bodyPr/>
                    <a:lstStyle/>
                    <a:p>
                      <a:pPr algn="l" rtl="0" fontAlgn="base">
                        <a:lnSpc>
                          <a:spcPts val="1425"/>
                        </a:lnSpc>
                        <a:buNone/>
                      </a:pPr>
                      <a:r>
                        <a:rPr lang="en-US" sz="1200" b="0" i="0">
                          <a:solidFill>
                            <a:srgbClr val="000000"/>
                          </a:solidFill>
                          <a:effectLst/>
                          <a:latin typeface="Times New Roman" panose="02020603050405020304" pitchFamily="18" charset="0"/>
                        </a:rPr>
                        <a:t>Attributes </a:t>
                      </a:r>
                      <a:endParaRPr lang="en-US" b="0" i="0">
                        <a:effectLst/>
                      </a:endParaRPr>
                    </a:p>
                  </a:txBody>
                  <a:tcPr marL="57150" marR="57150">
                    <a:lnL w="9525" cap="flat" cmpd="sng" algn="ctr">
                      <a:solidFill>
                        <a:srgbClr val="909D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709F3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Description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509C3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DataType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50A330"/>
                      </a:solidFill>
                      <a:prstDash val="solid"/>
                      <a:round/>
                      <a:headEnd type="none" w="med" len="med"/>
                      <a:tailEnd type="none" w="med" len="med"/>
                    </a:lnR>
                    <a:lnT w="9525" cap="flat" cmpd="sng" algn="ctr">
                      <a:solidFill>
                        <a:srgbClr val="F0A33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5645442"/>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_id </a:t>
                      </a:r>
                      <a:endParaRPr lang="en-US" b="0" i="0">
                        <a:effectLst/>
                      </a:endParaRPr>
                    </a:p>
                  </a:txBody>
                  <a:tcPr marL="57150" marR="57150">
                    <a:lnL w="9525" cap="flat" cmpd="sng" algn="ctr">
                      <a:solidFill>
                        <a:srgbClr val="B0A6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Unique row identifier for Open Data database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Integer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30A7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5990376"/>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EVENT_UNIQUE_ID </a:t>
                      </a:r>
                      <a:endParaRPr lang="en-US" b="0" i="0">
                        <a:effectLst/>
                      </a:endParaRPr>
                    </a:p>
                    <a:p>
                      <a:pPr algn="l" rtl="0" fontAlgn="base">
                        <a:lnSpc>
                          <a:spcPts val="1425"/>
                        </a:lnSpc>
                        <a:buNone/>
                      </a:pPr>
                      <a:r>
                        <a:rPr lang="en-US" sz="1200" b="0" i="0">
                          <a:solidFill>
                            <a:srgbClr val="292B2C"/>
                          </a:solidFill>
                          <a:effectLst/>
                          <a:latin typeface="Times New Roman" panose="02020603050405020304" pitchFamily="18" charset="0"/>
                        </a:rPr>
                        <a:t> </a:t>
                      </a:r>
                      <a:endParaRPr lang="en-US" b="0" i="0">
                        <a:effectLst/>
                      </a:endParaRPr>
                    </a:p>
                  </a:txBody>
                  <a:tcPr marL="57150" marR="57150">
                    <a:lnL w="9525" cap="flat" cmpd="sng" algn="ctr">
                      <a:solidFill>
                        <a:srgbClr val="F0B0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Offence Number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Polynominal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50B2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7847368"/>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PRIMARY_OFFENCE </a:t>
                      </a:r>
                      <a:endParaRPr lang="en-US" b="0" i="0">
                        <a:effectLst/>
                      </a:endParaRPr>
                    </a:p>
                    <a:p>
                      <a:pPr algn="l" rtl="0" fontAlgn="base">
                        <a:lnSpc>
                          <a:spcPts val="1425"/>
                        </a:lnSpc>
                        <a:buNone/>
                      </a:pPr>
                      <a:r>
                        <a:rPr lang="en-US" sz="1200" b="0" i="0">
                          <a:solidFill>
                            <a:srgbClr val="292B2C"/>
                          </a:solidFill>
                          <a:effectLst/>
                          <a:latin typeface="Times New Roman" panose="02020603050405020304" pitchFamily="18" charset="0"/>
                        </a:rPr>
                        <a:t> </a:t>
                      </a:r>
                      <a:endParaRPr lang="en-US" b="0" i="0">
                        <a:effectLst/>
                      </a:endParaRPr>
                    </a:p>
                  </a:txBody>
                  <a:tcPr marL="57150" marR="57150">
                    <a:lnL w="9525" cap="flat" cmpd="sng" algn="ctr">
                      <a:solidFill>
                        <a:srgbClr val="90B2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Primary Offence Type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Polynominal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50BA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5083532"/>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OCC_DATE </a:t>
                      </a:r>
                      <a:endParaRPr lang="en-US" b="0" i="0">
                        <a:effectLst/>
                      </a:endParaRPr>
                    </a:p>
                    <a:p>
                      <a:pPr algn="l" rtl="0" fontAlgn="base">
                        <a:lnSpc>
                          <a:spcPts val="1425"/>
                        </a:lnSpc>
                        <a:buNone/>
                      </a:pPr>
                      <a:r>
                        <a:rPr lang="en-US" sz="1200" b="0" i="0">
                          <a:solidFill>
                            <a:srgbClr val="292B2C"/>
                          </a:solidFill>
                          <a:effectLst/>
                          <a:latin typeface="Times New Roman" panose="02020603050405020304" pitchFamily="18" charset="0"/>
                        </a:rPr>
                        <a:t> </a:t>
                      </a:r>
                      <a:endParaRPr lang="en-US" b="0" i="0">
                        <a:effectLst/>
                      </a:endParaRPr>
                    </a:p>
                  </a:txBody>
                  <a:tcPr marL="57150" marR="57150">
                    <a:lnL w="9525" cap="flat" cmpd="sng" algn="ctr">
                      <a:solidFill>
                        <a:srgbClr val="B0BF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Date of Offence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Date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30C3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052750"/>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OCC_YEAR </a:t>
                      </a:r>
                      <a:endParaRPr lang="en-US" b="0" i="0">
                        <a:effectLst/>
                      </a:endParaRPr>
                    </a:p>
                    <a:p>
                      <a:pPr algn="l" rtl="0" fontAlgn="base">
                        <a:lnSpc>
                          <a:spcPts val="1425"/>
                        </a:lnSpc>
                        <a:buNone/>
                      </a:pPr>
                      <a:r>
                        <a:rPr lang="en-US" sz="1200" b="0" i="0">
                          <a:solidFill>
                            <a:srgbClr val="292B2C"/>
                          </a:solidFill>
                          <a:effectLst/>
                          <a:latin typeface="Times New Roman" panose="02020603050405020304" pitchFamily="18" charset="0"/>
                        </a:rPr>
                        <a:t> </a:t>
                      </a:r>
                      <a:endParaRPr lang="en-US" b="0" i="0">
                        <a:effectLst/>
                      </a:endParaRPr>
                    </a:p>
                  </a:txBody>
                  <a:tcPr marL="57150" marR="57150">
                    <a:lnL w="9525" cap="flat" cmpd="sng" algn="ctr">
                      <a:solidFill>
                        <a:srgbClr val="50C7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Year Offence Occurred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Integer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B0CA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5586935"/>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OCC_MONTH </a:t>
                      </a:r>
                      <a:endParaRPr lang="en-US" b="0" i="0">
                        <a:effectLst/>
                      </a:endParaRPr>
                    </a:p>
                    <a:p>
                      <a:pPr algn="l" rtl="0" fontAlgn="base">
                        <a:lnSpc>
                          <a:spcPts val="1425"/>
                        </a:lnSpc>
                        <a:buNone/>
                      </a:pPr>
                      <a:r>
                        <a:rPr lang="en-US" sz="1200" b="0" i="0">
                          <a:solidFill>
                            <a:srgbClr val="292B2C"/>
                          </a:solidFill>
                          <a:effectLst/>
                          <a:latin typeface="Times New Roman" panose="02020603050405020304" pitchFamily="18" charset="0"/>
                        </a:rPr>
                        <a:t> </a:t>
                      </a:r>
                      <a:endParaRPr lang="en-US" b="0" i="0">
                        <a:effectLst/>
                      </a:endParaRPr>
                    </a:p>
                  </a:txBody>
                  <a:tcPr marL="57150" marR="57150">
                    <a:lnL w="9525" cap="flat" cmpd="sng" algn="ctr">
                      <a:solidFill>
                        <a:srgbClr val="B0D2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Month Offence Occurred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Polynominal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90D5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5416735"/>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OCC_DOW </a:t>
                      </a:r>
                      <a:endParaRPr lang="en-US" b="0" i="0">
                        <a:effectLst/>
                      </a:endParaRPr>
                    </a:p>
                    <a:p>
                      <a:pPr algn="l" rtl="0" fontAlgn="base">
                        <a:lnSpc>
                          <a:spcPts val="1425"/>
                        </a:lnSpc>
                        <a:buNone/>
                      </a:pPr>
                      <a:r>
                        <a:rPr lang="en-US" sz="1200" b="0" i="0">
                          <a:solidFill>
                            <a:srgbClr val="292B2C"/>
                          </a:solidFill>
                          <a:effectLst/>
                          <a:latin typeface="Times New Roman" panose="02020603050405020304" pitchFamily="18" charset="0"/>
                        </a:rPr>
                        <a:t> </a:t>
                      </a:r>
                      <a:endParaRPr lang="en-US" b="0" i="0">
                        <a:effectLst/>
                      </a:endParaRPr>
                    </a:p>
                  </a:txBody>
                  <a:tcPr marL="57150" marR="57150">
                    <a:lnL w="9525" cap="flat" cmpd="sng" algn="ctr">
                      <a:solidFill>
                        <a:srgbClr val="90DF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Day of the Month Offence Occurred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Polynominal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10DF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2212946"/>
                  </a:ext>
                </a:extLst>
              </a:tr>
              <a:tr h="190500">
                <a:tc>
                  <a:txBody>
                    <a:bodyPr/>
                    <a:lstStyle/>
                    <a:p>
                      <a:pPr algn="l" rtl="0" fontAlgn="base">
                        <a:lnSpc>
                          <a:spcPts val="1425"/>
                        </a:lnSpc>
                        <a:buNone/>
                      </a:pPr>
                      <a:r>
                        <a:rPr lang="en-US" sz="1200" b="0" i="0">
                          <a:solidFill>
                            <a:srgbClr val="292B2C"/>
                          </a:solidFill>
                          <a:effectLst/>
                          <a:latin typeface="Times New Roman" panose="02020603050405020304" pitchFamily="18" charset="0"/>
                        </a:rPr>
                        <a:t>OCC_DAY </a:t>
                      </a:r>
                      <a:endParaRPr lang="en-US" b="0" i="0">
                        <a:effectLst/>
                      </a:endParaRPr>
                    </a:p>
                    <a:p>
                      <a:pPr algn="l" rtl="0" fontAlgn="base">
                        <a:lnSpc>
                          <a:spcPts val="1425"/>
                        </a:lnSpc>
                        <a:buNone/>
                      </a:pPr>
                      <a:r>
                        <a:rPr lang="en-US" sz="1200" b="0" i="0">
                          <a:solidFill>
                            <a:srgbClr val="292B2C"/>
                          </a:solidFill>
                          <a:effectLst/>
                          <a:latin typeface="Times New Roman" panose="02020603050405020304" pitchFamily="18" charset="0"/>
                        </a:rPr>
                        <a:t> </a:t>
                      </a:r>
                      <a:endParaRPr lang="en-US" b="0" i="0">
                        <a:effectLst/>
                      </a:endParaRPr>
                    </a:p>
                  </a:txBody>
                  <a:tcPr marL="57150" marR="57150">
                    <a:lnL w="9525" cap="flat" cmpd="sng" algn="ctr">
                      <a:solidFill>
                        <a:srgbClr val="50E73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10E83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292B2C"/>
                          </a:solidFill>
                          <a:effectLst/>
                          <a:latin typeface="Times New Roman" panose="02020603050405020304" pitchFamily="18" charset="0"/>
                        </a:rPr>
                        <a:t>Day of the Year Offence Occurred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F0E13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Integer </a:t>
                      </a:r>
                      <a:endParaRPr lang="en-US" b="0" i="0">
                        <a:effectLst/>
                      </a:endParaRPr>
                    </a:p>
                  </a:txBody>
                  <a:tcPr marL="57150" marR="57150">
                    <a:lnL w="9525" cap="flat" cmpd="sng" algn="ctr">
                      <a:solidFill>
                        <a:srgbClr val="000000"/>
                      </a:solidFill>
                      <a:prstDash val="solid"/>
                      <a:round/>
                      <a:headEnd type="none" w="med" len="med"/>
                      <a:tailEnd type="none" w="med" len="med"/>
                    </a:lnL>
                    <a:lnR w="9525" cap="flat" cmpd="sng" algn="ctr">
                      <a:solidFill>
                        <a:srgbClr val="90E23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10E330"/>
                      </a:solidFill>
                      <a:prstDash val="solid"/>
                      <a:round/>
                      <a:headEnd type="none" w="med" len="med"/>
                      <a:tailEnd type="none" w="med" len="med"/>
                    </a:lnB>
                    <a:noFill/>
                  </a:tcPr>
                </a:tc>
                <a:extLst>
                  <a:ext uri="{0D108BD9-81ED-4DB2-BD59-A6C34878D82A}">
                    <a16:rowId xmlns:a16="http://schemas.microsoft.com/office/drawing/2014/main" val="1521211905"/>
                  </a:ext>
                </a:extLst>
              </a:tr>
            </a:tbl>
          </a:graphicData>
        </a:graphic>
      </p:graphicFrame>
    </p:spTree>
    <p:extLst>
      <p:ext uri="{BB962C8B-B14F-4D97-AF65-F5344CB8AC3E}">
        <p14:creationId xmlns:p14="http://schemas.microsoft.com/office/powerpoint/2010/main" val="1949503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A2F691-C924-8580-B9E2-A2F0C0B7B33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C36D3977-8E29-8C13-53C9-3A7C18F69E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0B6E0187-8094-DA96-5C1D-F92E33537E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64B20D-CBA6-B461-2420-4A46B5607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A3BFB2F-CADF-095F-26EE-3B65BAF2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B4AF011-D969-CBEE-CC97-AA2DC27AB97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Explore Data</a:t>
            </a:r>
          </a:p>
        </p:txBody>
      </p:sp>
      <p:pic>
        <p:nvPicPr>
          <p:cNvPr id="5" name="Content Placeholder 4" descr="Picture 458124907, Picture">
            <a:extLst>
              <a:ext uri="{FF2B5EF4-FFF2-40B4-BE49-F238E27FC236}">
                <a16:creationId xmlns:a16="http://schemas.microsoft.com/office/drawing/2014/main" id="{3C98E334-537D-3430-877F-3BCFB9B98804}"/>
              </a:ext>
            </a:extLst>
          </p:cNvPr>
          <p:cNvPicPr>
            <a:picLocks noGrp="1" noChangeAspect="1"/>
          </p:cNvPicPr>
          <p:nvPr>
            <p:ph idx="1"/>
          </p:nvPr>
        </p:nvPicPr>
        <p:blipFill>
          <a:blip r:embed="rId2"/>
          <a:stretch>
            <a:fillRect/>
          </a:stretch>
        </p:blipFill>
        <p:spPr>
          <a:xfrm>
            <a:off x="1173102" y="1710835"/>
            <a:ext cx="6801857" cy="3878982"/>
          </a:xfrm>
        </p:spPr>
      </p:pic>
      <p:sp>
        <p:nvSpPr>
          <p:cNvPr id="6" name="TextBox 5">
            <a:extLst>
              <a:ext uri="{FF2B5EF4-FFF2-40B4-BE49-F238E27FC236}">
                <a16:creationId xmlns:a16="http://schemas.microsoft.com/office/drawing/2014/main" id="{1D51093C-DFB6-6594-0B04-384BCDBE800B}"/>
              </a:ext>
            </a:extLst>
          </p:cNvPr>
          <p:cNvSpPr txBox="1"/>
          <p:nvPr/>
        </p:nvSpPr>
        <p:spPr>
          <a:xfrm>
            <a:off x="712912" y="5870884"/>
            <a:ext cx="771662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rPr>
              <a:t>Incidents peaked between 2016 and 2018, showing a higher number of reported cases during those years.</a:t>
            </a:r>
            <a:r>
              <a:rPr lang="en-US" sz="1600">
                <a:latin typeface="Aptos"/>
                <a:cs typeface="Times New Roman"/>
              </a:rPr>
              <a:t> </a:t>
            </a:r>
            <a:endParaRPr lang="en-US" sz="1600">
              <a:latin typeface="Aptos"/>
            </a:endParaRPr>
          </a:p>
        </p:txBody>
      </p:sp>
    </p:spTree>
    <p:extLst>
      <p:ext uri="{BB962C8B-B14F-4D97-AF65-F5344CB8AC3E}">
        <p14:creationId xmlns:p14="http://schemas.microsoft.com/office/powerpoint/2010/main" val="998354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427170-A3C8-BF96-1B6E-AF7E02FF3DF4}"/>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D55C399-45E0-86B0-0619-B1CE47BCF8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474FA952-2B4B-81AB-227F-5FC1C74C2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928F83-778F-D642-4D43-9677D2575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738D028-E42D-0195-1A87-ED17DF0BC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07BA7AC-7D5B-090B-0F6D-D098745DE959}"/>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Explore Data</a:t>
            </a:r>
          </a:p>
        </p:txBody>
      </p:sp>
      <p:sp>
        <p:nvSpPr>
          <p:cNvPr id="6" name="TextBox 5">
            <a:extLst>
              <a:ext uri="{FF2B5EF4-FFF2-40B4-BE49-F238E27FC236}">
                <a16:creationId xmlns:a16="http://schemas.microsoft.com/office/drawing/2014/main" id="{150677AA-EE93-EF12-FAC1-293E2C452EEA}"/>
              </a:ext>
            </a:extLst>
          </p:cNvPr>
          <p:cNvSpPr txBox="1"/>
          <p:nvPr/>
        </p:nvSpPr>
        <p:spPr>
          <a:xfrm>
            <a:off x="969564" y="5906696"/>
            <a:ext cx="75315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rPr>
              <a:t>Fridays recorded the most incidents, suggesting increased theft or accident activity closer to the weekend.</a:t>
            </a:r>
            <a:endParaRPr lang="en-US" sz="1600">
              <a:latin typeface="Aptos"/>
              <a:cs typeface="Times New Roman"/>
            </a:endParaRPr>
          </a:p>
        </p:txBody>
      </p:sp>
      <p:pic>
        <p:nvPicPr>
          <p:cNvPr id="7" name="Content Placeholder 6" descr="Picture 788144980, Picture">
            <a:extLst>
              <a:ext uri="{FF2B5EF4-FFF2-40B4-BE49-F238E27FC236}">
                <a16:creationId xmlns:a16="http://schemas.microsoft.com/office/drawing/2014/main" id="{4DF98828-24C9-428A-DEC3-E9CC7B3685CF}"/>
              </a:ext>
            </a:extLst>
          </p:cNvPr>
          <p:cNvPicPr>
            <a:picLocks noGrp="1" noChangeAspect="1"/>
          </p:cNvPicPr>
          <p:nvPr>
            <p:ph idx="1"/>
          </p:nvPr>
        </p:nvPicPr>
        <p:blipFill>
          <a:blip r:embed="rId2"/>
          <a:stretch>
            <a:fillRect/>
          </a:stretch>
        </p:blipFill>
        <p:spPr>
          <a:xfrm>
            <a:off x="1422707" y="1895355"/>
            <a:ext cx="6291495" cy="3605812"/>
          </a:xfrm>
        </p:spPr>
      </p:pic>
    </p:spTree>
    <p:extLst>
      <p:ext uri="{BB962C8B-B14F-4D97-AF65-F5344CB8AC3E}">
        <p14:creationId xmlns:p14="http://schemas.microsoft.com/office/powerpoint/2010/main" val="359156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E74B19-E91F-B221-B907-5979DE380C6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0FA6801-77D7-DF2F-4E1C-08BB843F9D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6B0E110-684D-800C-D494-71EE5F0A3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D3909A-70F4-BE60-A117-24894441C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681DC8-3651-B0E9-C9A2-9C496BAF0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9A3EA64-B5D8-283B-55A8-F46D87572CE8}"/>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Verify Data</a:t>
            </a:r>
          </a:p>
        </p:txBody>
      </p:sp>
      <p:graphicFrame>
        <p:nvGraphicFramePr>
          <p:cNvPr id="6" name="Table 5">
            <a:extLst>
              <a:ext uri="{FF2B5EF4-FFF2-40B4-BE49-F238E27FC236}">
                <a16:creationId xmlns:a16="http://schemas.microsoft.com/office/drawing/2014/main" id="{6C8374F6-FB7C-994F-CB4F-453FD6E02C2F}"/>
              </a:ext>
            </a:extLst>
          </p:cNvPr>
          <p:cNvGraphicFramePr>
            <a:graphicFrameLocks noGrp="1"/>
          </p:cNvGraphicFramePr>
          <p:nvPr>
            <p:extLst>
              <p:ext uri="{D42A27DB-BD31-4B8C-83A1-F6EECF244321}">
                <p14:modId xmlns:p14="http://schemas.microsoft.com/office/powerpoint/2010/main" val="3747151943"/>
              </p:ext>
            </p:extLst>
          </p:nvPr>
        </p:nvGraphicFramePr>
        <p:xfrm>
          <a:off x="1446220" y="2183231"/>
          <a:ext cx="6019800" cy="3713548"/>
        </p:xfrm>
        <a:graphic>
          <a:graphicData uri="http://schemas.openxmlformats.org/drawingml/2006/table">
            <a:tbl>
              <a:tblPr bandRow="1">
                <a:tableStyleId>{5C22544A-7EE6-4342-B048-85BDC9FD1C3A}</a:tableStyleId>
              </a:tblPr>
              <a:tblGrid>
                <a:gridCol w="990600">
                  <a:extLst>
                    <a:ext uri="{9D8B030D-6E8A-4147-A177-3AD203B41FA5}">
                      <a16:colId xmlns:a16="http://schemas.microsoft.com/office/drawing/2014/main" val="2778374776"/>
                    </a:ext>
                  </a:extLst>
                </a:gridCol>
                <a:gridCol w="1371600">
                  <a:extLst>
                    <a:ext uri="{9D8B030D-6E8A-4147-A177-3AD203B41FA5}">
                      <a16:colId xmlns:a16="http://schemas.microsoft.com/office/drawing/2014/main" val="1166241318"/>
                    </a:ext>
                  </a:extLst>
                </a:gridCol>
                <a:gridCol w="1371600">
                  <a:extLst>
                    <a:ext uri="{9D8B030D-6E8A-4147-A177-3AD203B41FA5}">
                      <a16:colId xmlns:a16="http://schemas.microsoft.com/office/drawing/2014/main" val="111488834"/>
                    </a:ext>
                  </a:extLst>
                </a:gridCol>
                <a:gridCol w="2286000">
                  <a:extLst>
                    <a:ext uri="{9D8B030D-6E8A-4147-A177-3AD203B41FA5}">
                      <a16:colId xmlns:a16="http://schemas.microsoft.com/office/drawing/2014/main" val="3079684290"/>
                    </a:ext>
                  </a:extLst>
                </a:gridCol>
              </a:tblGrid>
              <a:tr h="190500">
                <a:tc>
                  <a:txBody>
                    <a:bodyPr/>
                    <a:lstStyle/>
                    <a:p>
                      <a:pPr algn="ctr" rtl="0" fontAlgn="base">
                        <a:lnSpc>
                          <a:spcPts val="1657"/>
                        </a:lnSpc>
                        <a:buNone/>
                      </a:pPr>
                      <a:r>
                        <a:rPr lang="en-US" sz="1200">
                          <a:effectLst/>
                          <a:latin typeface="Times New Roman" panose="02020603050405020304" pitchFamily="18" charset="0"/>
                        </a:rPr>
                        <a:t>Attribute Name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657"/>
                        </a:lnSpc>
                        <a:buNone/>
                      </a:pPr>
                      <a:r>
                        <a:rPr lang="en-US" sz="1200">
                          <a:effectLst/>
                          <a:latin typeface="Times New Roman" panose="02020603050405020304" pitchFamily="18" charset="0"/>
                        </a:rPr>
                        <a:t>Number of Missing Values/ Duplicates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657"/>
                        </a:lnSpc>
                        <a:buNone/>
                      </a:pPr>
                      <a:r>
                        <a:rPr lang="en-US" sz="1200">
                          <a:effectLst/>
                          <a:latin typeface="Times New Roman" panose="02020603050405020304" pitchFamily="18" charset="0"/>
                        </a:rPr>
                        <a:t>Data Quality Issue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657"/>
                        </a:lnSpc>
                        <a:buNone/>
                      </a:pPr>
                      <a:r>
                        <a:rPr lang="en-US" sz="1200">
                          <a:effectLst/>
                          <a:latin typeface="Times New Roman" panose="02020603050405020304" pitchFamily="18" charset="0"/>
                        </a:rPr>
                        <a:t>Data Preparation Step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3203353"/>
                  </a:ext>
                </a:extLst>
              </a:tr>
              <a:tr h="190500">
                <a:tc>
                  <a:txBody>
                    <a:bodyPr/>
                    <a:lstStyle/>
                    <a:p>
                      <a:pPr rtl="0" fontAlgn="base">
                        <a:lnSpc>
                          <a:spcPts val="1657"/>
                        </a:lnSpc>
                        <a:buNone/>
                      </a:pPr>
                      <a:r>
                        <a:rPr lang="en-US" sz="1200">
                          <a:effectLst/>
                          <a:latin typeface="Times New Roman" panose="02020603050405020304" pitchFamily="18" charset="0"/>
                        </a:rPr>
                        <a:t>_id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399 Duplicates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Duplicate records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Removed duplicates by excluding _id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0274112"/>
                  </a:ext>
                </a:extLst>
              </a:tr>
              <a:tr h="190500">
                <a:tc>
                  <a:txBody>
                    <a:bodyPr/>
                    <a:lstStyle/>
                    <a:p>
                      <a:pPr rtl="0" fontAlgn="base">
                        <a:lnSpc>
                          <a:spcPts val="1657"/>
                        </a:lnSpc>
                        <a:buNone/>
                      </a:pPr>
                      <a:r>
                        <a:rPr lang="en-US" sz="1200">
                          <a:effectLst/>
                          <a:latin typeface="Times New Roman" panose="02020603050405020304" pitchFamily="18" charset="0"/>
                        </a:rPr>
                        <a:t>EVENT_UNIQUE_ID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2 Duplicates (if _id excluded)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Minor duplicate records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Removed duplicates by excluding EVENT_UNIQUE_ID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6756820"/>
                  </a:ext>
                </a:extLst>
              </a:tr>
              <a:tr h="190500">
                <a:tc>
                  <a:txBody>
                    <a:bodyPr/>
                    <a:lstStyle/>
                    <a:p>
                      <a:pPr rtl="0" fontAlgn="base">
                        <a:lnSpc>
                          <a:spcPts val="1657"/>
                        </a:lnSpc>
                        <a:buNone/>
                      </a:pPr>
                      <a:r>
                        <a:rPr lang="en-US" sz="1200">
                          <a:effectLst/>
                          <a:latin typeface="Times New Roman" panose="02020603050405020304" pitchFamily="18" charset="0"/>
                        </a:rPr>
                        <a:t>PRIMARY_OFFENCE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0 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issues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changes required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318151"/>
                  </a:ext>
                </a:extLst>
              </a:tr>
              <a:tr h="190500">
                <a:tc>
                  <a:txBody>
                    <a:bodyPr/>
                    <a:lstStyle/>
                    <a:p>
                      <a:pPr rtl="0" fontAlgn="base">
                        <a:lnSpc>
                          <a:spcPts val="1657"/>
                        </a:lnSpc>
                        <a:buNone/>
                      </a:pPr>
                      <a:r>
                        <a:rPr lang="en-US" sz="1200">
                          <a:effectLst/>
                          <a:latin typeface="Times New Roman" panose="02020603050405020304" pitchFamily="18" charset="0"/>
                        </a:rPr>
                        <a:t>OCC_DATE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0 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issues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changes required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2662458"/>
                  </a:ext>
                </a:extLst>
              </a:tr>
              <a:tr h="190500">
                <a:tc>
                  <a:txBody>
                    <a:bodyPr/>
                    <a:lstStyle/>
                    <a:p>
                      <a:pPr rtl="0" fontAlgn="base">
                        <a:lnSpc>
                          <a:spcPts val="1657"/>
                        </a:lnSpc>
                        <a:buNone/>
                      </a:pPr>
                      <a:r>
                        <a:rPr lang="en-US" sz="1200">
                          <a:effectLst/>
                          <a:latin typeface="Times New Roman" panose="02020603050405020304" pitchFamily="18" charset="0"/>
                        </a:rPr>
                        <a:t>OCC_YEAR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0 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issues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changes required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2402039"/>
                  </a:ext>
                </a:extLst>
              </a:tr>
              <a:tr h="190500">
                <a:tc>
                  <a:txBody>
                    <a:bodyPr/>
                    <a:lstStyle/>
                    <a:p>
                      <a:pPr rtl="0" fontAlgn="base">
                        <a:lnSpc>
                          <a:spcPts val="1657"/>
                        </a:lnSpc>
                        <a:buNone/>
                      </a:pPr>
                      <a:r>
                        <a:rPr lang="en-US" sz="1200">
                          <a:effectLst/>
                          <a:latin typeface="Times New Roman" panose="02020603050405020304" pitchFamily="18" charset="0"/>
                        </a:rPr>
                        <a:t>OCC_MONTH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0 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issues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changes required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3488508"/>
                  </a:ext>
                </a:extLst>
              </a:tr>
              <a:tr h="190500">
                <a:tc>
                  <a:txBody>
                    <a:bodyPr/>
                    <a:lstStyle/>
                    <a:p>
                      <a:pPr rtl="0" fontAlgn="base">
                        <a:lnSpc>
                          <a:spcPts val="1657"/>
                        </a:lnSpc>
                        <a:buNone/>
                      </a:pPr>
                      <a:r>
                        <a:rPr lang="en-US" sz="1200">
                          <a:effectLst/>
                          <a:latin typeface="Times New Roman" panose="02020603050405020304" pitchFamily="18" charset="0"/>
                        </a:rPr>
                        <a:t>OCC_DOW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0 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issues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changes required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6950789"/>
                  </a:ext>
                </a:extLst>
              </a:tr>
              <a:tr h="190500">
                <a:tc>
                  <a:txBody>
                    <a:bodyPr/>
                    <a:lstStyle/>
                    <a:p>
                      <a:pPr rtl="0" fontAlgn="base">
                        <a:lnSpc>
                          <a:spcPts val="1657"/>
                        </a:lnSpc>
                        <a:buNone/>
                      </a:pPr>
                      <a:r>
                        <a:rPr lang="en-US" sz="1200">
                          <a:effectLst/>
                          <a:latin typeface="Times New Roman" panose="02020603050405020304" pitchFamily="18" charset="0"/>
                        </a:rPr>
                        <a:t>OCC_DAY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0 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issues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657"/>
                        </a:lnSpc>
                        <a:buNone/>
                      </a:pPr>
                      <a:r>
                        <a:rPr lang="en-US" sz="1200">
                          <a:effectLst/>
                          <a:latin typeface="Times New Roman" panose="02020603050405020304" pitchFamily="18" charset="0"/>
                        </a:rPr>
                        <a:t>No changes required </a:t>
                      </a:r>
                      <a:endParaRPr lang="en-US">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567676"/>
                  </a:ext>
                </a:extLst>
              </a:tr>
            </a:tbl>
          </a:graphicData>
        </a:graphic>
      </p:graphicFrame>
    </p:spTree>
    <p:extLst>
      <p:ext uri="{BB962C8B-B14F-4D97-AF65-F5344CB8AC3E}">
        <p14:creationId xmlns:p14="http://schemas.microsoft.com/office/powerpoint/2010/main" val="1037496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1B4D1C-A2A6-CD98-0EFA-3A51E0FA169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DA2DB7BC-193B-F8B9-16D8-5678D99354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6BD41F43-F7A5-18DB-E0F7-7B7620B0A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AF5323-7D4E-86B4-96F1-624CAECA6F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4AB4622-B855-2544-E5A9-231A680F31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0541A40-C161-8960-5509-47D8825C1551}"/>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Describe Data Cont.</a:t>
            </a:r>
          </a:p>
        </p:txBody>
      </p:sp>
      <p:graphicFrame>
        <p:nvGraphicFramePr>
          <p:cNvPr id="6" name="Content Placeholder 5">
            <a:extLst>
              <a:ext uri="{FF2B5EF4-FFF2-40B4-BE49-F238E27FC236}">
                <a16:creationId xmlns:a16="http://schemas.microsoft.com/office/drawing/2014/main" id="{1AD70899-88D0-6993-D51C-7732BDE7ED7D}"/>
              </a:ext>
            </a:extLst>
          </p:cNvPr>
          <p:cNvGraphicFramePr>
            <a:graphicFrameLocks noGrp="1"/>
          </p:cNvGraphicFramePr>
          <p:nvPr>
            <p:ph idx="1"/>
            <p:extLst>
              <p:ext uri="{D42A27DB-BD31-4B8C-83A1-F6EECF244321}">
                <p14:modId xmlns:p14="http://schemas.microsoft.com/office/powerpoint/2010/main" val="3060840889"/>
              </p:ext>
            </p:extLst>
          </p:nvPr>
        </p:nvGraphicFramePr>
        <p:xfrm>
          <a:off x="459117" y="2092528"/>
          <a:ext cx="8229600" cy="3790069"/>
        </p:xfrm>
        <a:graphic>
          <a:graphicData uri="http://schemas.openxmlformats.org/drawingml/2006/table">
            <a:tbl>
              <a:tblPr bandRow="1">
                <a:tableStyleId>{5C22544A-7EE6-4342-B048-85BDC9FD1C3A}</a:tableStyleId>
              </a:tblPr>
              <a:tblGrid>
                <a:gridCol w="2743200">
                  <a:extLst>
                    <a:ext uri="{9D8B030D-6E8A-4147-A177-3AD203B41FA5}">
                      <a16:colId xmlns:a16="http://schemas.microsoft.com/office/drawing/2014/main" val="3832830299"/>
                    </a:ext>
                  </a:extLst>
                </a:gridCol>
                <a:gridCol w="2743200">
                  <a:extLst>
                    <a:ext uri="{9D8B030D-6E8A-4147-A177-3AD203B41FA5}">
                      <a16:colId xmlns:a16="http://schemas.microsoft.com/office/drawing/2014/main" val="723370194"/>
                    </a:ext>
                  </a:extLst>
                </a:gridCol>
                <a:gridCol w="2743200">
                  <a:extLst>
                    <a:ext uri="{9D8B030D-6E8A-4147-A177-3AD203B41FA5}">
                      <a16:colId xmlns:a16="http://schemas.microsoft.com/office/drawing/2014/main" val="531309980"/>
                    </a:ext>
                  </a:extLst>
                </a:gridCol>
              </a:tblGrid>
              <a:tr h="499291">
                <a:tc>
                  <a:txBody>
                    <a:bodyPr/>
                    <a:lstStyle/>
                    <a:p>
                      <a:pPr algn="l" rtl="0" fontAlgn="base">
                        <a:lnSpc>
                          <a:spcPts val="1425"/>
                        </a:lnSpc>
                        <a:buNone/>
                      </a:pPr>
                      <a:r>
                        <a:rPr lang="en-US" sz="1200" b="0" i="0">
                          <a:solidFill>
                            <a:srgbClr val="000000"/>
                          </a:solidFill>
                          <a:effectLst/>
                          <a:latin typeface="Times New Roman" panose="02020603050405020304" pitchFamily="18" charset="0"/>
                        </a:rPr>
                        <a:t>Attributes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Description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solidFill>
                            <a:srgbClr val="000000"/>
                          </a:solidFill>
                          <a:effectLst/>
                          <a:latin typeface="Times New Roman" panose="02020603050405020304" pitchFamily="18" charset="0"/>
                        </a:rPr>
                        <a:t>DataType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5769369"/>
                  </a:ext>
                </a:extLst>
              </a:tr>
              <a:tr h="703544">
                <a:tc>
                  <a:txBody>
                    <a:bodyPr/>
                    <a:lstStyle/>
                    <a:p>
                      <a:pPr algn="l" rtl="0" fontAlgn="base">
                        <a:lnSpc>
                          <a:spcPts val="1425"/>
                        </a:lnSpc>
                        <a:buNone/>
                      </a:pPr>
                      <a:r>
                        <a:rPr lang="en-US" sz="1200" b="0" i="0">
                          <a:effectLst/>
                          <a:latin typeface="Times New Roman" panose="02020603050405020304" pitchFamily="18" charset="0"/>
                        </a:rPr>
                        <a:t>OCC_DOY</a:t>
                      </a:r>
                      <a:r>
                        <a:rPr lang="en-US" sz="1200" b="0" i="0">
                          <a:effectLst/>
                          <a:latin typeface="WordVisiCarriageReturn_MSFontService"/>
                        </a:rPr>
                        <a:t> </a:t>
                      </a:r>
                      <a:br>
                        <a:rPr lang="en-US" sz="1200" b="0" i="0">
                          <a:effectLst/>
                          <a:latin typeface="WordVisiCarriageReturn_MSFontService"/>
                        </a:rPr>
                      </a:br>
                      <a:r>
                        <a:rPr lang="en-US" sz="1200" b="0" i="0">
                          <a:effectLst/>
                          <a:latin typeface="Times New Roman" panose="02020603050405020304" pitchFamily="18" charset="0"/>
                        </a:rPr>
                        <a:t>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75"/>
                        </a:lnSpc>
                        <a:buNone/>
                      </a:pPr>
                      <a:r>
                        <a:rPr lang="en-US" sz="1100" b="0" i="0">
                          <a:effectLst/>
                          <a:latin typeface="Times New Roman" panose="02020603050405020304" pitchFamily="18" charset="0"/>
                        </a:rPr>
                        <a:t>Day of the year when offence occurred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65"/>
                        </a:lnSpc>
                        <a:spcAft>
                          <a:spcPts val="800"/>
                        </a:spcAft>
                        <a:buNone/>
                      </a:pPr>
                      <a:r>
                        <a:rPr lang="en-US" sz="1100" b="0" i="0">
                          <a:effectLst/>
                          <a:latin typeface="Times New Roman" panose="02020603050405020304" pitchFamily="18" charset="0"/>
                        </a:rPr>
                        <a:t>Integer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7643640"/>
                  </a:ext>
                </a:extLst>
              </a:tr>
              <a:tr h="499291">
                <a:tc>
                  <a:txBody>
                    <a:bodyPr/>
                    <a:lstStyle/>
                    <a:p>
                      <a:pPr algn="l" rtl="0" fontAlgn="base">
                        <a:lnSpc>
                          <a:spcPts val="1425"/>
                        </a:lnSpc>
                        <a:buNone/>
                      </a:pPr>
                      <a:r>
                        <a:rPr lang="en-US" sz="1200" b="0" i="0">
                          <a:effectLst/>
                          <a:latin typeface="Times New Roman" panose="02020603050405020304" pitchFamily="18" charset="0"/>
                        </a:rPr>
                        <a:t>OCC_HOUR</a:t>
                      </a:r>
                      <a:r>
                        <a:rPr lang="en-US" sz="1200" b="0" i="0">
                          <a:effectLst/>
                          <a:latin typeface="WordVisiCarriageReturn_MSFontService"/>
                        </a:rPr>
                        <a:t> </a:t>
                      </a:r>
                      <a:br>
                        <a:rPr lang="en-US" sz="1200" b="0" i="0">
                          <a:effectLst/>
                          <a:latin typeface="WordVisiCarriageReturn_MSFontService"/>
                        </a:rPr>
                      </a:b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75"/>
                        </a:lnSpc>
                        <a:buNone/>
                      </a:pPr>
                      <a:r>
                        <a:rPr lang="en-US" sz="1100" b="0" i="0">
                          <a:effectLst/>
                          <a:latin typeface="Times New Roman" panose="02020603050405020304" pitchFamily="18" charset="0"/>
                        </a:rPr>
                        <a:t>Hour of the day when offence occurred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65"/>
                        </a:lnSpc>
                        <a:spcAft>
                          <a:spcPts val="800"/>
                        </a:spcAft>
                        <a:buNone/>
                      </a:pPr>
                      <a:r>
                        <a:rPr lang="en-US" sz="1100" b="0" i="0">
                          <a:effectLst/>
                          <a:latin typeface="Times New Roman" panose="02020603050405020304" pitchFamily="18" charset="0"/>
                        </a:rPr>
                        <a:t>Integer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1230695"/>
                  </a:ext>
                </a:extLst>
              </a:tr>
              <a:tr h="499291">
                <a:tc>
                  <a:txBody>
                    <a:bodyPr/>
                    <a:lstStyle/>
                    <a:p>
                      <a:pPr algn="l" rtl="0" fontAlgn="base">
                        <a:lnSpc>
                          <a:spcPts val="1425"/>
                        </a:lnSpc>
                        <a:buNone/>
                      </a:pPr>
                      <a:r>
                        <a:rPr lang="en-US" sz="1200" b="0" i="0">
                          <a:effectLst/>
                          <a:latin typeface="Times New Roman" panose="02020603050405020304" pitchFamily="18" charset="0"/>
                        </a:rPr>
                        <a:t>REPORT_DATE</a:t>
                      </a:r>
                      <a:r>
                        <a:rPr lang="en-US" sz="1200" b="0" i="0">
                          <a:effectLst/>
                          <a:latin typeface="WordVisiCarriageReturn_MSFontService"/>
                        </a:rPr>
                        <a:t> </a:t>
                      </a:r>
                      <a:br>
                        <a:rPr lang="en-US" sz="1200" b="0" i="0">
                          <a:effectLst/>
                          <a:latin typeface="WordVisiCarriageReturn_MSFontService"/>
                        </a:rPr>
                      </a:b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65"/>
                        </a:lnSpc>
                        <a:spcAft>
                          <a:spcPts val="800"/>
                        </a:spcAft>
                        <a:buNone/>
                      </a:pPr>
                      <a:r>
                        <a:rPr lang="en-US" sz="1100" b="0" i="0">
                          <a:effectLst/>
                          <a:latin typeface="Times New Roman" panose="02020603050405020304" pitchFamily="18" charset="0"/>
                        </a:rPr>
                        <a:t>Date when offence was reported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65"/>
                        </a:lnSpc>
                        <a:spcAft>
                          <a:spcPts val="800"/>
                        </a:spcAft>
                        <a:buNone/>
                      </a:pPr>
                      <a:r>
                        <a:rPr lang="en-US" sz="1100" b="0" i="0">
                          <a:effectLst/>
                          <a:latin typeface="Times New Roman" panose="02020603050405020304" pitchFamily="18" charset="0"/>
                        </a:rPr>
                        <a:t>Date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8971213"/>
                  </a:ext>
                </a:extLst>
              </a:tr>
              <a:tr h="499291">
                <a:tc>
                  <a:txBody>
                    <a:bodyPr/>
                    <a:lstStyle/>
                    <a:p>
                      <a:pPr algn="l" rtl="0" fontAlgn="base">
                        <a:lnSpc>
                          <a:spcPts val="1425"/>
                        </a:lnSpc>
                        <a:buNone/>
                      </a:pPr>
                      <a:r>
                        <a:rPr lang="en-US" sz="1200" b="0" i="0">
                          <a:effectLst/>
                          <a:latin typeface="Times New Roman" panose="02020603050405020304" pitchFamily="18" charset="0"/>
                        </a:rPr>
                        <a:t>REPORT_YEAR</a:t>
                      </a:r>
                      <a:r>
                        <a:rPr lang="en-US" sz="1200" b="0" i="0">
                          <a:effectLst/>
                          <a:latin typeface="WordVisiCarriageReturn_MSFontService"/>
                        </a:rPr>
                        <a:t> </a:t>
                      </a:r>
                      <a:br>
                        <a:rPr lang="en-US" sz="1200" b="0" i="0">
                          <a:effectLst/>
                          <a:latin typeface="WordVisiCarriageReturn_MSFontService"/>
                        </a:rPr>
                      </a:b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75"/>
                        </a:lnSpc>
                        <a:buNone/>
                      </a:pPr>
                      <a:r>
                        <a:rPr lang="en-US" sz="1100" b="0" i="0">
                          <a:effectLst/>
                          <a:latin typeface="Times New Roman" panose="02020603050405020304" pitchFamily="18" charset="0"/>
                        </a:rPr>
                        <a:t>Year when offence was reported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75"/>
                        </a:lnSpc>
                        <a:buNone/>
                      </a:pPr>
                      <a:r>
                        <a:rPr lang="en-US" sz="1100" b="0" i="0">
                          <a:effectLst/>
                          <a:latin typeface="Times New Roman" panose="02020603050405020304" pitchFamily="18" charset="0"/>
                        </a:rPr>
                        <a:t>Integer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8693566"/>
                  </a:ext>
                </a:extLst>
              </a:tr>
              <a:tr h="295035">
                <a:tc>
                  <a:txBody>
                    <a:bodyPr/>
                    <a:lstStyle/>
                    <a:p>
                      <a:pPr algn="l" rtl="0" fontAlgn="base">
                        <a:lnSpc>
                          <a:spcPts val="1425"/>
                        </a:lnSpc>
                        <a:buNone/>
                      </a:pPr>
                      <a:r>
                        <a:rPr lang="en-US" sz="1200" b="0" i="0">
                          <a:effectLst/>
                          <a:latin typeface="Times New Roman" panose="02020603050405020304" pitchFamily="18" charset="0"/>
                        </a:rPr>
                        <a:t>REPORT_MONTH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75"/>
                        </a:lnSpc>
                        <a:buNone/>
                      </a:pPr>
                      <a:r>
                        <a:rPr lang="en-US" sz="1100" b="0" i="0">
                          <a:effectLst/>
                          <a:latin typeface="Times New Roman" panose="02020603050405020304" pitchFamily="18" charset="0"/>
                        </a:rPr>
                        <a:t>Month when offence was reported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65"/>
                        </a:lnSpc>
                        <a:spcAft>
                          <a:spcPts val="800"/>
                        </a:spcAft>
                        <a:buNone/>
                      </a:pPr>
                      <a:r>
                        <a:rPr lang="en-US" sz="1100" b="0" i="0">
                          <a:effectLst/>
                          <a:latin typeface="Times New Roman" panose="02020603050405020304" pitchFamily="18" charset="0"/>
                        </a:rPr>
                        <a:t>Polynominal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3972700"/>
                  </a:ext>
                </a:extLst>
              </a:tr>
              <a:tr h="499291">
                <a:tc>
                  <a:txBody>
                    <a:bodyPr/>
                    <a:lstStyle/>
                    <a:p>
                      <a:pPr algn="l" rtl="0" fontAlgn="base">
                        <a:lnSpc>
                          <a:spcPts val="1425"/>
                        </a:lnSpc>
                        <a:buNone/>
                      </a:pPr>
                      <a:r>
                        <a:rPr lang="en-US" sz="1200" b="0" i="0">
                          <a:effectLst/>
                          <a:latin typeface="Times New Roman" panose="02020603050405020304" pitchFamily="18" charset="0"/>
                        </a:rPr>
                        <a:t>REPORT_DOW</a:t>
                      </a:r>
                      <a:r>
                        <a:rPr lang="en-US" sz="1200" b="0" i="0">
                          <a:effectLst/>
                          <a:latin typeface="WordVisiCarriageReturn_MSFontService"/>
                        </a:rPr>
                        <a:t> </a:t>
                      </a:r>
                      <a:br>
                        <a:rPr lang="en-US" sz="1200" b="0" i="0">
                          <a:effectLst/>
                          <a:latin typeface="WordVisiCarriageReturn_MSFontService"/>
                        </a:rPr>
                      </a:b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65"/>
                        </a:lnSpc>
                        <a:spcAft>
                          <a:spcPts val="800"/>
                        </a:spcAft>
                        <a:buNone/>
                      </a:pPr>
                      <a:r>
                        <a:rPr lang="en-US" sz="1100" b="0" i="0">
                          <a:effectLst/>
                          <a:latin typeface="Times New Roman" panose="02020603050405020304" pitchFamily="18" charset="0"/>
                        </a:rPr>
                        <a:t>Day of the week when offence was reported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65"/>
                        </a:lnSpc>
                        <a:spcAft>
                          <a:spcPts val="800"/>
                        </a:spcAft>
                        <a:buNone/>
                      </a:pPr>
                      <a:r>
                        <a:rPr lang="en-US" sz="1100" b="0" i="0">
                          <a:effectLst/>
                          <a:latin typeface="Times New Roman" panose="02020603050405020304" pitchFamily="18" charset="0"/>
                        </a:rPr>
                        <a:t>Polynominal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9639852"/>
                  </a:ext>
                </a:extLst>
              </a:tr>
              <a:tr h="295035">
                <a:tc>
                  <a:txBody>
                    <a:bodyPr/>
                    <a:lstStyle/>
                    <a:p>
                      <a:pPr algn="l" rtl="0" fontAlgn="base">
                        <a:lnSpc>
                          <a:spcPts val="1425"/>
                        </a:lnSpc>
                        <a:buNone/>
                      </a:pPr>
                      <a:r>
                        <a:rPr lang="en-US" sz="1200" b="0" i="0">
                          <a:effectLst/>
                          <a:latin typeface="Times New Roman" panose="02020603050405020304" pitchFamily="18" charset="0"/>
                        </a:rPr>
                        <a:t>REPORT_DAY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75"/>
                        </a:lnSpc>
                        <a:buNone/>
                      </a:pPr>
                      <a:r>
                        <a:rPr lang="en-US" sz="1100" b="0" i="0">
                          <a:effectLst/>
                          <a:latin typeface="Times New Roman" panose="02020603050405020304" pitchFamily="18" charset="0"/>
                        </a:rPr>
                        <a:t>Day of the year when offence was reported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75"/>
                        </a:lnSpc>
                        <a:buNone/>
                      </a:pPr>
                      <a:r>
                        <a:rPr lang="en-US" sz="1100" b="0" i="0">
                          <a:effectLst/>
                          <a:latin typeface="Times New Roman" panose="02020603050405020304" pitchFamily="18" charset="0"/>
                        </a:rPr>
                        <a:t>Integer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257506"/>
                  </a:ext>
                </a:extLst>
              </a:tr>
            </a:tbl>
          </a:graphicData>
        </a:graphic>
      </p:graphicFrame>
    </p:spTree>
    <p:extLst>
      <p:ext uri="{BB962C8B-B14F-4D97-AF65-F5344CB8AC3E}">
        <p14:creationId xmlns:p14="http://schemas.microsoft.com/office/powerpoint/2010/main" val="2770067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B0EDCB-376F-C464-AE11-1F5BFE065F4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572D1889-AB81-ADB6-2C56-5E90351014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B14FD57F-7569-7DC2-15A9-4BEA551EC6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F9AEE4-913B-E88F-FE4E-C96264C25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556D3C-2C11-A767-AF3C-1659750DC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F19278A-9B50-C631-50C8-64CF16F9B945}"/>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Explore Data</a:t>
            </a:r>
          </a:p>
        </p:txBody>
      </p:sp>
      <p:sp>
        <p:nvSpPr>
          <p:cNvPr id="6" name="TextBox 5">
            <a:extLst>
              <a:ext uri="{FF2B5EF4-FFF2-40B4-BE49-F238E27FC236}">
                <a16:creationId xmlns:a16="http://schemas.microsoft.com/office/drawing/2014/main" id="{9EDECC01-CE0D-10BB-3FD3-47E91826DDB3}"/>
              </a:ext>
            </a:extLst>
          </p:cNvPr>
          <p:cNvSpPr txBox="1"/>
          <p:nvPr/>
        </p:nvSpPr>
        <p:spPr>
          <a:xfrm>
            <a:off x="993439" y="5751511"/>
            <a:ext cx="752562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rPr>
              <a:t>Most theft reports happen on weekdays across all months, with July and August showing consistently higher counts than other months.</a:t>
            </a:r>
            <a:endParaRPr lang="en-US" sz="1600">
              <a:latin typeface="Aptos"/>
              <a:cs typeface="Times New Roman"/>
            </a:endParaRPr>
          </a:p>
        </p:txBody>
      </p:sp>
      <p:pic>
        <p:nvPicPr>
          <p:cNvPr id="7" name="Content Placeholder 6" descr="Picture 2084397510, Picture">
            <a:extLst>
              <a:ext uri="{FF2B5EF4-FFF2-40B4-BE49-F238E27FC236}">
                <a16:creationId xmlns:a16="http://schemas.microsoft.com/office/drawing/2014/main" id="{984A1E51-E648-BC4F-3E4C-311A117A3D64}"/>
              </a:ext>
            </a:extLst>
          </p:cNvPr>
          <p:cNvPicPr>
            <a:picLocks noGrp="1" noChangeAspect="1"/>
          </p:cNvPicPr>
          <p:nvPr>
            <p:ph idx="1"/>
          </p:nvPr>
        </p:nvPicPr>
        <p:blipFill>
          <a:blip r:embed="rId2"/>
          <a:stretch>
            <a:fillRect/>
          </a:stretch>
        </p:blipFill>
        <p:spPr>
          <a:xfrm>
            <a:off x="1125691" y="1948533"/>
            <a:ext cx="6976180" cy="3304054"/>
          </a:xfrm>
        </p:spPr>
      </p:pic>
    </p:spTree>
    <p:extLst>
      <p:ext uri="{BB962C8B-B14F-4D97-AF65-F5344CB8AC3E}">
        <p14:creationId xmlns:p14="http://schemas.microsoft.com/office/powerpoint/2010/main" val="863564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392173-1B64-F262-C2EF-9412B7E58495}"/>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153AA69-6520-925A-B401-A365DF532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4B5A0A86-E598-86CD-102B-084FD391B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60414F-9B10-EDAB-46DB-BC06B0C67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D5A8E1-8521-024C-8B69-B6701B311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AFBDD46-95B8-FAD9-A793-33A57C4D5CB3}"/>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Explore Data</a:t>
            </a:r>
          </a:p>
        </p:txBody>
      </p:sp>
      <p:sp>
        <p:nvSpPr>
          <p:cNvPr id="6" name="TextBox 5">
            <a:extLst>
              <a:ext uri="{FF2B5EF4-FFF2-40B4-BE49-F238E27FC236}">
                <a16:creationId xmlns:a16="http://schemas.microsoft.com/office/drawing/2014/main" id="{0BF65B82-08D3-211C-1D4D-50FFCB1332B6}"/>
              </a:ext>
            </a:extLst>
          </p:cNvPr>
          <p:cNvSpPr txBox="1"/>
          <p:nvPr/>
        </p:nvSpPr>
        <p:spPr>
          <a:xfrm>
            <a:off x="832284" y="5870884"/>
            <a:ext cx="748981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rPr>
              <a:t>More bicycle thefts are reported on weekdays, especially Monday to Wednesday, while weekends have fewer reports.</a:t>
            </a:r>
            <a:endParaRPr lang="en-US" sz="1600">
              <a:latin typeface="Aptos"/>
              <a:cs typeface="Times New Roman"/>
            </a:endParaRPr>
          </a:p>
        </p:txBody>
      </p:sp>
      <p:pic>
        <p:nvPicPr>
          <p:cNvPr id="5" name="Content Placeholder 4" descr="Inserting image..., Picture">
            <a:extLst>
              <a:ext uri="{FF2B5EF4-FFF2-40B4-BE49-F238E27FC236}">
                <a16:creationId xmlns:a16="http://schemas.microsoft.com/office/drawing/2014/main" id="{1715A948-5903-3069-8686-D83A30176E70}"/>
              </a:ext>
            </a:extLst>
          </p:cNvPr>
          <p:cNvPicPr>
            <a:picLocks noGrp="1" noChangeAspect="1"/>
          </p:cNvPicPr>
          <p:nvPr>
            <p:ph idx="1"/>
          </p:nvPr>
        </p:nvPicPr>
        <p:blipFill>
          <a:blip r:embed="rId2"/>
          <a:stretch>
            <a:fillRect/>
          </a:stretch>
        </p:blipFill>
        <p:spPr>
          <a:xfrm>
            <a:off x="1015532" y="1937124"/>
            <a:ext cx="6839038" cy="3430731"/>
          </a:xfrm>
        </p:spPr>
      </p:pic>
    </p:spTree>
    <p:extLst>
      <p:ext uri="{BB962C8B-B14F-4D97-AF65-F5344CB8AC3E}">
        <p14:creationId xmlns:p14="http://schemas.microsoft.com/office/powerpoint/2010/main" val="2453073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1E9810-2D94-631D-91F5-A41E66BB45D5}"/>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A7B1476A-F75A-361A-0F7E-F1CE570644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049FF622-CD15-EEAE-A7F7-26B1C56B8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3136F8A-0A43-3853-3B68-79096AD966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E858CB-2768-BF68-3171-95900322D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2EF2B12-44D3-4FB5-2FE7-2EEB6967284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Verify Data</a:t>
            </a:r>
          </a:p>
        </p:txBody>
      </p:sp>
      <p:graphicFrame>
        <p:nvGraphicFramePr>
          <p:cNvPr id="4" name="Table 3">
            <a:extLst>
              <a:ext uri="{FF2B5EF4-FFF2-40B4-BE49-F238E27FC236}">
                <a16:creationId xmlns:a16="http://schemas.microsoft.com/office/drawing/2014/main" id="{40E5EBF8-F7D1-6522-A5EA-D7AA1D501D44}"/>
              </a:ext>
            </a:extLst>
          </p:cNvPr>
          <p:cNvGraphicFramePr>
            <a:graphicFrameLocks noGrp="1"/>
          </p:cNvGraphicFramePr>
          <p:nvPr>
            <p:extLst>
              <p:ext uri="{D42A27DB-BD31-4B8C-83A1-F6EECF244321}">
                <p14:modId xmlns:p14="http://schemas.microsoft.com/office/powerpoint/2010/main" val="1735513216"/>
              </p:ext>
            </p:extLst>
          </p:nvPr>
        </p:nvGraphicFramePr>
        <p:xfrm>
          <a:off x="1614577" y="2215934"/>
          <a:ext cx="5943600" cy="3576320"/>
        </p:xfrm>
        <a:graphic>
          <a:graphicData uri="http://schemas.openxmlformats.org/drawingml/2006/table">
            <a:tbl>
              <a:tblPr bandRow="1">
                <a:tableStyleId>{5C22544A-7EE6-4342-B048-85BDC9FD1C3A}</a:tableStyleId>
              </a:tblPr>
              <a:tblGrid>
                <a:gridCol w="1485900">
                  <a:extLst>
                    <a:ext uri="{9D8B030D-6E8A-4147-A177-3AD203B41FA5}">
                      <a16:colId xmlns:a16="http://schemas.microsoft.com/office/drawing/2014/main" val="922569758"/>
                    </a:ext>
                  </a:extLst>
                </a:gridCol>
                <a:gridCol w="1485900">
                  <a:extLst>
                    <a:ext uri="{9D8B030D-6E8A-4147-A177-3AD203B41FA5}">
                      <a16:colId xmlns:a16="http://schemas.microsoft.com/office/drawing/2014/main" val="2074675640"/>
                    </a:ext>
                  </a:extLst>
                </a:gridCol>
                <a:gridCol w="1485900">
                  <a:extLst>
                    <a:ext uri="{9D8B030D-6E8A-4147-A177-3AD203B41FA5}">
                      <a16:colId xmlns:a16="http://schemas.microsoft.com/office/drawing/2014/main" val="1514839400"/>
                    </a:ext>
                  </a:extLst>
                </a:gridCol>
                <a:gridCol w="1485900">
                  <a:extLst>
                    <a:ext uri="{9D8B030D-6E8A-4147-A177-3AD203B41FA5}">
                      <a16:colId xmlns:a16="http://schemas.microsoft.com/office/drawing/2014/main" val="687756482"/>
                    </a:ext>
                  </a:extLst>
                </a:gridCol>
              </a:tblGrid>
              <a:tr h="190500">
                <a:tc>
                  <a:txBody>
                    <a:bodyPr/>
                    <a:lstStyle/>
                    <a:p>
                      <a:pPr algn="ctr" rtl="0" fontAlgn="base">
                        <a:lnSpc>
                          <a:spcPts val="1425"/>
                        </a:lnSpc>
                        <a:buNone/>
                      </a:pPr>
                      <a:r>
                        <a:rPr lang="en-US" sz="1200">
                          <a:effectLst/>
                          <a:latin typeface="Times New Roman" panose="02020603050405020304" pitchFamily="18" charset="0"/>
                        </a:rPr>
                        <a:t>Attribute Name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Number of Missing Values / Duplicates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5"/>
                        </a:lnSpc>
                        <a:buNone/>
                      </a:pPr>
                      <a:r>
                        <a:rPr lang="en-US" sz="1200">
                          <a:effectLst/>
                          <a:latin typeface="Times New Roman" panose="02020603050405020304" pitchFamily="18" charset="0"/>
                        </a:rPr>
                        <a:t>Data Quality Issue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5"/>
                        </a:lnSpc>
                        <a:buNone/>
                      </a:pPr>
                      <a:r>
                        <a:rPr lang="en-US" sz="1200">
                          <a:effectLst/>
                          <a:latin typeface="Times New Roman" panose="02020603050405020304" pitchFamily="18" charset="0"/>
                        </a:rPr>
                        <a:t>Data Preparation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6712183"/>
                  </a:ext>
                </a:extLst>
              </a:tr>
              <a:tr h="190500">
                <a:tc>
                  <a:txBody>
                    <a:bodyPr/>
                    <a:lstStyle/>
                    <a:p>
                      <a:pPr rtl="0" fontAlgn="base">
                        <a:lnSpc>
                          <a:spcPts val="1425"/>
                        </a:lnSpc>
                        <a:buNone/>
                      </a:pPr>
                      <a:r>
                        <a:rPr lang="en-US" sz="1200">
                          <a:effectLst/>
                          <a:latin typeface="Times New Roman" panose="02020603050405020304" pitchFamily="18" charset="0"/>
                        </a:rPr>
                        <a:t>OCC_DOY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0 missing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issues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changes required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9520690"/>
                  </a:ext>
                </a:extLst>
              </a:tr>
              <a:tr h="190500">
                <a:tc>
                  <a:txBody>
                    <a:bodyPr/>
                    <a:lstStyle/>
                    <a:p>
                      <a:pPr rtl="0" fontAlgn="base">
                        <a:lnSpc>
                          <a:spcPts val="1425"/>
                        </a:lnSpc>
                        <a:buNone/>
                      </a:pPr>
                      <a:r>
                        <a:rPr lang="en-US" sz="1200">
                          <a:effectLst/>
                          <a:latin typeface="Times New Roman" panose="02020603050405020304" pitchFamily="18" charset="0"/>
                        </a:rPr>
                        <a:t>OCC_HOUR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0 missing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issues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changes required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6734587"/>
                  </a:ext>
                </a:extLst>
              </a:tr>
              <a:tr h="190500">
                <a:tc>
                  <a:txBody>
                    <a:bodyPr/>
                    <a:lstStyle/>
                    <a:p>
                      <a:pPr rtl="0" fontAlgn="base">
                        <a:lnSpc>
                          <a:spcPts val="1425"/>
                        </a:lnSpc>
                        <a:buNone/>
                      </a:pPr>
                      <a:r>
                        <a:rPr lang="en-US" sz="1200">
                          <a:effectLst/>
                          <a:latin typeface="Times New Roman" panose="02020603050405020304" pitchFamily="18" charset="0"/>
                        </a:rPr>
                        <a:t>REPORT_DATE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0 missing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issues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changes required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7968778"/>
                  </a:ext>
                </a:extLst>
              </a:tr>
              <a:tr h="190500">
                <a:tc>
                  <a:txBody>
                    <a:bodyPr/>
                    <a:lstStyle/>
                    <a:p>
                      <a:pPr rtl="0" fontAlgn="base">
                        <a:lnSpc>
                          <a:spcPts val="1425"/>
                        </a:lnSpc>
                        <a:buNone/>
                      </a:pPr>
                      <a:r>
                        <a:rPr lang="en-US" sz="1200">
                          <a:effectLst/>
                          <a:latin typeface="Times New Roman" panose="02020603050405020304" pitchFamily="18" charset="0"/>
                        </a:rPr>
                        <a:t>REPORT_YEAR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0 missing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issues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changes required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3004388"/>
                  </a:ext>
                </a:extLst>
              </a:tr>
              <a:tr h="190500">
                <a:tc>
                  <a:txBody>
                    <a:bodyPr/>
                    <a:lstStyle/>
                    <a:p>
                      <a:pPr rtl="0" fontAlgn="base">
                        <a:lnSpc>
                          <a:spcPts val="1425"/>
                        </a:lnSpc>
                        <a:buNone/>
                      </a:pPr>
                      <a:r>
                        <a:rPr lang="en-US" sz="1200">
                          <a:effectLst/>
                          <a:latin typeface="Times New Roman" panose="02020603050405020304" pitchFamily="18" charset="0"/>
                        </a:rPr>
                        <a:t>REPORT_MONTH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0 missing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issues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changes required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765315"/>
                  </a:ext>
                </a:extLst>
              </a:tr>
              <a:tr h="190500">
                <a:tc>
                  <a:txBody>
                    <a:bodyPr/>
                    <a:lstStyle/>
                    <a:p>
                      <a:pPr rtl="0" fontAlgn="base">
                        <a:lnSpc>
                          <a:spcPts val="1425"/>
                        </a:lnSpc>
                        <a:buNone/>
                      </a:pPr>
                      <a:r>
                        <a:rPr lang="en-US" sz="1200">
                          <a:effectLst/>
                          <a:latin typeface="Times New Roman" panose="02020603050405020304" pitchFamily="18" charset="0"/>
                        </a:rPr>
                        <a:t>REPORT_DOW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0 missing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issues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changes required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8060298"/>
                  </a:ext>
                </a:extLst>
              </a:tr>
              <a:tr h="190500">
                <a:tc>
                  <a:txBody>
                    <a:bodyPr/>
                    <a:lstStyle/>
                    <a:p>
                      <a:pPr rtl="0" fontAlgn="base">
                        <a:lnSpc>
                          <a:spcPts val="1425"/>
                        </a:lnSpc>
                        <a:buNone/>
                      </a:pPr>
                      <a:r>
                        <a:rPr lang="en-US" sz="1200">
                          <a:effectLst/>
                          <a:latin typeface="Times New Roman" panose="02020603050405020304" pitchFamily="18" charset="0"/>
                        </a:rPr>
                        <a:t>REPORT_DAY </a:t>
                      </a:r>
                      <a:endParaRPr lang="en-US">
                        <a:effectLst/>
                      </a:endParaRPr>
                    </a:p>
                    <a:p>
                      <a:pPr rtl="0" fontAlgn="base">
                        <a:lnSpc>
                          <a:spcPts val="1425"/>
                        </a:lnSpc>
                        <a:buNone/>
                      </a:pPr>
                      <a:r>
                        <a:rPr lang="en-US" sz="1200">
                          <a:effectLst/>
                          <a:latin typeface="Times New Roman" panose="02020603050405020304" pitchFamily="18" charset="0"/>
                        </a:rPr>
                        <a:t>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0 missing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issues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No changes required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4294968"/>
                  </a:ext>
                </a:extLst>
              </a:tr>
            </a:tbl>
          </a:graphicData>
        </a:graphic>
      </p:graphicFrame>
    </p:spTree>
    <p:extLst>
      <p:ext uri="{BB962C8B-B14F-4D97-AF65-F5344CB8AC3E}">
        <p14:creationId xmlns:p14="http://schemas.microsoft.com/office/powerpoint/2010/main" val="2411974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26A004-09EE-54AD-DE71-5A0E993D323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10013195-2C8A-EB9E-7CCF-32A47F261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40429F4-4B20-439D-55D2-79AA097B1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A9E3F0-49C8-B0FE-3D91-44751FBDA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A029C87-875E-7DD1-5E6D-5F0D16869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90430CC-57FA-6694-C156-AD1658E3AB41}"/>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Describe Data Cont.</a:t>
            </a:r>
          </a:p>
        </p:txBody>
      </p:sp>
      <p:graphicFrame>
        <p:nvGraphicFramePr>
          <p:cNvPr id="7" name="Content Placeholder 6">
            <a:extLst>
              <a:ext uri="{FF2B5EF4-FFF2-40B4-BE49-F238E27FC236}">
                <a16:creationId xmlns:a16="http://schemas.microsoft.com/office/drawing/2014/main" id="{6712EC1B-2B9F-6C20-FE98-1B03AA2F1E5C}"/>
              </a:ext>
            </a:extLst>
          </p:cNvPr>
          <p:cNvGraphicFramePr>
            <a:graphicFrameLocks noGrp="1"/>
          </p:cNvGraphicFramePr>
          <p:nvPr>
            <p:ph idx="1"/>
            <p:extLst>
              <p:ext uri="{D42A27DB-BD31-4B8C-83A1-F6EECF244321}">
                <p14:modId xmlns:p14="http://schemas.microsoft.com/office/powerpoint/2010/main" val="1676785960"/>
              </p:ext>
            </p:extLst>
          </p:nvPr>
        </p:nvGraphicFramePr>
        <p:xfrm>
          <a:off x="457200" y="2060275"/>
          <a:ext cx="8229598" cy="3918712"/>
        </p:xfrm>
        <a:graphic>
          <a:graphicData uri="http://schemas.openxmlformats.org/drawingml/2006/table">
            <a:tbl>
              <a:tblPr bandRow="1">
                <a:tableStyleId>{5C22544A-7EE6-4342-B048-85BDC9FD1C3A}</a:tableStyleId>
              </a:tblPr>
              <a:tblGrid>
                <a:gridCol w="1917196">
                  <a:extLst>
                    <a:ext uri="{9D8B030D-6E8A-4147-A177-3AD203B41FA5}">
                      <a16:colId xmlns:a16="http://schemas.microsoft.com/office/drawing/2014/main" val="3731160144"/>
                    </a:ext>
                  </a:extLst>
                </a:gridCol>
                <a:gridCol w="3821351">
                  <a:extLst>
                    <a:ext uri="{9D8B030D-6E8A-4147-A177-3AD203B41FA5}">
                      <a16:colId xmlns:a16="http://schemas.microsoft.com/office/drawing/2014/main" val="3118261552"/>
                    </a:ext>
                  </a:extLst>
                </a:gridCol>
                <a:gridCol w="2491051">
                  <a:extLst>
                    <a:ext uri="{9D8B030D-6E8A-4147-A177-3AD203B41FA5}">
                      <a16:colId xmlns:a16="http://schemas.microsoft.com/office/drawing/2014/main" val="773450500"/>
                    </a:ext>
                  </a:extLst>
                </a:gridCol>
              </a:tblGrid>
              <a:tr h="190500">
                <a:tc>
                  <a:txBody>
                    <a:bodyPr/>
                    <a:lstStyle/>
                    <a:p>
                      <a:pPr algn="l" rtl="0" fontAlgn="base">
                        <a:lnSpc>
                          <a:spcPts val="1425"/>
                        </a:lnSpc>
                        <a:buNone/>
                      </a:pPr>
                      <a:r>
                        <a:rPr lang="en-US" sz="1400" b="1" i="0">
                          <a:effectLst/>
                          <a:latin typeface="Times New Roman"/>
                        </a:rPr>
                        <a:t>Attribute name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400" b="1" i="0">
                          <a:effectLst/>
                          <a:latin typeface="Times New Roman"/>
                        </a:rPr>
                        <a:t>Description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400" b="1" i="0">
                          <a:effectLst/>
                          <a:latin typeface="Times New Roman"/>
                        </a:rPr>
                        <a:t>Datatype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57821664"/>
                  </a:ext>
                </a:extLst>
              </a:tr>
              <a:tr h="190500">
                <a:tc>
                  <a:txBody>
                    <a:bodyPr/>
                    <a:lstStyle/>
                    <a:p>
                      <a:pPr algn="l" rtl="0" fontAlgn="base">
                        <a:lnSpc>
                          <a:spcPts val="1425"/>
                        </a:lnSpc>
                        <a:buNone/>
                      </a:pPr>
                      <a:r>
                        <a:rPr lang="en-US" sz="1200" b="0" i="0">
                          <a:effectLst/>
                          <a:latin typeface="Times New Roman"/>
                        </a:rPr>
                        <a:t>REPORT_DOY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Day of the Year Offence was Reported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Numerical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29672748"/>
                  </a:ext>
                </a:extLst>
              </a:tr>
              <a:tr h="190500">
                <a:tc>
                  <a:txBody>
                    <a:bodyPr/>
                    <a:lstStyle/>
                    <a:p>
                      <a:pPr algn="l" rtl="0" fontAlgn="base">
                        <a:lnSpc>
                          <a:spcPts val="1425"/>
                        </a:lnSpc>
                        <a:buNone/>
                      </a:pPr>
                      <a:r>
                        <a:rPr lang="en-US" sz="1200" b="0" i="0">
                          <a:effectLst/>
                          <a:latin typeface="Times New Roman"/>
                        </a:rPr>
                        <a:t>REPORT_HOUR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Hour when Offence was Reported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Numerical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24460343"/>
                  </a:ext>
                </a:extLst>
              </a:tr>
              <a:tr h="190500">
                <a:tc>
                  <a:txBody>
                    <a:bodyPr/>
                    <a:lstStyle/>
                    <a:p>
                      <a:pPr algn="l" rtl="0" fontAlgn="base">
                        <a:lnSpc>
                          <a:spcPts val="1425"/>
                        </a:lnSpc>
                        <a:buNone/>
                      </a:pPr>
                      <a:r>
                        <a:rPr lang="en-US" sz="1200" b="0" i="0">
                          <a:effectLst/>
                          <a:latin typeface="Times New Roman"/>
                        </a:rPr>
                        <a:t>DIVISION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Police Division where Offence Occurred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Nominal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92019776"/>
                  </a:ext>
                </a:extLst>
              </a:tr>
              <a:tr h="190500">
                <a:tc>
                  <a:txBody>
                    <a:bodyPr/>
                    <a:lstStyle/>
                    <a:p>
                      <a:pPr algn="l" rtl="0" fontAlgn="base">
                        <a:lnSpc>
                          <a:spcPts val="1425"/>
                        </a:lnSpc>
                        <a:buNone/>
                      </a:pPr>
                      <a:r>
                        <a:rPr lang="en-US" sz="1200" b="0" i="0">
                          <a:effectLst/>
                          <a:latin typeface="Times New Roman"/>
                        </a:rPr>
                        <a:t>LOCATION_TYPE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Location Type of Offence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Nominal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1390486"/>
                  </a:ext>
                </a:extLst>
              </a:tr>
              <a:tr h="190500">
                <a:tc>
                  <a:txBody>
                    <a:bodyPr/>
                    <a:lstStyle/>
                    <a:p>
                      <a:pPr algn="l" rtl="0" fontAlgn="base">
                        <a:lnSpc>
                          <a:spcPts val="1425"/>
                        </a:lnSpc>
                        <a:buNone/>
                      </a:pPr>
                      <a:r>
                        <a:rPr lang="en-US" sz="1200" b="0" i="0">
                          <a:effectLst/>
                          <a:latin typeface="Times New Roman"/>
                        </a:rPr>
                        <a:t>PREMISES_TYPE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Premises Type of Offence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Nominal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04854263"/>
                  </a:ext>
                </a:extLst>
              </a:tr>
              <a:tr h="190500">
                <a:tc>
                  <a:txBody>
                    <a:bodyPr/>
                    <a:lstStyle/>
                    <a:p>
                      <a:pPr algn="l" rtl="0" fontAlgn="base">
                        <a:lnSpc>
                          <a:spcPts val="1425"/>
                        </a:lnSpc>
                        <a:buNone/>
                      </a:pPr>
                      <a:r>
                        <a:rPr lang="en-US" sz="1200" b="0" i="0">
                          <a:effectLst/>
                          <a:latin typeface="Times New Roman"/>
                        </a:rPr>
                        <a:t>BIKE_MAKE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Make of Bicycle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Nominal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25657286"/>
                  </a:ext>
                </a:extLst>
              </a:tr>
              <a:tr h="190500">
                <a:tc>
                  <a:txBody>
                    <a:bodyPr/>
                    <a:lstStyle/>
                    <a:p>
                      <a:pPr algn="l" rtl="0" fontAlgn="base">
                        <a:lnSpc>
                          <a:spcPts val="1425"/>
                        </a:lnSpc>
                        <a:buNone/>
                      </a:pPr>
                      <a:r>
                        <a:rPr lang="en-US" sz="1200" b="0" i="0">
                          <a:effectLst/>
                          <a:latin typeface="Times New Roman"/>
                        </a:rPr>
                        <a:t>BIKE_MODEL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Model of Bicycle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Nominal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64301578"/>
                  </a:ext>
                </a:extLst>
              </a:tr>
              <a:tr h="190500">
                <a:tc>
                  <a:txBody>
                    <a:bodyPr/>
                    <a:lstStyle/>
                    <a:p>
                      <a:pPr algn="l" rtl="0" fontAlgn="base">
                        <a:lnSpc>
                          <a:spcPts val="1425"/>
                        </a:lnSpc>
                        <a:buNone/>
                      </a:pPr>
                      <a:r>
                        <a:rPr lang="en-US" sz="1200" b="0" i="0">
                          <a:effectLst/>
                          <a:latin typeface="Times New Roman"/>
                        </a:rPr>
                        <a:t>BIKE_TYPE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Type of Bicycle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a:rPr>
                        <a:t>Nominal </a:t>
                      </a:r>
                      <a:endParaRPr lang="en-US" b="0" i="0">
                        <a:effectLst/>
                        <a:latin typeface="Times New Roman"/>
                      </a:endParaRPr>
                    </a:p>
                    <a:p>
                      <a:pPr algn="l" rtl="0" fontAlgn="base">
                        <a:lnSpc>
                          <a:spcPts val="1425"/>
                        </a:lnSpc>
                        <a:buNone/>
                      </a:pP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22936332"/>
                  </a:ext>
                </a:extLst>
              </a:tr>
            </a:tbl>
          </a:graphicData>
        </a:graphic>
      </p:graphicFrame>
    </p:spTree>
    <p:extLst>
      <p:ext uri="{BB962C8B-B14F-4D97-AF65-F5344CB8AC3E}">
        <p14:creationId xmlns:p14="http://schemas.microsoft.com/office/powerpoint/2010/main" val="2034234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EE5282-9E40-6549-ACCD-DEA5A94B721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AED19FC-C623-22E5-586C-D8A1F7FD93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B65932E0-74CE-C25F-5880-387F0BB3A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9F3B35B-A93F-1854-6E87-DF3F648393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3FA962-44F0-DE6A-D86A-6EE739A6A9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782CE85-B9CC-36A2-B98A-721E0BDE2F70}"/>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Explore Data</a:t>
            </a:r>
          </a:p>
        </p:txBody>
      </p:sp>
      <p:sp>
        <p:nvSpPr>
          <p:cNvPr id="6" name="TextBox 5">
            <a:extLst>
              <a:ext uri="{FF2B5EF4-FFF2-40B4-BE49-F238E27FC236}">
                <a16:creationId xmlns:a16="http://schemas.microsoft.com/office/drawing/2014/main" id="{5F2A0D4B-01B6-3053-DE7E-0A576BBAE2AF}"/>
              </a:ext>
            </a:extLst>
          </p:cNvPr>
          <p:cNvSpPr txBox="1"/>
          <p:nvPr/>
        </p:nvSpPr>
        <p:spPr>
          <a:xfrm>
            <a:off x="1196373" y="5775386"/>
            <a:ext cx="6761638"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Symbol"/>
              <a:buChar char="•"/>
            </a:pPr>
            <a:r>
              <a:rPr lang="en-US" sz="1400">
                <a:latin typeface="Aptos"/>
              </a:rPr>
              <a:t>Some bike types (MT, RG) are stolen more often than others.</a:t>
            </a:r>
          </a:p>
          <a:p>
            <a:pPr marL="285750" indent="-285750">
              <a:buFont typeface="Symbol"/>
              <a:buChar char="•"/>
            </a:pPr>
            <a:r>
              <a:rPr lang="en-US" sz="1400">
                <a:latin typeface="Aptos"/>
              </a:rPr>
              <a:t>Outside locations and apartments account for the highest theft counts.</a:t>
            </a:r>
            <a:endParaRPr lang="en-US" sz="1400">
              <a:latin typeface="Aptos"/>
              <a:cs typeface="Times New Roman"/>
            </a:endParaRPr>
          </a:p>
          <a:p>
            <a:pPr marL="285750" indent="-285750">
              <a:buFont typeface="Symbol"/>
              <a:buChar char="•"/>
            </a:pPr>
            <a:r>
              <a:rPr lang="en-US" sz="1400">
                <a:latin typeface="Aptos"/>
              </a:rPr>
              <a:t>Educational and transit premises have lower theft rates.</a:t>
            </a:r>
            <a:endParaRPr lang="en-US" sz="1400">
              <a:latin typeface="Aptos"/>
              <a:cs typeface="Times New Roman"/>
            </a:endParaRPr>
          </a:p>
          <a:p>
            <a:endParaRPr lang="en-US" sz="1400">
              <a:latin typeface="Aptos"/>
              <a:cs typeface="Times New Roman"/>
            </a:endParaRPr>
          </a:p>
        </p:txBody>
      </p:sp>
      <p:pic>
        <p:nvPicPr>
          <p:cNvPr id="7" name="Content Placeholder 6" descr="Picture 1309062367, Picture">
            <a:extLst>
              <a:ext uri="{FF2B5EF4-FFF2-40B4-BE49-F238E27FC236}">
                <a16:creationId xmlns:a16="http://schemas.microsoft.com/office/drawing/2014/main" id="{2BEF1D41-C856-9360-75CC-51CA9CC2E35F}"/>
              </a:ext>
            </a:extLst>
          </p:cNvPr>
          <p:cNvPicPr>
            <a:picLocks noGrp="1" noChangeAspect="1"/>
          </p:cNvPicPr>
          <p:nvPr>
            <p:ph idx="1"/>
          </p:nvPr>
        </p:nvPicPr>
        <p:blipFill>
          <a:blip r:embed="rId2"/>
          <a:stretch>
            <a:fillRect/>
          </a:stretch>
        </p:blipFill>
        <p:spPr>
          <a:xfrm>
            <a:off x="1357348" y="1827009"/>
            <a:ext cx="6632239" cy="3654538"/>
          </a:xfrm>
        </p:spPr>
      </p:pic>
    </p:spTree>
    <p:extLst>
      <p:ext uri="{BB962C8B-B14F-4D97-AF65-F5344CB8AC3E}">
        <p14:creationId xmlns:p14="http://schemas.microsoft.com/office/powerpoint/2010/main" val="2697295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4137EF-B28B-BC6C-4644-CAF9A285812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B89520DE-C469-ECF7-6266-AB6173D2D3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D0F463F9-110B-5CC4-D58C-F8E1FB4EC2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C42D932-7682-3B8C-E2A1-306AA3362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2321A9D-92E9-DCCB-78C4-B1EF7F2A4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F85B64-981B-A429-1674-54D019D2CF9F}"/>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Verify Data</a:t>
            </a:r>
          </a:p>
        </p:txBody>
      </p:sp>
      <p:graphicFrame>
        <p:nvGraphicFramePr>
          <p:cNvPr id="7" name="Table 6">
            <a:extLst>
              <a:ext uri="{FF2B5EF4-FFF2-40B4-BE49-F238E27FC236}">
                <a16:creationId xmlns:a16="http://schemas.microsoft.com/office/drawing/2014/main" id="{10E5B3E5-A069-208A-235F-686AFD3788D2}"/>
              </a:ext>
            </a:extLst>
          </p:cNvPr>
          <p:cNvGraphicFramePr>
            <a:graphicFrameLocks noGrp="1"/>
          </p:cNvGraphicFramePr>
          <p:nvPr>
            <p:extLst>
              <p:ext uri="{D42A27DB-BD31-4B8C-83A1-F6EECF244321}">
                <p14:modId xmlns:p14="http://schemas.microsoft.com/office/powerpoint/2010/main" val="170197582"/>
              </p:ext>
            </p:extLst>
          </p:nvPr>
        </p:nvGraphicFramePr>
        <p:xfrm>
          <a:off x="865456" y="1880130"/>
          <a:ext cx="7447634" cy="4620768"/>
        </p:xfrm>
        <a:graphic>
          <a:graphicData uri="http://schemas.openxmlformats.org/drawingml/2006/table">
            <a:tbl>
              <a:tblPr bandRow="1">
                <a:tableStyleId>{5C22544A-7EE6-4342-B048-85BDC9FD1C3A}</a:tableStyleId>
              </a:tblPr>
              <a:tblGrid>
                <a:gridCol w="1764224">
                  <a:extLst>
                    <a:ext uri="{9D8B030D-6E8A-4147-A177-3AD203B41FA5}">
                      <a16:colId xmlns:a16="http://schemas.microsoft.com/office/drawing/2014/main" val="962890151"/>
                    </a:ext>
                  </a:extLst>
                </a:gridCol>
                <a:gridCol w="852511">
                  <a:extLst>
                    <a:ext uri="{9D8B030D-6E8A-4147-A177-3AD203B41FA5}">
                      <a16:colId xmlns:a16="http://schemas.microsoft.com/office/drawing/2014/main" val="683117107"/>
                    </a:ext>
                  </a:extLst>
                </a:gridCol>
                <a:gridCol w="1918150">
                  <a:extLst>
                    <a:ext uri="{9D8B030D-6E8A-4147-A177-3AD203B41FA5}">
                      <a16:colId xmlns:a16="http://schemas.microsoft.com/office/drawing/2014/main" val="2808339391"/>
                    </a:ext>
                  </a:extLst>
                </a:gridCol>
                <a:gridCol w="2912749">
                  <a:extLst>
                    <a:ext uri="{9D8B030D-6E8A-4147-A177-3AD203B41FA5}">
                      <a16:colId xmlns:a16="http://schemas.microsoft.com/office/drawing/2014/main" val="3389342482"/>
                    </a:ext>
                  </a:extLst>
                </a:gridCol>
              </a:tblGrid>
              <a:tr h="537822">
                <a:tc>
                  <a:txBody>
                    <a:bodyPr/>
                    <a:lstStyle/>
                    <a:p>
                      <a:pPr rtl="0" fontAlgn="base">
                        <a:lnSpc>
                          <a:spcPts val="1425"/>
                        </a:lnSpc>
                        <a:buNone/>
                      </a:pPr>
                      <a:r>
                        <a:rPr lang="en-US" sz="1400" b="1">
                          <a:effectLst/>
                          <a:latin typeface="Times New Roman"/>
                        </a:rPr>
                        <a:t>Attribute name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b="1">
                          <a:effectLst/>
                          <a:latin typeface="Times New Roman"/>
                        </a:rPr>
                        <a:t>Number of Missing Values </a:t>
                      </a:r>
                      <a:endParaRPr lang="en-US" b="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b="1">
                          <a:effectLst/>
                          <a:latin typeface="Times New Roman"/>
                        </a:rPr>
                        <a:t>Data Quality Issue</a:t>
                      </a:r>
                      <a:r>
                        <a:rPr lang="en-US" sz="1200">
                          <a:effectLst/>
                          <a:latin typeface="Times New Roman"/>
                        </a:rPr>
                        <a:t>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400" b="1">
                          <a:effectLst/>
                          <a:latin typeface="Times New Roman"/>
                        </a:rPr>
                        <a:t>Data Preparation </a:t>
                      </a: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32961464"/>
                  </a:ext>
                </a:extLst>
              </a:tr>
              <a:tr h="246231">
                <a:tc>
                  <a:txBody>
                    <a:bodyPr/>
                    <a:lstStyle/>
                    <a:p>
                      <a:pPr rtl="0" fontAlgn="base">
                        <a:lnSpc>
                          <a:spcPts val="1425"/>
                        </a:lnSpc>
                        <a:buNone/>
                      </a:pPr>
                      <a:r>
                        <a:rPr lang="en-US" sz="1200">
                          <a:effectLst/>
                          <a:latin typeface="Times New Roman"/>
                        </a:rPr>
                        <a:t>REPORT_DOY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0 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No issues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endParaRPr lang="en-US" sz="120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60983819"/>
                  </a:ext>
                </a:extLst>
              </a:tr>
              <a:tr h="246231">
                <a:tc>
                  <a:txBody>
                    <a:bodyPr/>
                    <a:lstStyle/>
                    <a:p>
                      <a:pPr rtl="0" fontAlgn="base">
                        <a:lnSpc>
                          <a:spcPts val="1425"/>
                        </a:lnSpc>
                        <a:buNone/>
                      </a:pPr>
                      <a:r>
                        <a:rPr lang="en-US" sz="1200">
                          <a:effectLst/>
                          <a:latin typeface="Times New Roman"/>
                        </a:rPr>
                        <a:t>REPORT_HOUR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0 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No issues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endParaRPr lang="en-US" sz="1200">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31908587"/>
                  </a:ext>
                </a:extLst>
              </a:tr>
              <a:tr h="246231">
                <a:tc>
                  <a:txBody>
                    <a:bodyPr/>
                    <a:lstStyle/>
                    <a:p>
                      <a:pPr rtl="0" fontAlgn="base">
                        <a:lnSpc>
                          <a:spcPts val="1425"/>
                        </a:lnSpc>
                        <a:buNone/>
                      </a:pPr>
                      <a:r>
                        <a:rPr lang="en-US" sz="1200">
                          <a:effectLst/>
                          <a:latin typeface="Times New Roman"/>
                        </a:rPr>
                        <a:t>DIVISION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0 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No issues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endParaRPr lang="en-US" sz="120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85543274"/>
                  </a:ext>
                </a:extLst>
              </a:tr>
              <a:tr h="246231">
                <a:tc>
                  <a:txBody>
                    <a:bodyPr/>
                    <a:lstStyle/>
                    <a:p>
                      <a:pPr rtl="0" fontAlgn="base">
                        <a:lnSpc>
                          <a:spcPts val="1425"/>
                        </a:lnSpc>
                        <a:buNone/>
                      </a:pPr>
                      <a:r>
                        <a:rPr lang="en-US" sz="1200">
                          <a:effectLst/>
                          <a:latin typeface="Times New Roman"/>
                        </a:rPr>
                        <a:t>LOCATION_TYPE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0 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No issues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endParaRPr lang="en-US" sz="1200">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20622886"/>
                  </a:ext>
                </a:extLst>
              </a:tr>
              <a:tr h="246231">
                <a:tc>
                  <a:txBody>
                    <a:bodyPr/>
                    <a:lstStyle/>
                    <a:p>
                      <a:pPr rtl="0" fontAlgn="base">
                        <a:lnSpc>
                          <a:spcPts val="1425"/>
                        </a:lnSpc>
                        <a:buNone/>
                      </a:pPr>
                      <a:r>
                        <a:rPr lang="en-US" sz="1200">
                          <a:effectLst/>
                          <a:latin typeface="Times New Roman"/>
                        </a:rPr>
                        <a:t>PREMISES_TYPE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0 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No issues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endParaRPr lang="en-US" sz="1200">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1101456"/>
                  </a:ext>
                </a:extLst>
              </a:tr>
              <a:tr h="246231">
                <a:tc>
                  <a:txBody>
                    <a:bodyPr/>
                    <a:lstStyle/>
                    <a:p>
                      <a:pPr rtl="0" fontAlgn="base">
                        <a:lnSpc>
                          <a:spcPts val="1425"/>
                        </a:lnSpc>
                        <a:buNone/>
                      </a:pPr>
                      <a:r>
                        <a:rPr lang="en-US" sz="1200">
                          <a:effectLst/>
                          <a:latin typeface="Times New Roman"/>
                        </a:rPr>
                        <a:t>BIKE_MAKE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0 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Replaced by “UNKNOWN”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93153414"/>
                  </a:ext>
                </a:extLst>
              </a:tr>
              <a:tr h="537822">
                <a:tc>
                  <a:txBody>
                    <a:bodyPr/>
                    <a:lstStyle/>
                    <a:p>
                      <a:pPr rtl="0" fontAlgn="base">
                        <a:lnSpc>
                          <a:spcPts val="1425"/>
                        </a:lnSpc>
                        <a:buNone/>
                      </a:pPr>
                      <a:r>
                        <a:rPr lang="en-US" sz="1200">
                          <a:effectLst/>
                          <a:latin typeface="Times New Roman"/>
                        </a:rPr>
                        <a:t>BIKE_MODEL </a:t>
                      </a:r>
                      <a:endParaRPr lang="en-US">
                        <a:effectLst/>
                        <a:latin typeface="Times New Roman"/>
                      </a:endParaRPr>
                    </a:p>
                    <a:p>
                      <a:pPr rtl="0" fontAlgn="base">
                        <a:lnSpc>
                          <a:spcPts val="1425"/>
                        </a:lnSpc>
                        <a:buNone/>
                      </a:pP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3 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p>
                      <a:pPr rtl="0" fontAlgn="base">
                        <a:lnSpc>
                          <a:spcPts val="1425"/>
                        </a:lnSpc>
                        <a:buNone/>
                      </a:pPr>
                      <a:r>
                        <a:rPr lang="en-US" sz="1200">
                          <a:effectLst/>
                          <a:latin typeface="Times New Roman"/>
                        </a:rPr>
                        <a:t>“None” inconsistent representation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Replaced by “UNKNOWN” </a:t>
                      </a:r>
                      <a:endParaRPr lang="en-US">
                        <a:effectLst/>
                      </a:endParaRPr>
                    </a:p>
                    <a:p>
                      <a:pPr rtl="0" fontAlgn="base">
                        <a:lnSpc>
                          <a:spcPts val="1425"/>
                        </a:lnSpc>
                        <a:buNone/>
                      </a:pPr>
                      <a:r>
                        <a:rPr lang="en-US" sz="1200">
                          <a:effectLst/>
                          <a:latin typeface="Times New Roman"/>
                        </a:rPr>
                        <a:t>Replaced by “NONE” </a:t>
                      </a:r>
                      <a:endParaRPr lang="en-US">
                        <a:effectLst/>
                        <a:latin typeface="Times New Roman"/>
                      </a:endParaRPr>
                    </a:p>
                    <a:p>
                      <a:pPr rtl="0" fontAlgn="base">
                        <a:lnSpc>
                          <a:spcPts val="1425"/>
                        </a:lnSpc>
                        <a:buNone/>
                      </a:pPr>
                      <a:endParaRPr lang="en-US">
                        <a:effectLst/>
                        <a:latin typeface="Times New Roman"/>
                      </a:endParaRPr>
                    </a:p>
                    <a:p>
                      <a:pPr rtl="0" fontAlgn="base">
                        <a:lnSpc>
                          <a:spcPts val="1425"/>
                        </a:lnSpc>
                        <a:buNone/>
                      </a:pPr>
                      <a:r>
                        <a:rPr lang="en-US" sz="1200">
                          <a:effectLst/>
                          <a:latin typeface="Times New Roman"/>
                        </a:rPr>
                        <a:t>Missing data replaced by “UNKNOWN”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67840582"/>
                  </a:ext>
                </a:extLst>
              </a:tr>
              <a:tr h="343428">
                <a:tc>
                  <a:txBody>
                    <a:bodyPr/>
                    <a:lstStyle/>
                    <a:p>
                      <a:pPr rtl="0" fontAlgn="base">
                        <a:lnSpc>
                          <a:spcPts val="1425"/>
                        </a:lnSpc>
                        <a:buNone/>
                      </a:pPr>
                      <a:r>
                        <a:rPr lang="en-US" sz="1200">
                          <a:effectLst/>
                          <a:latin typeface="Times New Roman"/>
                        </a:rPr>
                        <a:t>BIKE_TYPE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4 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No issues </a:t>
                      </a: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Missing data replaced by “UNKNOWN”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51948666"/>
                  </a:ext>
                </a:extLst>
              </a:tr>
            </a:tbl>
          </a:graphicData>
        </a:graphic>
      </p:graphicFrame>
    </p:spTree>
    <p:extLst>
      <p:ext uri="{BB962C8B-B14F-4D97-AF65-F5344CB8AC3E}">
        <p14:creationId xmlns:p14="http://schemas.microsoft.com/office/powerpoint/2010/main" val="2833454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D5B442-E7FE-16AE-CF11-97281B6B954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16242FFC-E48F-FF3A-D460-2746B807C5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93894B8E-828A-4331-31B4-4D621A5547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0A7C078-A924-564C-E347-2B1867CCD0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C10B453-1D7B-70AA-E8F2-AC15A586B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FCDEC9B-7D55-D743-4892-9DE65083A88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Describe Data Cont.</a:t>
            </a:r>
          </a:p>
        </p:txBody>
      </p:sp>
      <p:graphicFrame>
        <p:nvGraphicFramePr>
          <p:cNvPr id="6" name="Content Placeholder 5">
            <a:extLst>
              <a:ext uri="{FF2B5EF4-FFF2-40B4-BE49-F238E27FC236}">
                <a16:creationId xmlns:a16="http://schemas.microsoft.com/office/drawing/2014/main" id="{B7219A99-0226-BD40-1CBC-6C3DF63B21C0}"/>
              </a:ext>
            </a:extLst>
          </p:cNvPr>
          <p:cNvGraphicFramePr>
            <a:graphicFrameLocks noGrp="1"/>
          </p:cNvGraphicFramePr>
          <p:nvPr>
            <p:ph idx="1"/>
            <p:extLst>
              <p:ext uri="{D42A27DB-BD31-4B8C-83A1-F6EECF244321}">
                <p14:modId xmlns:p14="http://schemas.microsoft.com/office/powerpoint/2010/main" val="1003601612"/>
              </p:ext>
            </p:extLst>
          </p:nvPr>
        </p:nvGraphicFramePr>
        <p:xfrm>
          <a:off x="457200" y="2341855"/>
          <a:ext cx="8229598" cy="3220720"/>
        </p:xfrm>
        <a:graphic>
          <a:graphicData uri="http://schemas.openxmlformats.org/drawingml/2006/table">
            <a:tbl>
              <a:tblPr bandRow="1">
                <a:tableStyleId>{5C22544A-7EE6-4342-B048-85BDC9FD1C3A}</a:tableStyleId>
              </a:tblPr>
              <a:tblGrid>
                <a:gridCol w="1982407">
                  <a:extLst>
                    <a:ext uri="{9D8B030D-6E8A-4147-A177-3AD203B41FA5}">
                      <a16:colId xmlns:a16="http://schemas.microsoft.com/office/drawing/2014/main" val="2463557774"/>
                    </a:ext>
                  </a:extLst>
                </a:gridCol>
                <a:gridCol w="3756140">
                  <a:extLst>
                    <a:ext uri="{9D8B030D-6E8A-4147-A177-3AD203B41FA5}">
                      <a16:colId xmlns:a16="http://schemas.microsoft.com/office/drawing/2014/main" val="2741869631"/>
                    </a:ext>
                  </a:extLst>
                </a:gridCol>
                <a:gridCol w="2491051">
                  <a:extLst>
                    <a:ext uri="{9D8B030D-6E8A-4147-A177-3AD203B41FA5}">
                      <a16:colId xmlns:a16="http://schemas.microsoft.com/office/drawing/2014/main" val="3757183155"/>
                    </a:ext>
                  </a:extLst>
                </a:gridCol>
              </a:tblGrid>
              <a:tr h="190500">
                <a:tc>
                  <a:txBody>
                    <a:bodyPr/>
                    <a:lstStyle/>
                    <a:p>
                      <a:pPr algn="l" rtl="0" fontAlgn="base">
                        <a:lnSpc>
                          <a:spcPts val="1425"/>
                        </a:lnSpc>
                        <a:buNone/>
                      </a:pPr>
                      <a:r>
                        <a:rPr lang="en-US" sz="1200" b="0" i="0">
                          <a:effectLst/>
                          <a:latin typeface="Times New Roman" panose="02020603050405020304" pitchFamily="18" charset="0"/>
                        </a:rPr>
                        <a:t>Attribute Name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Description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Datatype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4615766"/>
                  </a:ext>
                </a:extLst>
              </a:tr>
              <a:tr h="190500">
                <a:tc>
                  <a:txBody>
                    <a:bodyPr/>
                    <a:lstStyle/>
                    <a:p>
                      <a:pPr algn="l" rtl="0" fontAlgn="base">
                        <a:lnSpc>
                          <a:spcPts val="1425"/>
                        </a:lnSpc>
                        <a:buNone/>
                      </a:pPr>
                      <a:r>
                        <a:rPr lang="en-US" sz="1200" b="0" i="0">
                          <a:effectLst/>
                          <a:latin typeface="Times New Roman" panose="02020603050405020304" pitchFamily="18" charset="0"/>
                        </a:rPr>
                        <a:t>BIKE_SPEED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Speed of Bicycle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Numerical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1095221"/>
                  </a:ext>
                </a:extLst>
              </a:tr>
              <a:tr h="190500">
                <a:tc>
                  <a:txBody>
                    <a:bodyPr/>
                    <a:lstStyle/>
                    <a:p>
                      <a:pPr algn="l" rtl="0" fontAlgn="base">
                        <a:lnSpc>
                          <a:spcPts val="1425"/>
                        </a:lnSpc>
                        <a:buNone/>
                      </a:pPr>
                      <a:r>
                        <a:rPr lang="en-US" sz="1200" b="0" i="0">
                          <a:effectLst/>
                          <a:latin typeface="Times New Roman" panose="02020603050405020304" pitchFamily="18" charset="0"/>
                        </a:rPr>
                        <a:t>BIKE_COLOUR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Colour of bicycle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Nominal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1676493"/>
                  </a:ext>
                </a:extLst>
              </a:tr>
              <a:tr h="190500">
                <a:tc>
                  <a:txBody>
                    <a:bodyPr/>
                    <a:lstStyle/>
                    <a:p>
                      <a:pPr algn="l" rtl="0" fontAlgn="base">
                        <a:lnSpc>
                          <a:spcPts val="1425"/>
                        </a:lnSpc>
                        <a:buNone/>
                      </a:pPr>
                      <a:r>
                        <a:rPr lang="en-US" sz="1200" b="0" i="0">
                          <a:effectLst/>
                          <a:latin typeface="Times New Roman" panose="02020603050405020304" pitchFamily="18" charset="0"/>
                        </a:rPr>
                        <a:t>BIKE_COST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Cost of bicycle (assumed in CAD)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Numerical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9824562"/>
                  </a:ext>
                </a:extLst>
              </a:tr>
              <a:tr h="190500">
                <a:tc>
                  <a:txBody>
                    <a:bodyPr/>
                    <a:lstStyle/>
                    <a:p>
                      <a:pPr algn="l" rtl="0" fontAlgn="base">
                        <a:lnSpc>
                          <a:spcPts val="1425"/>
                        </a:lnSpc>
                        <a:buNone/>
                      </a:pPr>
                      <a:r>
                        <a:rPr lang="en-US" sz="1200" b="0" i="0">
                          <a:effectLst/>
                          <a:latin typeface="Times New Roman" panose="02020603050405020304" pitchFamily="18" charset="0"/>
                        </a:rPr>
                        <a:t>STATUS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Status of bicycle (Stolen, Recovered, Unknown)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Nominal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505647"/>
                  </a:ext>
                </a:extLst>
              </a:tr>
              <a:tr h="190500">
                <a:tc>
                  <a:txBody>
                    <a:bodyPr/>
                    <a:lstStyle/>
                    <a:p>
                      <a:pPr algn="l" rtl="0" fontAlgn="base">
                        <a:lnSpc>
                          <a:spcPts val="1425"/>
                        </a:lnSpc>
                        <a:buNone/>
                      </a:pPr>
                      <a:r>
                        <a:rPr lang="en-US" sz="1200" b="0" i="0">
                          <a:effectLst/>
                          <a:latin typeface="Times New Roman" panose="02020603050405020304" pitchFamily="18" charset="0"/>
                        </a:rPr>
                        <a:t>LONG_WGS84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Longitude coordinate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Numerical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619014"/>
                  </a:ext>
                </a:extLst>
              </a:tr>
              <a:tr h="190500">
                <a:tc>
                  <a:txBody>
                    <a:bodyPr/>
                    <a:lstStyle/>
                    <a:p>
                      <a:pPr algn="l" rtl="0" fontAlgn="base">
                        <a:lnSpc>
                          <a:spcPts val="1425"/>
                        </a:lnSpc>
                        <a:buNone/>
                      </a:pPr>
                      <a:r>
                        <a:rPr lang="en-US" sz="1200" b="0" i="0">
                          <a:effectLst/>
                          <a:latin typeface="Times New Roman" panose="02020603050405020304" pitchFamily="18" charset="0"/>
                        </a:rPr>
                        <a:t>LAT_WGS84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Latitude coordinate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Numerical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7954392"/>
                  </a:ext>
                </a:extLst>
              </a:tr>
              <a:tr h="190500">
                <a:tc>
                  <a:txBody>
                    <a:bodyPr/>
                    <a:lstStyle/>
                    <a:p>
                      <a:pPr algn="l" rtl="0" fontAlgn="base">
                        <a:lnSpc>
                          <a:spcPts val="1425"/>
                        </a:lnSpc>
                        <a:buNone/>
                      </a:pPr>
                      <a:r>
                        <a:rPr lang="en-US" sz="1200" b="0" i="0">
                          <a:effectLst/>
                          <a:latin typeface="Times New Roman" panose="02020603050405020304" pitchFamily="18" charset="0"/>
                        </a:rPr>
                        <a:t>geometry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Unknown JSON object </a:t>
                      </a:r>
                      <a:endParaRPr lang="en-US" b="0" i="0">
                        <a:effectLst/>
                      </a:endParaRPr>
                    </a:p>
                    <a:p>
                      <a:pPr algn="l" rtl="0" fontAlgn="base">
                        <a:lnSpc>
                          <a:spcPts val="1425"/>
                        </a:lnSpc>
                        <a:buNone/>
                      </a:pPr>
                      <a:r>
                        <a:rPr lang="en-US" sz="1200" b="0" i="0">
                          <a:effectLst/>
                          <a:latin typeface="Times New Roman" panose="02020603050405020304" pitchFamily="18"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Times New Roman" panose="02020603050405020304" pitchFamily="18" charset="0"/>
                        </a:rPr>
                        <a:t>Nominal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803464"/>
                  </a:ext>
                </a:extLst>
              </a:tr>
            </a:tbl>
          </a:graphicData>
        </a:graphic>
      </p:graphicFrame>
    </p:spTree>
    <p:extLst>
      <p:ext uri="{BB962C8B-B14F-4D97-AF65-F5344CB8AC3E}">
        <p14:creationId xmlns:p14="http://schemas.microsoft.com/office/powerpoint/2010/main" val="1774761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CA8A45-8317-1883-C2A7-ADA18DC5A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BB2AB-0319-10E6-AB37-7C59DBAF0BAF}"/>
              </a:ext>
            </a:extLst>
          </p:cNvPr>
          <p:cNvSpPr>
            <a:spLocks noGrp="1"/>
          </p:cNvSpPr>
          <p:nvPr>
            <p:ph type="title"/>
          </p:nvPr>
        </p:nvSpPr>
        <p:spPr>
          <a:xfrm>
            <a:off x="657520" y="741391"/>
            <a:ext cx="3175795" cy="1616203"/>
          </a:xfrm>
        </p:spPr>
        <p:txBody>
          <a:bodyPr anchor="b">
            <a:normAutofit/>
          </a:bodyPr>
          <a:lstStyle/>
          <a:p>
            <a:r>
              <a:rPr lang="en-CA" sz="2800"/>
              <a:t>Visually Explore Data </a:t>
            </a:r>
          </a:p>
        </p:txBody>
      </p:sp>
      <p:sp>
        <p:nvSpPr>
          <p:cNvPr id="3" name="Content Placeholder 2">
            <a:extLst>
              <a:ext uri="{FF2B5EF4-FFF2-40B4-BE49-F238E27FC236}">
                <a16:creationId xmlns:a16="http://schemas.microsoft.com/office/drawing/2014/main" id="{54398C25-F8E9-B5CF-F9DC-570788AB8521}"/>
              </a:ext>
            </a:extLst>
          </p:cNvPr>
          <p:cNvSpPr>
            <a:spLocks noGrp="1"/>
          </p:cNvSpPr>
          <p:nvPr>
            <p:ph idx="1"/>
          </p:nvPr>
        </p:nvSpPr>
        <p:spPr>
          <a:xfrm>
            <a:off x="657519" y="2533476"/>
            <a:ext cx="3175796" cy="3447832"/>
          </a:xfrm>
        </p:spPr>
        <p:txBody>
          <a:bodyPr anchor="t">
            <a:normAutofit/>
          </a:bodyPr>
          <a:lstStyle/>
          <a:p>
            <a:r>
              <a:rPr lang="en-US" sz="1700"/>
              <a:t>Mountain bikes (MT) and Road/Gravel (RG) bikes are by far the most stolen bikes</a:t>
            </a:r>
          </a:p>
          <a:p>
            <a:r>
              <a:rPr lang="en-US" sz="1700"/>
              <a:t>Combined total value of Mountain/Road bikes is $15,608,386</a:t>
            </a:r>
          </a:p>
          <a:p>
            <a:r>
              <a:rPr lang="en-US" sz="1700"/>
              <a:t>Accounts for nearly half of the value of all bike thefts </a:t>
            </a:r>
            <a:endParaRPr lang="en-CA" sz="1700"/>
          </a:p>
        </p:txBody>
      </p:sp>
      <p:pic>
        <p:nvPicPr>
          <p:cNvPr id="7" name="Picture 6">
            <a:extLst>
              <a:ext uri="{FF2B5EF4-FFF2-40B4-BE49-F238E27FC236}">
                <a16:creationId xmlns:a16="http://schemas.microsoft.com/office/drawing/2014/main" id="{64A5D441-8BBB-C1DD-AC13-371CA710F0FE}"/>
              </a:ext>
            </a:extLst>
          </p:cNvPr>
          <p:cNvPicPr>
            <a:picLocks noChangeAspect="1"/>
          </p:cNvPicPr>
          <p:nvPr/>
        </p:nvPicPr>
        <p:blipFill>
          <a:blip r:embed="rId2"/>
          <a:srcRect r="27995" b="-3"/>
          <a:stretch/>
        </p:blipFill>
        <p:spPr>
          <a:xfrm>
            <a:off x="4391167" y="877414"/>
            <a:ext cx="4090159" cy="4984683"/>
          </a:xfrm>
          <a:prstGeom prst="rect">
            <a:avLst/>
          </a:prstGeom>
        </p:spPr>
      </p:pic>
      <p:grpSp>
        <p:nvGrpSpPr>
          <p:cNvPr id="31" name="Group 30">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32" name="Rectangle 31">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73858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D7FD3C-899B-7EFC-C84D-F4A05FB9F4E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150BFD7-DDBC-5963-B877-28081709CF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9" name="Rectangle 8">
              <a:extLst>
                <a:ext uri="{FF2B5EF4-FFF2-40B4-BE49-F238E27FC236}">
                  <a16:creationId xmlns:a16="http://schemas.microsoft.com/office/drawing/2014/main" id="{C70C53B1-22EB-B86A-A627-DFEDD360A0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8C364C-4FE5-AF96-6E09-171EC0295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757D694-AEFE-80FA-688E-78F84E589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1557723-9270-D870-DA0B-D171CB214F10}"/>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Verify Data</a:t>
            </a:r>
          </a:p>
        </p:txBody>
      </p:sp>
      <p:graphicFrame>
        <p:nvGraphicFramePr>
          <p:cNvPr id="4" name="Table 3">
            <a:extLst>
              <a:ext uri="{FF2B5EF4-FFF2-40B4-BE49-F238E27FC236}">
                <a16:creationId xmlns:a16="http://schemas.microsoft.com/office/drawing/2014/main" id="{3396563B-C81D-6546-8BBB-C9A642EDCB1C}"/>
              </a:ext>
            </a:extLst>
          </p:cNvPr>
          <p:cNvGraphicFramePr>
            <a:graphicFrameLocks noGrp="1"/>
          </p:cNvGraphicFramePr>
          <p:nvPr>
            <p:extLst>
              <p:ext uri="{D42A27DB-BD31-4B8C-83A1-F6EECF244321}">
                <p14:modId xmlns:p14="http://schemas.microsoft.com/office/powerpoint/2010/main" val="3777806423"/>
              </p:ext>
            </p:extLst>
          </p:nvPr>
        </p:nvGraphicFramePr>
        <p:xfrm>
          <a:off x="1271326" y="2118876"/>
          <a:ext cx="6793575" cy="3879592"/>
        </p:xfrm>
        <a:graphic>
          <a:graphicData uri="http://schemas.openxmlformats.org/drawingml/2006/table">
            <a:tbl>
              <a:tblPr bandRow="1">
                <a:tableStyleId>{5C22544A-7EE6-4342-B048-85BDC9FD1C3A}</a:tableStyleId>
              </a:tblPr>
              <a:tblGrid>
                <a:gridCol w="1701120">
                  <a:extLst>
                    <a:ext uri="{9D8B030D-6E8A-4147-A177-3AD203B41FA5}">
                      <a16:colId xmlns:a16="http://schemas.microsoft.com/office/drawing/2014/main" val="598091728"/>
                    </a:ext>
                  </a:extLst>
                </a:gridCol>
                <a:gridCol w="741514">
                  <a:extLst>
                    <a:ext uri="{9D8B030D-6E8A-4147-A177-3AD203B41FA5}">
                      <a16:colId xmlns:a16="http://schemas.microsoft.com/office/drawing/2014/main" val="2657967134"/>
                    </a:ext>
                  </a:extLst>
                </a:gridCol>
                <a:gridCol w="1144984">
                  <a:extLst>
                    <a:ext uri="{9D8B030D-6E8A-4147-A177-3AD203B41FA5}">
                      <a16:colId xmlns:a16="http://schemas.microsoft.com/office/drawing/2014/main" val="2577082680"/>
                    </a:ext>
                  </a:extLst>
                </a:gridCol>
                <a:gridCol w="3205957">
                  <a:extLst>
                    <a:ext uri="{9D8B030D-6E8A-4147-A177-3AD203B41FA5}">
                      <a16:colId xmlns:a16="http://schemas.microsoft.com/office/drawing/2014/main" val="1985869236"/>
                    </a:ext>
                  </a:extLst>
                </a:gridCol>
              </a:tblGrid>
              <a:tr h="484949">
                <a:tc>
                  <a:txBody>
                    <a:bodyPr/>
                    <a:lstStyle/>
                    <a:p>
                      <a:pPr rtl="0" fontAlgn="base">
                        <a:lnSpc>
                          <a:spcPts val="1425"/>
                        </a:lnSpc>
                        <a:buNone/>
                      </a:pPr>
                      <a:r>
                        <a:rPr lang="en-US" sz="1200">
                          <a:effectLst/>
                          <a:latin typeface="Times New Roman"/>
                        </a:rPr>
                        <a:t>Attribute Name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Missing Values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Data Quality Issue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Data Preparation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6105696"/>
                  </a:ext>
                </a:extLst>
              </a:tr>
              <a:tr h="484949">
                <a:tc>
                  <a:txBody>
                    <a:bodyPr/>
                    <a:lstStyle/>
                    <a:p>
                      <a:pPr rtl="0" fontAlgn="base">
                        <a:lnSpc>
                          <a:spcPts val="1425"/>
                        </a:lnSpc>
                        <a:buNone/>
                      </a:pPr>
                      <a:r>
                        <a:rPr lang="en-US" sz="1200">
                          <a:effectLst/>
                          <a:latin typeface="Times New Roman"/>
                        </a:rPr>
                        <a:t>BIKE_SPEED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1296 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Replaced with “UKNOWN”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2859963"/>
                  </a:ext>
                </a:extLst>
              </a:tr>
              <a:tr h="484949">
                <a:tc>
                  <a:txBody>
                    <a:bodyPr/>
                    <a:lstStyle/>
                    <a:p>
                      <a:pPr rtl="0" fontAlgn="base">
                        <a:lnSpc>
                          <a:spcPts val="1425"/>
                        </a:lnSpc>
                        <a:buNone/>
                      </a:pPr>
                      <a:r>
                        <a:rPr lang="en-US" sz="1200">
                          <a:effectLst/>
                          <a:latin typeface="Times New Roman"/>
                        </a:rPr>
                        <a:t>BIKE_COLOUR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15 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p>
                      <a:pPr rtl="0" fontAlgn="base">
                        <a:lnSpc>
                          <a:spcPts val="1425"/>
                        </a:lnSpc>
                        <a:buNone/>
                      </a:pPr>
                      <a:r>
                        <a:rPr lang="en-US" sz="1200">
                          <a:effectLst/>
                          <a:latin typeface="Times New Roman"/>
                        </a:rPr>
                        <a:t>“NONE”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panose="02020603050405020304" pitchFamily="18" charset="0"/>
                        </a:rPr>
                        <a:t>Replaced with “UNKNOWN” because there is already “UNKNOWN” value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8731740"/>
                  </a:ext>
                </a:extLst>
              </a:tr>
              <a:tr h="484949">
                <a:tc>
                  <a:txBody>
                    <a:bodyPr/>
                    <a:lstStyle/>
                    <a:p>
                      <a:pPr rtl="0" fontAlgn="base">
                        <a:lnSpc>
                          <a:spcPts val="1425"/>
                        </a:lnSpc>
                        <a:buNone/>
                      </a:pPr>
                      <a:r>
                        <a:rPr lang="en-US" sz="1200">
                          <a:effectLst/>
                          <a:latin typeface="Times New Roman"/>
                        </a:rPr>
                        <a:t>BIKE_COST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4365 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Replaced with Average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5175495"/>
                  </a:ext>
                </a:extLst>
              </a:tr>
              <a:tr h="484949">
                <a:tc>
                  <a:txBody>
                    <a:bodyPr/>
                    <a:lstStyle/>
                    <a:p>
                      <a:pPr rtl="0" fontAlgn="base">
                        <a:lnSpc>
                          <a:spcPts val="1425"/>
                        </a:lnSpc>
                        <a:buNone/>
                      </a:pPr>
                      <a:r>
                        <a:rPr lang="en-US" sz="1200">
                          <a:effectLst/>
                          <a:latin typeface="Times New Roman"/>
                        </a:rPr>
                        <a:t>STATUS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15 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Replaced with “UNKNOWN”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125684"/>
                  </a:ext>
                </a:extLst>
              </a:tr>
              <a:tr h="484949">
                <a:tc>
                  <a:txBody>
                    <a:bodyPr/>
                    <a:lstStyle/>
                    <a:p>
                      <a:pPr rtl="0" fontAlgn="base">
                        <a:lnSpc>
                          <a:spcPts val="1425"/>
                        </a:lnSpc>
                        <a:buNone/>
                      </a:pPr>
                      <a:r>
                        <a:rPr lang="en-US" sz="1200">
                          <a:effectLst/>
                          <a:latin typeface="Times New Roman"/>
                        </a:rPr>
                        <a:t>LONG_WGS84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348 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Replaced with Average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7241154"/>
                  </a:ext>
                </a:extLst>
              </a:tr>
              <a:tr h="484949">
                <a:tc>
                  <a:txBody>
                    <a:bodyPr/>
                    <a:lstStyle/>
                    <a:p>
                      <a:pPr rtl="0" fontAlgn="base">
                        <a:lnSpc>
                          <a:spcPts val="1425"/>
                        </a:lnSpc>
                        <a:buNone/>
                      </a:pPr>
                      <a:r>
                        <a:rPr lang="en-US" sz="1200">
                          <a:effectLst/>
                          <a:latin typeface="Times New Roman"/>
                        </a:rPr>
                        <a:t>LAT_WGS84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348 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Replaced with Average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4595297"/>
                  </a:ext>
                </a:extLst>
              </a:tr>
              <a:tr h="484949">
                <a:tc>
                  <a:txBody>
                    <a:bodyPr/>
                    <a:lstStyle/>
                    <a:p>
                      <a:pPr rtl="0" fontAlgn="base">
                        <a:lnSpc>
                          <a:spcPts val="1425"/>
                        </a:lnSpc>
                        <a:buNone/>
                      </a:pPr>
                      <a:r>
                        <a:rPr lang="en-US" sz="1200">
                          <a:effectLst/>
                          <a:latin typeface="Times New Roman"/>
                        </a:rPr>
                        <a:t>Geometry </a:t>
                      </a:r>
                      <a:endParaRPr lang="en-US">
                        <a:effectLst/>
                        <a:latin typeface="Times New Roman"/>
                      </a:endParaRPr>
                    </a:p>
                    <a:p>
                      <a:pPr rtl="0" fontAlgn="base">
                        <a:lnSpc>
                          <a:spcPts val="1425"/>
                        </a:lnSpc>
                        <a:buNone/>
                      </a:pP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15 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Unusable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buNone/>
                      </a:pPr>
                      <a:r>
                        <a:rPr lang="en-US" sz="1200">
                          <a:effectLst/>
                          <a:latin typeface="Times New Roman"/>
                        </a:rPr>
                        <a:t>Removed geometry Attribute </a:t>
                      </a:r>
                      <a:endParaRPr lang="en-US">
                        <a:effectLst/>
                        <a:latin typeface="Times New Roman"/>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9837858"/>
                  </a:ext>
                </a:extLst>
              </a:tr>
            </a:tbl>
          </a:graphicData>
        </a:graphic>
      </p:graphicFrame>
    </p:spTree>
    <p:extLst>
      <p:ext uri="{BB962C8B-B14F-4D97-AF65-F5344CB8AC3E}">
        <p14:creationId xmlns:p14="http://schemas.microsoft.com/office/powerpoint/2010/main" val="2375604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21FDCCC3-920F-43F6-DD97-D9B9945202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9144000" cy="6894986"/>
            <a:chOff x="0" y="-7622"/>
            <a:chExt cx="12192000" cy="6894986"/>
          </a:xfrm>
        </p:grpSpPr>
        <p:sp>
          <p:nvSpPr>
            <p:cNvPr id="15" name="Rectangle 14">
              <a:extLst>
                <a:ext uri="{FF2B5EF4-FFF2-40B4-BE49-F238E27FC236}">
                  <a16:creationId xmlns:a16="http://schemas.microsoft.com/office/drawing/2014/main" id="{59990802-8CAD-3410-772E-766C38FBF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9CF0F51-7220-9933-BAEE-8EDE4FE1F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1669C9-C34A-0613-D0DF-E0B0A749F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055A15-F7E5-A04E-DAAA-5E9830907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E55F5071-70B3-292A-994F-E9DBCBE7C954}"/>
              </a:ext>
            </a:extLst>
          </p:cNvPr>
          <p:cNvSpPr>
            <a:spLocks noGrp="1"/>
          </p:cNvSpPr>
          <p:nvPr>
            <p:ph type="title"/>
          </p:nvPr>
        </p:nvSpPr>
        <p:spPr>
          <a:xfrm>
            <a:off x="2205105" y="1536180"/>
            <a:ext cx="4763676" cy="2085740"/>
          </a:xfrm>
        </p:spPr>
        <p:txBody>
          <a:bodyPr vert="horz" lIns="91440" tIns="45720" rIns="91440" bIns="45720" rtlCol="0" anchor="b">
            <a:normAutofit/>
          </a:bodyPr>
          <a:lstStyle/>
          <a:p>
            <a:pPr defTabSz="914400">
              <a:lnSpc>
                <a:spcPct val="90000"/>
              </a:lnSpc>
            </a:pPr>
            <a:r>
              <a:rPr lang="en-US" sz="3500" kern="1200">
                <a:solidFill>
                  <a:srgbClr val="FFFFFF"/>
                </a:solidFill>
                <a:latin typeface="+mj-lt"/>
                <a:ea typeface="+mj-ea"/>
                <a:cs typeface="+mj-cs"/>
              </a:rPr>
              <a:t>k Nearest Neighbour (kNN)</a:t>
            </a:r>
          </a:p>
        </p:txBody>
      </p:sp>
    </p:spTree>
    <p:extLst>
      <p:ext uri="{BB962C8B-B14F-4D97-AF65-F5344CB8AC3E}">
        <p14:creationId xmlns:p14="http://schemas.microsoft.com/office/powerpoint/2010/main" val="190694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EE1703-0978-3098-EEB8-0123FCEC9DD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0C3DF66-EAF7-5CB2-6D20-FD8E13EA42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575CDC77-AF60-623B-CC89-5ABA5B3E19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0B5298AE-A15E-73ED-0074-BE8963E74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E749993-0C0B-34D9-DCF6-4046151CF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BCE353E9-79DE-2D22-6EAE-586135EC07D5}"/>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4.0 Data Preparation (</a:t>
            </a:r>
            <a:r>
              <a:rPr lang="en-CA" sz="2800" err="1">
                <a:solidFill>
                  <a:srgbClr val="FFFFFF"/>
                </a:solidFill>
              </a:rPr>
              <a:t>kNN</a:t>
            </a:r>
            <a:r>
              <a:rPr lang="en-CA" sz="2800">
                <a:solidFill>
                  <a:srgbClr val="FFFFFF"/>
                </a:solidFill>
              </a:rPr>
              <a:t> Model)</a:t>
            </a:r>
          </a:p>
        </p:txBody>
      </p:sp>
      <p:sp>
        <p:nvSpPr>
          <p:cNvPr id="3" name="Content Placeholder 2">
            <a:extLst>
              <a:ext uri="{FF2B5EF4-FFF2-40B4-BE49-F238E27FC236}">
                <a16:creationId xmlns:a16="http://schemas.microsoft.com/office/drawing/2014/main" id="{9EFD3F36-BF61-801C-80FA-C299A4CD3E3D}"/>
              </a:ext>
            </a:extLst>
          </p:cNvPr>
          <p:cNvSpPr>
            <a:spLocks noGrp="1"/>
          </p:cNvSpPr>
          <p:nvPr>
            <p:ph idx="1"/>
          </p:nvPr>
        </p:nvSpPr>
        <p:spPr>
          <a:xfrm>
            <a:off x="657225" y="2308124"/>
            <a:ext cx="7077782" cy="3673576"/>
          </a:xfrm>
        </p:spPr>
        <p:txBody>
          <a:bodyPr vert="horz" lIns="91440" tIns="45720" rIns="91440" bIns="45720" rtlCol="0" anchor="t">
            <a:normAutofit/>
          </a:bodyPr>
          <a:lstStyle/>
          <a:p>
            <a:pPr>
              <a:buFont typeface="Courier New"/>
              <a:buChar char="o"/>
            </a:pPr>
            <a:r>
              <a:rPr lang="en-US" sz="1600">
                <a:ea typeface="+mn-lt"/>
                <a:cs typeface="+mn-lt"/>
              </a:rPr>
              <a:t>Distance-based classification method.</a:t>
            </a:r>
            <a:endParaRPr lang="en-US" sz="1600">
              <a:ea typeface="Calibri"/>
              <a:cs typeface="Calibri"/>
            </a:endParaRPr>
          </a:p>
          <a:p>
            <a:pPr>
              <a:buFont typeface="Courier New"/>
              <a:buChar char="o"/>
            </a:pPr>
            <a:r>
              <a:rPr lang="en-US" sz="1600">
                <a:ea typeface="+mn-lt"/>
                <a:cs typeface="+mn-lt"/>
              </a:rPr>
              <a:t>Predicts class labels by comparing a data point to its closest </a:t>
            </a:r>
            <a:r>
              <a:rPr lang="en-US" sz="1600" err="1">
                <a:ea typeface="+mn-lt"/>
                <a:cs typeface="+mn-lt"/>
              </a:rPr>
              <a:t>neighbours</a:t>
            </a:r>
            <a:r>
              <a:rPr lang="en-US" sz="1600">
                <a:ea typeface="+mn-lt"/>
                <a:cs typeface="+mn-lt"/>
              </a:rPr>
              <a:t>.</a:t>
            </a:r>
            <a:endParaRPr lang="en-US" sz="1600">
              <a:ea typeface="Calibri"/>
              <a:cs typeface="Calibri"/>
            </a:endParaRPr>
          </a:p>
          <a:p>
            <a:pPr marL="0" indent="0">
              <a:buNone/>
            </a:pPr>
            <a:r>
              <a:rPr lang="en-US" sz="1600" b="1">
                <a:ea typeface="+mn-lt"/>
                <a:cs typeface="+mn-lt"/>
              </a:rPr>
              <a:t>         Project Goal</a:t>
            </a:r>
            <a:r>
              <a:rPr lang="en-US" sz="1600">
                <a:ea typeface="+mn-lt"/>
                <a:cs typeface="+mn-lt"/>
              </a:rPr>
              <a:t>:</a:t>
            </a:r>
            <a:endParaRPr lang="en-US" sz="1600">
              <a:ea typeface="Calibri"/>
              <a:cs typeface="Calibri"/>
            </a:endParaRPr>
          </a:p>
          <a:p>
            <a:pPr>
              <a:buFont typeface="Courier New"/>
              <a:buChar char="o"/>
            </a:pPr>
            <a:r>
              <a:rPr lang="en-US" sz="1600">
                <a:ea typeface="+mn-lt"/>
                <a:cs typeface="+mn-lt"/>
              </a:rPr>
              <a:t>Classify bike cost category (Low, Medium, High) based on:</a:t>
            </a:r>
            <a:endParaRPr lang="en-US" sz="1600">
              <a:ea typeface="Calibri"/>
              <a:cs typeface="Calibri"/>
            </a:endParaRPr>
          </a:p>
          <a:p>
            <a:pPr lvl="1">
              <a:buChar char="•"/>
            </a:pPr>
            <a:r>
              <a:rPr lang="en-US" sz="1600">
                <a:ea typeface="+mn-lt"/>
                <a:cs typeface="+mn-lt"/>
              </a:rPr>
              <a:t>Bike characteristics (e.g., make, model, speed, color)</a:t>
            </a:r>
            <a:endParaRPr lang="en-US" sz="1600">
              <a:ea typeface="Calibri"/>
              <a:cs typeface="Calibri"/>
            </a:endParaRPr>
          </a:p>
          <a:p>
            <a:pPr lvl="1">
              <a:buChar char="•"/>
            </a:pPr>
            <a:r>
              <a:rPr lang="en-US" sz="1600">
                <a:ea typeface="+mn-lt"/>
                <a:cs typeface="+mn-lt"/>
              </a:rPr>
              <a:t>Theft context (e.g., location, division, time)</a:t>
            </a:r>
            <a:endParaRPr lang="en-US" sz="1600">
              <a:ea typeface="Calibri"/>
              <a:cs typeface="Calibri"/>
            </a:endParaRPr>
          </a:p>
          <a:p>
            <a:pPr lvl="1">
              <a:buChar char="•"/>
            </a:pPr>
            <a:r>
              <a:rPr lang="en-US" sz="1600">
                <a:ea typeface="+mn-lt"/>
                <a:cs typeface="+mn-lt"/>
              </a:rPr>
              <a:t>Time of occurrence (e.g., hour, month, season)</a:t>
            </a:r>
          </a:p>
          <a:p>
            <a:pPr lvl="1">
              <a:buChar char="•"/>
            </a:pPr>
            <a:endParaRPr lang="en-US" sz="1600" b="1">
              <a:ea typeface="+mn-lt"/>
              <a:cs typeface="+mn-lt"/>
            </a:endParaRPr>
          </a:p>
          <a:p>
            <a:pPr marL="457200" lvl="1" indent="0">
              <a:buNone/>
            </a:pPr>
            <a:r>
              <a:rPr lang="en-US" sz="1600" b="1">
                <a:ea typeface="+mn-lt"/>
                <a:cs typeface="+mn-lt"/>
              </a:rPr>
              <a:t>Objective</a:t>
            </a:r>
            <a:r>
              <a:rPr lang="en-US" sz="1600">
                <a:ea typeface="+mn-lt"/>
                <a:cs typeface="+mn-lt"/>
              </a:rPr>
              <a:t>:</a:t>
            </a:r>
            <a:endParaRPr lang="en-US" sz="1600">
              <a:ea typeface="Calibri"/>
              <a:cs typeface="Calibri"/>
            </a:endParaRPr>
          </a:p>
          <a:p>
            <a:pPr>
              <a:buFont typeface="Courier New"/>
              <a:buChar char="o"/>
            </a:pPr>
            <a:r>
              <a:rPr lang="en-US" sz="1600">
                <a:ea typeface="+mn-lt"/>
                <a:cs typeface="+mn-lt"/>
              </a:rPr>
              <a:t>Detect meaningful theft patterns to:</a:t>
            </a:r>
            <a:endParaRPr lang="en-US" sz="1600">
              <a:ea typeface="Calibri"/>
              <a:cs typeface="Calibri"/>
            </a:endParaRPr>
          </a:p>
          <a:p>
            <a:pPr lvl="1">
              <a:buChar char="•"/>
            </a:pPr>
            <a:r>
              <a:rPr lang="en-US" sz="1600">
                <a:ea typeface="+mn-lt"/>
                <a:cs typeface="+mn-lt"/>
              </a:rPr>
              <a:t>Anticipate likelihood of a bike falling into a certain cost group.</a:t>
            </a:r>
            <a:endParaRPr lang="en-US" sz="1600">
              <a:ea typeface="Calibri"/>
              <a:cs typeface="Calibri"/>
            </a:endParaRPr>
          </a:p>
          <a:p>
            <a:pPr lvl="1">
              <a:buChar char="•"/>
            </a:pPr>
            <a:r>
              <a:rPr lang="en-US" sz="1600">
                <a:ea typeface="+mn-lt"/>
                <a:cs typeface="+mn-lt"/>
              </a:rPr>
              <a:t>Support crime prevention and investigation strategies.</a:t>
            </a:r>
            <a:endParaRPr lang="en-US" sz="1600">
              <a:ea typeface="Calibri"/>
              <a:cs typeface="Calibri"/>
            </a:endParaRPr>
          </a:p>
          <a:p>
            <a:pPr lvl="1">
              <a:buChar char="•"/>
            </a:pPr>
            <a:endParaRPr lang="en-US">
              <a:ea typeface="Calibri"/>
              <a:cs typeface="Calibri"/>
            </a:endParaRPr>
          </a:p>
          <a:p>
            <a:pPr>
              <a:buFont typeface="Courier New"/>
              <a:buChar char="o"/>
            </a:pPr>
            <a:endParaRPr lang="en-US" sz="1600">
              <a:ea typeface="Calibri"/>
              <a:cs typeface="Calibri"/>
            </a:endParaRPr>
          </a:p>
          <a:p>
            <a:pPr>
              <a:buFont typeface="Courier New"/>
              <a:buChar char="o"/>
            </a:pPr>
            <a:endParaRPr lang="en-US" sz="1700">
              <a:ea typeface="Calibri"/>
              <a:cs typeface="Calibri"/>
            </a:endParaRPr>
          </a:p>
          <a:p>
            <a:pPr>
              <a:buFont typeface="Courier New"/>
              <a:buChar char="o"/>
            </a:pPr>
            <a:endParaRPr lang="en-US" sz="1700">
              <a:ea typeface="Calibri"/>
              <a:cs typeface="Calibri"/>
            </a:endParaRPr>
          </a:p>
        </p:txBody>
      </p:sp>
    </p:spTree>
    <p:extLst>
      <p:ext uri="{BB962C8B-B14F-4D97-AF65-F5344CB8AC3E}">
        <p14:creationId xmlns:p14="http://schemas.microsoft.com/office/powerpoint/2010/main" val="603296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7CAB09-4E07-3297-ECE8-57F303E6175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4BEBC92E-A1F3-404F-F80E-ACF0FB7AF4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E45286CF-44D1-8D9C-8E06-45A42D13D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80E646BE-AD84-8FD3-DFFB-310003D9AA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CB1E6514-BA83-E195-970A-1F115759B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BAE92707-04D2-FB6E-55D7-856BC3C4A507}"/>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Selected (</a:t>
            </a:r>
            <a:r>
              <a:rPr lang="en-CA" sz="2800" err="1">
                <a:solidFill>
                  <a:srgbClr val="FFFFFF"/>
                </a:solidFill>
              </a:rPr>
              <a:t>kNN</a:t>
            </a:r>
            <a:r>
              <a:rPr lang="en-CA" sz="2800">
                <a:solidFill>
                  <a:srgbClr val="FFFFFF"/>
                </a:solidFill>
              </a:rPr>
              <a:t>)</a:t>
            </a:r>
          </a:p>
        </p:txBody>
      </p:sp>
      <p:sp>
        <p:nvSpPr>
          <p:cNvPr id="3" name="Content Placeholder 2">
            <a:extLst>
              <a:ext uri="{FF2B5EF4-FFF2-40B4-BE49-F238E27FC236}">
                <a16:creationId xmlns:a16="http://schemas.microsoft.com/office/drawing/2014/main" id="{06B32C68-E0D2-D1C9-794A-090C227273E3}"/>
              </a:ext>
            </a:extLst>
          </p:cNvPr>
          <p:cNvSpPr>
            <a:spLocks noGrp="1"/>
          </p:cNvSpPr>
          <p:nvPr>
            <p:ph idx="1"/>
          </p:nvPr>
        </p:nvSpPr>
        <p:spPr>
          <a:xfrm>
            <a:off x="656585" y="1539119"/>
            <a:ext cx="7788074" cy="349079"/>
          </a:xfrm>
        </p:spPr>
        <p:txBody>
          <a:bodyPr vert="horz" lIns="91440" tIns="45720" rIns="91440" bIns="45720" rtlCol="0" anchor="t">
            <a:normAutofit lnSpcReduction="10000"/>
          </a:bodyPr>
          <a:lstStyle/>
          <a:p>
            <a:r>
              <a:rPr lang="en-CA" sz="1700"/>
              <a:t>This was the relevant data selected for the kNN.</a:t>
            </a:r>
            <a:endParaRPr lang="en-CA" sz="1700">
              <a:ea typeface="Calibri"/>
              <a:cs typeface="Calibri"/>
            </a:endParaRPr>
          </a:p>
          <a:p>
            <a:pPr marL="0" indent="0">
              <a:buNone/>
            </a:pPr>
            <a:endParaRPr lang="en-CA" sz="1700"/>
          </a:p>
          <a:p>
            <a:pPr marL="0" indent="0">
              <a:buNone/>
            </a:pPr>
            <a:endParaRPr lang="en-CA" sz="1700"/>
          </a:p>
        </p:txBody>
      </p:sp>
      <p:graphicFrame>
        <p:nvGraphicFramePr>
          <p:cNvPr id="5" name="Table 4">
            <a:extLst>
              <a:ext uri="{FF2B5EF4-FFF2-40B4-BE49-F238E27FC236}">
                <a16:creationId xmlns:a16="http://schemas.microsoft.com/office/drawing/2014/main" id="{86316DE1-94EB-3DCD-7E7A-ED3590281ADD}"/>
              </a:ext>
            </a:extLst>
          </p:cNvPr>
          <p:cNvGraphicFramePr>
            <a:graphicFrameLocks noGrp="1"/>
          </p:cNvGraphicFramePr>
          <p:nvPr>
            <p:extLst>
              <p:ext uri="{D42A27DB-BD31-4B8C-83A1-F6EECF244321}">
                <p14:modId xmlns:p14="http://schemas.microsoft.com/office/powerpoint/2010/main" val="97469079"/>
              </p:ext>
            </p:extLst>
          </p:nvPr>
        </p:nvGraphicFramePr>
        <p:xfrm>
          <a:off x="385052" y="1884570"/>
          <a:ext cx="8060004" cy="4961448"/>
        </p:xfrm>
        <a:graphic>
          <a:graphicData uri="http://schemas.openxmlformats.org/drawingml/2006/table">
            <a:tbl>
              <a:tblPr firstRow="1" bandRow="1">
                <a:tableStyleId>{5C22544A-7EE6-4342-B048-85BDC9FD1C3A}</a:tableStyleId>
              </a:tblPr>
              <a:tblGrid>
                <a:gridCol w="2376323">
                  <a:extLst>
                    <a:ext uri="{9D8B030D-6E8A-4147-A177-3AD203B41FA5}">
                      <a16:colId xmlns:a16="http://schemas.microsoft.com/office/drawing/2014/main" val="4012305098"/>
                    </a:ext>
                  </a:extLst>
                </a:gridCol>
                <a:gridCol w="2971698">
                  <a:extLst>
                    <a:ext uri="{9D8B030D-6E8A-4147-A177-3AD203B41FA5}">
                      <a16:colId xmlns:a16="http://schemas.microsoft.com/office/drawing/2014/main" val="4053218497"/>
                    </a:ext>
                  </a:extLst>
                </a:gridCol>
                <a:gridCol w="2711983">
                  <a:extLst>
                    <a:ext uri="{9D8B030D-6E8A-4147-A177-3AD203B41FA5}">
                      <a16:colId xmlns:a16="http://schemas.microsoft.com/office/drawing/2014/main" val="910517411"/>
                    </a:ext>
                  </a:extLst>
                </a:gridCol>
              </a:tblGrid>
              <a:tr h="235678">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Relevance</a:t>
                      </a:r>
                    </a:p>
                  </a:txBody>
                  <a:tcPr marL="74364" marR="74364" marT="37182" marB="37182"/>
                </a:tc>
                <a:extLst>
                  <a:ext uri="{0D108BD9-81ED-4DB2-BD59-A6C34878D82A}">
                    <a16:rowId xmlns:a16="http://schemas.microsoft.com/office/drawing/2014/main" val="2819037219"/>
                  </a:ext>
                </a:extLst>
              </a:tr>
              <a:tr h="339378">
                <a:tc>
                  <a:txBody>
                    <a:bodyPr/>
                    <a:lstStyle/>
                    <a:p>
                      <a:pPr lvl="0">
                        <a:buNone/>
                      </a:pPr>
                      <a:r>
                        <a:rPr lang="en-CA" sz="1200" b="0" i="0" u="none" strike="noStrike" noProof="0">
                          <a:solidFill>
                            <a:srgbClr val="000000"/>
                          </a:solidFill>
                          <a:latin typeface="Times New Roman"/>
                        </a:rPr>
                        <a:t>OCC_YEAR</a:t>
                      </a:r>
                      <a:endParaRPr lang="en-US" sz="1200"/>
                    </a:p>
                  </a:txBody>
                  <a:tcPr marL="74364" marR="74364" marT="37182" marB="37182"/>
                </a:tc>
                <a:tc>
                  <a:txBody>
                    <a:bodyPr/>
                    <a:lstStyle/>
                    <a:p>
                      <a:pPr lvl="0">
                        <a:buNone/>
                      </a:pPr>
                      <a:r>
                        <a:rPr lang="en-CA" sz="1200" b="0" i="0" u="none" strike="noStrike" noProof="0">
                          <a:solidFill>
                            <a:srgbClr val="000000"/>
                          </a:solidFill>
                          <a:latin typeface="Times New Roman"/>
                        </a:rPr>
                        <a:t>Helps detect long-term shifts in bike value over years</a:t>
                      </a:r>
                    </a:p>
                  </a:txBody>
                  <a:tcPr marL="74364" marR="74364" marT="37182" marB="37182"/>
                </a:tc>
                <a:tc>
                  <a:txBody>
                    <a:bodyPr/>
                    <a:lstStyle/>
                    <a:p>
                      <a:pPr lvl="0">
                        <a:buNone/>
                      </a:pPr>
                      <a:r>
                        <a:rPr lang="en-CA" sz="1200" b="0" i="0" u="none" strike="noStrike" noProof="0">
                          <a:solidFill>
                            <a:srgbClr val="000000"/>
                          </a:solidFill>
                          <a:latin typeface="Times New Roman"/>
                        </a:rPr>
                        <a:t>Relevant</a:t>
                      </a:r>
                    </a:p>
                  </a:txBody>
                  <a:tcPr marL="74364" marR="74364" marT="37182" marB="37182"/>
                </a:tc>
                <a:extLst>
                  <a:ext uri="{0D108BD9-81ED-4DB2-BD59-A6C34878D82A}">
                    <a16:rowId xmlns:a16="http://schemas.microsoft.com/office/drawing/2014/main" val="2426409075"/>
                  </a:ext>
                </a:extLst>
              </a:tr>
              <a:tr h="339378">
                <a:tc>
                  <a:txBody>
                    <a:bodyPr/>
                    <a:lstStyle/>
                    <a:p>
                      <a:pPr lvl="0">
                        <a:buNone/>
                      </a:pPr>
                      <a:r>
                        <a:rPr lang="en-CA" sz="1200" b="0" i="0" u="none" strike="noStrike" noProof="0">
                          <a:solidFill>
                            <a:srgbClr val="000000"/>
                          </a:solidFill>
                          <a:latin typeface="Times New Roman"/>
                        </a:rPr>
                        <a:t>OCC_MONTH</a:t>
                      </a:r>
                    </a:p>
                  </a:txBody>
                  <a:tcPr marL="74364" marR="74364" marT="37182" marB="37182"/>
                </a:tc>
                <a:tc>
                  <a:txBody>
                    <a:bodyPr/>
                    <a:lstStyle/>
                    <a:p>
                      <a:pPr lvl="0">
                        <a:buNone/>
                      </a:pPr>
                      <a:r>
                        <a:rPr lang="en-CA" sz="1200" b="0" i="0" u="none" strike="noStrike" noProof="0">
                          <a:solidFill>
                            <a:srgbClr val="000000"/>
                          </a:solidFill>
                          <a:latin typeface="Times New Roman"/>
                        </a:rPr>
                        <a:t>Can show seasonal trends in high- or low-cost bike theft</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a:p>
                  </a:txBody>
                  <a:tcPr marL="74364" marR="74364" marT="37182" marB="37182"/>
                </a:tc>
                <a:extLst>
                  <a:ext uri="{0D108BD9-81ED-4DB2-BD59-A6C34878D82A}">
                    <a16:rowId xmlns:a16="http://schemas.microsoft.com/office/drawing/2014/main" val="2891385519"/>
                  </a:ext>
                </a:extLst>
              </a:tr>
              <a:tr h="339378">
                <a:tc>
                  <a:txBody>
                    <a:bodyPr/>
                    <a:lstStyle/>
                    <a:p>
                      <a:pPr lvl="0">
                        <a:buNone/>
                      </a:pPr>
                      <a:r>
                        <a:rPr lang="en-CA" sz="1200" b="0" i="0" u="none" strike="noStrike" noProof="0">
                          <a:solidFill>
                            <a:srgbClr val="000000"/>
                          </a:solidFill>
                          <a:latin typeface="Times New Roman"/>
                        </a:rPr>
                        <a:t>OCC_HOUR</a:t>
                      </a:r>
                    </a:p>
                  </a:txBody>
                  <a:tcPr marL="74364" marR="74364" marT="37182" marB="37182"/>
                </a:tc>
                <a:tc>
                  <a:txBody>
                    <a:bodyPr/>
                    <a:lstStyle/>
                    <a:p>
                      <a:pPr lvl="0">
                        <a:buNone/>
                      </a:pPr>
                      <a:r>
                        <a:rPr lang="en-CA" sz="1200" b="0" i="0" u="none" strike="noStrike" noProof="0">
                          <a:solidFill>
                            <a:srgbClr val="000000"/>
                          </a:solidFill>
                          <a:latin typeface="Times New Roman"/>
                        </a:rPr>
                        <a:t>Important to know if cost varies by time (night/day)</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a:p>
                  </a:txBody>
                  <a:tcPr marL="74364" marR="74364" marT="37182" marB="37182"/>
                </a:tc>
                <a:extLst>
                  <a:ext uri="{0D108BD9-81ED-4DB2-BD59-A6C34878D82A}">
                    <a16:rowId xmlns:a16="http://schemas.microsoft.com/office/drawing/2014/main" val="2296954587"/>
                  </a:ext>
                </a:extLst>
              </a:tr>
              <a:tr h="339378">
                <a:tc>
                  <a:txBody>
                    <a:bodyPr/>
                    <a:lstStyle/>
                    <a:p>
                      <a:pPr lvl="0">
                        <a:buNone/>
                      </a:pPr>
                      <a:r>
                        <a:rPr lang="en-CA" sz="1200" b="0" i="0" u="none" strike="noStrike" noProof="0">
                          <a:solidFill>
                            <a:srgbClr val="000000"/>
                          </a:solidFill>
                          <a:latin typeface="Times New Roman"/>
                        </a:rPr>
                        <a:t>DIVISION</a:t>
                      </a:r>
                    </a:p>
                  </a:txBody>
                  <a:tcPr marL="74364" marR="74364" marT="37182" marB="37182"/>
                </a:tc>
                <a:tc>
                  <a:txBody>
                    <a:bodyPr/>
                    <a:lstStyle/>
                    <a:p>
                      <a:pPr lvl="0">
                        <a:buNone/>
                      </a:pPr>
                      <a:r>
                        <a:rPr lang="en-CA" sz="1200" b="0" i="0" u="none" strike="noStrike" noProof="0">
                          <a:solidFill>
                            <a:srgbClr val="000000"/>
                          </a:solidFill>
                          <a:latin typeface="Times New Roman"/>
                        </a:rPr>
                        <a:t>Tested and improve model</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a:p>
                  </a:txBody>
                  <a:tcPr marL="74364" marR="74364" marT="37182" marB="37182"/>
                </a:tc>
                <a:extLst>
                  <a:ext uri="{0D108BD9-81ED-4DB2-BD59-A6C34878D82A}">
                    <a16:rowId xmlns:a16="http://schemas.microsoft.com/office/drawing/2014/main" val="118010167"/>
                  </a:ext>
                </a:extLst>
              </a:tr>
              <a:tr h="339378">
                <a:tc>
                  <a:txBody>
                    <a:bodyPr/>
                    <a:lstStyle/>
                    <a:p>
                      <a:pPr lvl="0">
                        <a:buNone/>
                      </a:pPr>
                      <a:r>
                        <a:rPr lang="en-CA" sz="1200" b="0" i="0" u="none" strike="noStrike" noProof="0">
                          <a:solidFill>
                            <a:srgbClr val="000000"/>
                          </a:solidFill>
                          <a:latin typeface="Times New Roman"/>
                        </a:rPr>
                        <a:t>PREMISES_TYPE</a:t>
                      </a:r>
                    </a:p>
                  </a:txBody>
                  <a:tcPr marL="74364" marR="74364" marT="37182" marB="37182"/>
                </a:tc>
                <a:tc>
                  <a:txBody>
                    <a:bodyPr/>
                    <a:lstStyle/>
                    <a:p>
                      <a:pPr lvl="0">
                        <a:buNone/>
                      </a:pPr>
                      <a:r>
                        <a:rPr lang="en-CA" sz="1200" b="0" i="0" u="none" strike="noStrike" noProof="0">
                          <a:solidFill>
                            <a:srgbClr val="000000"/>
                          </a:solidFill>
                          <a:latin typeface="Times New Roman"/>
                        </a:rPr>
                        <a:t>Indicates theft context (e.g., private vs. public)</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a:p>
                  </a:txBody>
                  <a:tcPr marL="74364" marR="74364" marT="37182" marB="37182"/>
                </a:tc>
                <a:extLst>
                  <a:ext uri="{0D108BD9-81ED-4DB2-BD59-A6C34878D82A}">
                    <a16:rowId xmlns:a16="http://schemas.microsoft.com/office/drawing/2014/main" val="2644363679"/>
                  </a:ext>
                </a:extLst>
              </a:tr>
              <a:tr h="339378">
                <a:tc>
                  <a:txBody>
                    <a:bodyPr/>
                    <a:lstStyle/>
                    <a:p>
                      <a:pPr lvl="0">
                        <a:buNone/>
                      </a:pPr>
                      <a:r>
                        <a:rPr lang="en-CA" sz="1200" b="0" i="0" u="none" strike="noStrike" noProof="0">
                          <a:solidFill>
                            <a:srgbClr val="000000"/>
                          </a:solidFill>
                          <a:latin typeface="Times New Roman"/>
                        </a:rPr>
                        <a:t>BIKE_MAKE</a:t>
                      </a:r>
                    </a:p>
                  </a:txBody>
                  <a:tcPr marL="74364" marR="74364" marT="37182" marB="37182"/>
                </a:tc>
                <a:tc>
                  <a:txBody>
                    <a:bodyPr/>
                    <a:lstStyle/>
                    <a:p>
                      <a:pPr lvl="0">
                        <a:buNone/>
                      </a:pPr>
                      <a:r>
                        <a:rPr lang="en-CA" sz="1200" b="0" i="0" u="none" strike="noStrike" noProof="0">
                          <a:solidFill>
                            <a:srgbClr val="000000"/>
                          </a:solidFill>
                          <a:latin typeface="Times New Roman"/>
                        </a:rPr>
                        <a:t>Brand is strongly tied to value/cost of bike</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a:p>
                  </a:txBody>
                  <a:tcPr marL="74364" marR="74364" marT="37182" marB="37182"/>
                </a:tc>
                <a:extLst>
                  <a:ext uri="{0D108BD9-81ED-4DB2-BD59-A6C34878D82A}">
                    <a16:rowId xmlns:a16="http://schemas.microsoft.com/office/drawing/2014/main" val="809767358"/>
                  </a:ext>
                </a:extLst>
              </a:tr>
              <a:tr h="339378">
                <a:tc>
                  <a:txBody>
                    <a:bodyPr/>
                    <a:lstStyle/>
                    <a:p>
                      <a:pPr lvl="0">
                        <a:buNone/>
                      </a:pPr>
                      <a:r>
                        <a:rPr lang="en-CA" sz="1200" b="0" i="0" u="none" strike="noStrike" noProof="0">
                          <a:solidFill>
                            <a:srgbClr val="000000"/>
                          </a:solidFill>
                          <a:latin typeface="Times New Roman"/>
                        </a:rPr>
                        <a:t>BIKE_TYPE</a:t>
                      </a:r>
                    </a:p>
                  </a:txBody>
                  <a:tcPr marL="74364" marR="74364" marT="37182" marB="37182"/>
                </a:tc>
                <a:tc>
                  <a:txBody>
                    <a:bodyPr/>
                    <a:lstStyle/>
                    <a:p>
                      <a:pPr lvl="0">
                        <a:buNone/>
                      </a:pPr>
                      <a:r>
                        <a:rPr lang="en-CA" sz="1200" b="0" i="0" u="none" strike="noStrike" noProof="0">
                          <a:solidFill>
                            <a:srgbClr val="000000"/>
                          </a:solidFill>
                          <a:latin typeface="Times New Roman"/>
                        </a:rPr>
                        <a:t>Type (mountain, road) affects cost</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a:p>
                  </a:txBody>
                  <a:tcPr marL="74364" marR="74364" marT="37182" marB="37182"/>
                </a:tc>
                <a:extLst>
                  <a:ext uri="{0D108BD9-81ED-4DB2-BD59-A6C34878D82A}">
                    <a16:rowId xmlns:a16="http://schemas.microsoft.com/office/drawing/2014/main" val="1971785325"/>
                  </a:ext>
                </a:extLst>
              </a:tr>
              <a:tr h="339378">
                <a:tc>
                  <a:txBody>
                    <a:bodyPr/>
                    <a:lstStyle/>
                    <a:p>
                      <a:pPr lvl="0">
                        <a:buNone/>
                      </a:pPr>
                      <a:r>
                        <a:rPr lang="en-CA" sz="1200" b="0" i="0" u="none" strike="noStrike" noProof="0">
                          <a:solidFill>
                            <a:srgbClr val="000000"/>
                          </a:solidFill>
                          <a:latin typeface="Times New Roman"/>
                        </a:rPr>
                        <a:t>BIKE_SPEED</a:t>
                      </a:r>
                    </a:p>
                  </a:txBody>
                  <a:tcPr marL="74364" marR="74364" marT="37182" marB="37182"/>
                </a:tc>
                <a:tc>
                  <a:txBody>
                    <a:bodyPr/>
                    <a:lstStyle/>
                    <a:p>
                      <a:pPr lvl="0">
                        <a:buNone/>
                      </a:pPr>
                      <a:r>
                        <a:rPr lang="en-CA" sz="1200" b="0" i="0" u="none" strike="noStrike" noProof="0">
                          <a:solidFill>
                            <a:srgbClr val="000000"/>
                          </a:solidFill>
                          <a:latin typeface="Times New Roman"/>
                        </a:rPr>
                        <a:t>Higher-speed bikes often mean higher cost</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a:p>
                  </a:txBody>
                  <a:tcPr marL="74364" marR="74364" marT="37182" marB="37182"/>
                </a:tc>
                <a:extLst>
                  <a:ext uri="{0D108BD9-81ED-4DB2-BD59-A6C34878D82A}">
                    <a16:rowId xmlns:a16="http://schemas.microsoft.com/office/drawing/2014/main" val="3027984104"/>
                  </a:ext>
                </a:extLst>
              </a:tr>
              <a:tr h="197969">
                <a:tc>
                  <a:txBody>
                    <a:bodyPr/>
                    <a:lstStyle/>
                    <a:p>
                      <a:pPr lvl="0">
                        <a:buNone/>
                      </a:pPr>
                      <a:r>
                        <a:rPr lang="en-CA" sz="1200" b="0" i="0" u="none" strike="noStrike" noProof="0">
                          <a:solidFill>
                            <a:srgbClr val="000000"/>
                          </a:solidFill>
                          <a:latin typeface="Times New Roman"/>
                        </a:rPr>
                        <a:t>BIKE_COLOUR</a:t>
                      </a:r>
                      <a:endParaRPr lang="en-US"/>
                    </a:p>
                  </a:txBody>
                  <a:tcPr marL="74364" marR="74364" marT="37182" marB="37182"/>
                </a:tc>
                <a:tc>
                  <a:txBody>
                    <a:bodyPr/>
                    <a:lstStyle/>
                    <a:p>
                      <a:pPr lvl="0">
                        <a:buNone/>
                      </a:pPr>
                      <a:r>
                        <a:rPr lang="en-CA" sz="1200" b="0" i="0" u="none" strike="noStrike" noProof="0">
                          <a:solidFill>
                            <a:srgbClr val="000000"/>
                          </a:solidFill>
                          <a:latin typeface="Times New Roman"/>
                        </a:rPr>
                        <a:t>Slight relevance; kept for visual value cues</a:t>
                      </a:r>
                    </a:p>
                  </a:txBody>
                  <a:tcPr marL="74364" marR="74364" marT="37182" marB="37182"/>
                </a:tc>
                <a:tc>
                  <a:txBody>
                    <a:bodyPr/>
                    <a:lstStyle/>
                    <a:p>
                      <a:pPr lvl="0">
                        <a:buNone/>
                      </a:pPr>
                      <a:r>
                        <a:rPr lang="en-CA" sz="1200" b="0" i="0" u="none" strike="noStrike" noProof="0">
                          <a:solidFill>
                            <a:srgbClr val="000000"/>
                          </a:solidFill>
                          <a:latin typeface="Times New Roman"/>
                        </a:rPr>
                        <a:t>Relevant</a:t>
                      </a:r>
                    </a:p>
                  </a:txBody>
                  <a:tcPr marL="74364" marR="74364" marT="37182" marB="37182"/>
                </a:tc>
                <a:extLst>
                  <a:ext uri="{0D108BD9-81ED-4DB2-BD59-A6C34878D82A}">
                    <a16:rowId xmlns:a16="http://schemas.microsoft.com/office/drawing/2014/main" val="3397411999"/>
                  </a:ext>
                </a:extLst>
              </a:tr>
              <a:tr h="339378">
                <a:tc>
                  <a:txBody>
                    <a:bodyPr/>
                    <a:lstStyle/>
                    <a:p>
                      <a:pPr lvl="0">
                        <a:buNone/>
                      </a:pPr>
                      <a:r>
                        <a:rPr lang="en-CA" sz="1200" b="0" i="0" u="none" strike="noStrike" noProof="0">
                          <a:solidFill>
                            <a:srgbClr val="000000"/>
                          </a:solidFill>
                          <a:latin typeface="Times New Roman"/>
                        </a:rPr>
                        <a:t>BIKE_COST_CLASS</a:t>
                      </a:r>
                    </a:p>
                  </a:txBody>
                  <a:tcPr marL="74364" marR="74364" marT="37182" marB="37182"/>
                </a:tc>
                <a:tc>
                  <a:txBody>
                    <a:bodyPr/>
                    <a:lstStyle/>
                    <a:p>
                      <a:pPr lvl="0">
                        <a:buNone/>
                      </a:pPr>
                      <a:r>
                        <a:rPr lang="en-CA" sz="1200" b="0" i="0" u="none" strike="noStrike" noProof="0">
                          <a:solidFill>
                            <a:srgbClr val="000000"/>
                          </a:solidFill>
                          <a:latin typeface="Times New Roman"/>
                        </a:rPr>
                        <a:t>Target variable (Low, Medium, High)</a:t>
                      </a:r>
                    </a:p>
                  </a:txBody>
                  <a:tcPr marL="74364" marR="74364" marT="37182" marB="37182"/>
                </a:tc>
                <a:tc>
                  <a:txBody>
                    <a:bodyPr/>
                    <a:lstStyle/>
                    <a:p>
                      <a:pPr lvl="0" algn="l">
                        <a:lnSpc>
                          <a:spcPct val="100000"/>
                        </a:lnSpc>
                        <a:spcBef>
                          <a:spcPts val="0"/>
                        </a:spcBef>
                        <a:spcAft>
                          <a:spcPts val="0"/>
                        </a:spcAft>
                        <a:buNone/>
                      </a:pPr>
                      <a:r>
                        <a:rPr lang="en-CA" sz="1200" b="0" i="0" u="none" strike="noStrike" noProof="0">
                          <a:solidFill>
                            <a:srgbClr val="000000"/>
                          </a:solidFill>
                          <a:latin typeface="Times New Roman"/>
                        </a:rPr>
                        <a:t>Relevant</a:t>
                      </a:r>
                    </a:p>
                    <a:p>
                      <a:pPr lvl="0">
                        <a:buNone/>
                      </a:pP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1003755318"/>
                  </a:ext>
                </a:extLst>
              </a:tr>
              <a:tr h="339378">
                <a:tc>
                  <a:txBody>
                    <a:bodyPr/>
                    <a:lstStyle/>
                    <a:p>
                      <a:pPr lvl="0">
                        <a:buNone/>
                      </a:pPr>
                      <a:r>
                        <a:rPr lang="en-CA" sz="1200" b="0" i="0" u="none" strike="noStrike" noProof="0">
                          <a:solidFill>
                            <a:srgbClr val="000000"/>
                          </a:solidFill>
                          <a:latin typeface="Times New Roman"/>
                        </a:rPr>
                        <a:t>STATUS</a:t>
                      </a:r>
                      <a:endParaRPr lang="en-US"/>
                    </a:p>
                  </a:txBody>
                  <a:tcPr marL="74364" marR="74364" marT="37182" marB="37182"/>
                </a:tc>
                <a:tc>
                  <a:txBody>
                    <a:bodyPr/>
                    <a:lstStyle/>
                    <a:p>
                      <a:pPr lvl="0">
                        <a:buNone/>
                      </a:pPr>
                      <a:r>
                        <a:rPr lang="en-CA" sz="1200" b="0" i="0" u="none" strike="noStrike" noProof="0">
                          <a:solidFill>
                            <a:srgbClr val="000000"/>
                          </a:solidFill>
                          <a:latin typeface="Times New Roman"/>
                        </a:rPr>
                        <a:t>May show if bike was recovered, included for testing</a:t>
                      </a:r>
                    </a:p>
                  </a:txBody>
                  <a:tcPr marL="74364" marR="74364" marT="37182" marB="37182"/>
                </a:tc>
                <a:tc>
                  <a:txBody>
                    <a:bodyPr/>
                    <a:lstStyle/>
                    <a:p>
                      <a:pPr lvl="0">
                        <a:buNone/>
                      </a:pPr>
                      <a:r>
                        <a:rPr lang="en-CA" sz="1200" b="0" i="0" u="none" strike="noStrike" noProof="0">
                          <a:solidFill>
                            <a:srgbClr val="000000"/>
                          </a:solidFill>
                          <a:latin typeface="Times New Roman"/>
                        </a:rPr>
                        <a:t>Relevant</a:t>
                      </a:r>
                    </a:p>
                  </a:txBody>
                  <a:tcPr marL="74364" marR="74364" marT="37182" marB="37182"/>
                </a:tc>
                <a:extLst>
                  <a:ext uri="{0D108BD9-81ED-4DB2-BD59-A6C34878D82A}">
                    <a16:rowId xmlns:a16="http://schemas.microsoft.com/office/drawing/2014/main" val="4231269787"/>
                  </a:ext>
                </a:extLst>
              </a:tr>
            </a:tbl>
          </a:graphicData>
        </a:graphic>
      </p:graphicFrame>
    </p:spTree>
    <p:extLst>
      <p:ext uri="{BB962C8B-B14F-4D97-AF65-F5344CB8AC3E}">
        <p14:creationId xmlns:p14="http://schemas.microsoft.com/office/powerpoint/2010/main" val="1603095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6BFEC3-08E1-460F-904C-5E53F3E1D2C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4F05086F-3A69-8182-6724-3D1D9AD21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02EC0135-3881-DDC2-5173-CB33ED4DB7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5DD50E4F-D52F-61B9-7921-8B5C79087D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2379ADFE-2F54-AF8E-B55D-5B3E9EBAB5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615DDA98-B1F9-7A66-2372-790442342540}"/>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Constructed (kNN)</a:t>
            </a:r>
          </a:p>
        </p:txBody>
      </p:sp>
      <p:sp>
        <p:nvSpPr>
          <p:cNvPr id="3" name="Content Placeholder 2">
            <a:extLst>
              <a:ext uri="{FF2B5EF4-FFF2-40B4-BE49-F238E27FC236}">
                <a16:creationId xmlns:a16="http://schemas.microsoft.com/office/drawing/2014/main" id="{FCD53234-0441-172A-AF02-85E04C98728C}"/>
              </a:ext>
            </a:extLst>
          </p:cNvPr>
          <p:cNvSpPr>
            <a:spLocks noGrp="1"/>
          </p:cNvSpPr>
          <p:nvPr>
            <p:ph idx="1"/>
          </p:nvPr>
        </p:nvSpPr>
        <p:spPr>
          <a:xfrm>
            <a:off x="664749" y="2016612"/>
            <a:ext cx="7843370" cy="4237023"/>
          </a:xfrm>
        </p:spPr>
        <p:txBody>
          <a:bodyPr vert="horz" lIns="91440" tIns="45720" rIns="91440" bIns="45720" rtlCol="0" anchor="t">
            <a:normAutofit/>
          </a:bodyPr>
          <a:lstStyle/>
          <a:p>
            <a:r>
              <a:rPr lang="en-CA" sz="1700"/>
              <a:t>These were the attributes constructed from the selected data</a:t>
            </a:r>
          </a:p>
          <a:p>
            <a:r>
              <a:rPr lang="en-CA" sz="1700">
                <a:ea typeface="Calibri"/>
                <a:cs typeface="Calibri"/>
              </a:rPr>
              <a:t>No need for the data integration</a:t>
            </a:r>
            <a:endParaRPr lang="en-US" sz="1700">
              <a:ea typeface="Calibri"/>
              <a:cs typeface="Calibri"/>
            </a:endParaRPr>
          </a:p>
          <a:p>
            <a:endParaRPr lang="en-CA" sz="1700">
              <a:ea typeface="Calibri"/>
              <a:cs typeface="Calibri"/>
            </a:endParaRPr>
          </a:p>
          <a:p>
            <a:pPr marL="0" indent="0">
              <a:buNone/>
            </a:pPr>
            <a:endParaRPr lang="en-CA" sz="1700">
              <a:ea typeface="Calibri"/>
              <a:cs typeface="Calibri"/>
            </a:endParaRPr>
          </a:p>
          <a:p>
            <a:pPr marL="0" indent="0">
              <a:buNone/>
            </a:pPr>
            <a:endParaRPr lang="en-CA" sz="1700">
              <a:ea typeface="Calibri"/>
              <a:cs typeface="Calibri"/>
            </a:endParaRPr>
          </a:p>
        </p:txBody>
      </p:sp>
      <p:graphicFrame>
        <p:nvGraphicFramePr>
          <p:cNvPr id="5" name="Table 4">
            <a:extLst>
              <a:ext uri="{FF2B5EF4-FFF2-40B4-BE49-F238E27FC236}">
                <a16:creationId xmlns:a16="http://schemas.microsoft.com/office/drawing/2014/main" id="{388758EF-ABEC-1AEE-3D23-4595DC808DF2}"/>
              </a:ext>
            </a:extLst>
          </p:cNvPr>
          <p:cNvGraphicFramePr>
            <a:graphicFrameLocks noGrp="1"/>
          </p:cNvGraphicFramePr>
          <p:nvPr>
            <p:extLst>
              <p:ext uri="{D42A27DB-BD31-4B8C-83A1-F6EECF244321}">
                <p14:modId xmlns:p14="http://schemas.microsoft.com/office/powerpoint/2010/main" val="653198394"/>
              </p:ext>
            </p:extLst>
          </p:nvPr>
        </p:nvGraphicFramePr>
        <p:xfrm>
          <a:off x="673084" y="3012714"/>
          <a:ext cx="7597705" cy="2280492"/>
        </p:xfrm>
        <a:graphic>
          <a:graphicData uri="http://schemas.openxmlformats.org/drawingml/2006/table">
            <a:tbl>
              <a:tblPr firstRow="1" bandRow="1">
                <a:tableStyleId>{5C22544A-7EE6-4342-B048-85BDC9FD1C3A}</a:tableStyleId>
              </a:tblPr>
              <a:tblGrid>
                <a:gridCol w="2204391">
                  <a:extLst>
                    <a:ext uri="{9D8B030D-6E8A-4147-A177-3AD203B41FA5}">
                      <a16:colId xmlns:a16="http://schemas.microsoft.com/office/drawing/2014/main" val="4012305098"/>
                    </a:ext>
                  </a:extLst>
                </a:gridCol>
                <a:gridCol w="2756688">
                  <a:extLst>
                    <a:ext uri="{9D8B030D-6E8A-4147-A177-3AD203B41FA5}">
                      <a16:colId xmlns:a16="http://schemas.microsoft.com/office/drawing/2014/main" val="4053218497"/>
                    </a:ext>
                  </a:extLst>
                </a:gridCol>
                <a:gridCol w="2636626">
                  <a:extLst>
                    <a:ext uri="{9D8B030D-6E8A-4147-A177-3AD203B41FA5}">
                      <a16:colId xmlns:a16="http://schemas.microsoft.com/office/drawing/2014/main" val="910517411"/>
                    </a:ext>
                  </a:extLst>
                </a:gridCol>
              </a:tblGrid>
              <a:tr h="194368">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Source Attribute</a:t>
                      </a:r>
                    </a:p>
                  </a:txBody>
                  <a:tcPr marL="74364" marR="74364" marT="37182" marB="37182"/>
                </a:tc>
                <a:extLst>
                  <a:ext uri="{0D108BD9-81ED-4DB2-BD59-A6C34878D82A}">
                    <a16:rowId xmlns:a16="http://schemas.microsoft.com/office/drawing/2014/main" val="2819037219"/>
                  </a:ext>
                </a:extLst>
              </a:tr>
              <a:tr h="583106">
                <a:tc>
                  <a:txBody>
                    <a:bodyPr/>
                    <a:lstStyle/>
                    <a:p>
                      <a:pPr lvl="0">
                        <a:buNone/>
                      </a:pPr>
                      <a:r>
                        <a:rPr lang="en-CA" sz="1500" b="0" i="0" u="none" strike="noStrike" noProof="0">
                          <a:latin typeface="Calibri"/>
                        </a:rPr>
                        <a:t>OCC_DAY_TIME</a:t>
                      </a:r>
                      <a:endParaRPr lang="en-US"/>
                    </a:p>
                  </a:txBody>
                  <a:tcPr marL="74364" marR="74364" marT="37182" marB="37182"/>
                </a:tc>
                <a:tc>
                  <a:txBody>
                    <a:bodyPr/>
                    <a:lstStyle/>
                    <a:p>
                      <a:pPr lvl="0">
                        <a:buNone/>
                      </a:pPr>
                      <a:r>
                        <a:rPr lang="en-CA" sz="1500" b="0" i="0" u="none" strike="noStrike" noProof="0">
                          <a:latin typeface="Calibri"/>
                        </a:rPr>
                        <a:t>Categorizes OCC_HOUR into 4 periods: Morning, Afternoon, Evening, Night to capture time-of-day patterns in bike thefts.</a:t>
                      </a:r>
                      <a:endParaRPr lang="en-US"/>
                    </a:p>
                  </a:txBody>
                  <a:tcPr marL="74364" marR="74364" marT="37182" marB="37182"/>
                </a:tc>
                <a:tc>
                  <a:txBody>
                    <a:bodyPr/>
                    <a:lstStyle/>
                    <a:p>
                      <a:pPr lvl="0">
                        <a:buNone/>
                      </a:pPr>
                      <a:r>
                        <a:rPr lang="en-CA" sz="1500" b="0" i="0" u="none" strike="noStrike" noProof="0">
                          <a:latin typeface="Calibri"/>
                        </a:rPr>
                        <a:t>OCC_HOUR</a:t>
                      </a:r>
                      <a:endParaRPr lang="en-US"/>
                    </a:p>
                  </a:txBody>
                  <a:tcPr marL="74364" marR="74364" marT="37182" marB="37182"/>
                </a:tc>
                <a:extLst>
                  <a:ext uri="{0D108BD9-81ED-4DB2-BD59-A6C34878D82A}">
                    <a16:rowId xmlns:a16="http://schemas.microsoft.com/office/drawing/2014/main" val="2426409075"/>
                  </a:ext>
                </a:extLst>
              </a:tr>
              <a:tr h="583105">
                <a:tc>
                  <a:txBody>
                    <a:bodyPr/>
                    <a:lstStyle/>
                    <a:p>
                      <a:pPr lvl="0">
                        <a:buNone/>
                      </a:pPr>
                      <a:r>
                        <a:rPr lang="en-CA" sz="1500" b="0" i="0" u="none" strike="noStrike" noProof="0">
                          <a:latin typeface="Calibri"/>
                        </a:rPr>
                        <a:t>OCC_SEASON</a:t>
                      </a:r>
                      <a:endParaRPr lang="en-US"/>
                    </a:p>
                  </a:txBody>
                  <a:tcPr marL="74364" marR="74364" marT="37182" marB="37182"/>
                </a:tc>
                <a:tc>
                  <a:txBody>
                    <a:bodyPr/>
                    <a:lstStyle/>
                    <a:p>
                      <a:pPr lvl="0">
                        <a:buNone/>
                      </a:pPr>
                      <a:r>
                        <a:rPr lang="en-CA" sz="1500" b="0" i="0" u="none" strike="noStrike" noProof="0">
                          <a:latin typeface="Calibri"/>
                        </a:rPr>
                        <a:t>Categorizes OCC_MONTH into 4 seasons: Winter, Spring, Summer, and Fall, to help the model identify seasonal theft patterns.</a:t>
                      </a:r>
                      <a:endParaRPr lang="en-US" b="0"/>
                    </a:p>
                  </a:txBody>
                  <a:tcPr marL="74364" marR="74364" marT="37182" marB="37182"/>
                </a:tc>
                <a:tc>
                  <a:txBody>
                    <a:bodyPr/>
                    <a:lstStyle/>
                    <a:p>
                      <a:pPr lvl="0">
                        <a:buNone/>
                      </a:pPr>
                      <a:r>
                        <a:rPr lang="en-CA" sz="1500" b="0" i="0" u="none" strike="noStrike" noProof="0">
                          <a:latin typeface="Calibri"/>
                        </a:rPr>
                        <a:t>OCC_MONTH</a:t>
                      </a:r>
                      <a:endParaRPr lang="en-US"/>
                    </a:p>
                  </a:txBody>
                  <a:tcPr marL="74364" marR="74364" marT="37182" marB="37182"/>
                </a:tc>
                <a:extLst>
                  <a:ext uri="{0D108BD9-81ED-4DB2-BD59-A6C34878D82A}">
                    <a16:rowId xmlns:a16="http://schemas.microsoft.com/office/drawing/2014/main" val="2891385519"/>
                  </a:ext>
                </a:extLst>
              </a:tr>
            </a:tbl>
          </a:graphicData>
        </a:graphic>
      </p:graphicFrame>
    </p:spTree>
    <p:extLst>
      <p:ext uri="{BB962C8B-B14F-4D97-AF65-F5344CB8AC3E}">
        <p14:creationId xmlns:p14="http://schemas.microsoft.com/office/powerpoint/2010/main" val="2212309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A9F361-32BA-C9A1-6B0C-F873B11ACB7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239242D2-36F2-347A-6819-48D63239E6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A7C7E3C5-B51C-03B7-3545-B20259CEBF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90DA2D05-991C-2F7C-A3C0-8727F014B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BD4E1D38-661B-6DAD-E16A-CE4CBD0A7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BDD50EB-2526-C71E-48AF-A0BC716D337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Formatted (</a:t>
            </a:r>
            <a:r>
              <a:rPr lang="en-CA" sz="2800" err="1">
                <a:solidFill>
                  <a:srgbClr val="FFFFFF"/>
                </a:solidFill>
              </a:rPr>
              <a:t>kNN</a:t>
            </a:r>
            <a:r>
              <a:rPr lang="en-CA" sz="2800">
                <a:solidFill>
                  <a:srgbClr val="FFFFFF"/>
                </a:solidFill>
              </a:rPr>
              <a:t>)</a:t>
            </a:r>
          </a:p>
        </p:txBody>
      </p:sp>
      <p:sp>
        <p:nvSpPr>
          <p:cNvPr id="3" name="Content Placeholder 2">
            <a:extLst>
              <a:ext uri="{FF2B5EF4-FFF2-40B4-BE49-F238E27FC236}">
                <a16:creationId xmlns:a16="http://schemas.microsoft.com/office/drawing/2014/main" id="{BF6B2222-CF7D-814F-28A4-2D9270E5FC90}"/>
              </a:ext>
            </a:extLst>
          </p:cNvPr>
          <p:cNvSpPr>
            <a:spLocks noGrp="1"/>
          </p:cNvSpPr>
          <p:nvPr>
            <p:ph idx="1"/>
          </p:nvPr>
        </p:nvSpPr>
        <p:spPr>
          <a:xfrm>
            <a:off x="663330" y="1610743"/>
            <a:ext cx="7846208" cy="4746408"/>
          </a:xfrm>
        </p:spPr>
        <p:txBody>
          <a:bodyPr vert="horz" lIns="91440" tIns="45720" rIns="91440" bIns="45720" rtlCol="0" anchor="t">
            <a:normAutofit fontScale="92500" lnSpcReduction="10000"/>
          </a:bodyPr>
          <a:lstStyle/>
          <a:p>
            <a:r>
              <a:rPr lang="en-CA" sz="1700" b="1">
                <a:ea typeface="+mn-lt"/>
                <a:cs typeface="+mn-lt"/>
              </a:rPr>
              <a:t>Numerical attributes:</a:t>
            </a:r>
            <a:endParaRPr lang="en-US" b="1">
              <a:ea typeface="Calibri"/>
              <a:cs typeface="Calibri"/>
            </a:endParaRPr>
          </a:p>
          <a:p>
            <a:r>
              <a:rPr lang="en-CA" sz="1700">
                <a:ea typeface="+mn-lt"/>
                <a:cs typeface="+mn-lt"/>
              </a:rPr>
              <a:t>BIKE_SPEED: Normalized to a common scale to ensure no single attribute has a stronger influence due to its range.</a:t>
            </a:r>
            <a:endParaRPr lang="en-CA" sz="1700">
              <a:ea typeface="Calibri"/>
              <a:cs typeface="Calibri"/>
            </a:endParaRPr>
          </a:p>
          <a:p>
            <a:r>
              <a:rPr lang="en-CA" sz="1700">
                <a:ea typeface="+mn-lt"/>
                <a:cs typeface="+mn-lt"/>
              </a:rPr>
              <a:t>OCC_YEAR: Normalized to ensure all numerical attributes are on the same scale for comparison.</a:t>
            </a:r>
            <a:endParaRPr lang="en-CA" sz="1700">
              <a:ea typeface="Calibri"/>
              <a:cs typeface="Calibri"/>
            </a:endParaRPr>
          </a:p>
          <a:p>
            <a:r>
              <a:rPr lang="en-CA" sz="1700" b="1">
                <a:ea typeface="+mn-lt"/>
                <a:cs typeface="+mn-lt"/>
              </a:rPr>
              <a:t>Categorical attributes:</a:t>
            </a:r>
            <a:endParaRPr lang="en-CA" sz="1700" b="1">
              <a:ea typeface="Calibri"/>
              <a:cs typeface="Calibri"/>
            </a:endParaRPr>
          </a:p>
          <a:p>
            <a:r>
              <a:rPr lang="en-CA" sz="1700">
                <a:ea typeface="+mn-lt"/>
                <a:cs typeface="+mn-lt"/>
              </a:rPr>
              <a:t>BIKE_TYPE: Converted from categorical to numerical using Nominal to Numerical encoding. This helps in distinguishing between different types of bikes, which affect the bike's cost.</a:t>
            </a:r>
            <a:endParaRPr lang="en-CA" sz="1700">
              <a:ea typeface="Calibri"/>
              <a:cs typeface="Calibri"/>
            </a:endParaRPr>
          </a:p>
          <a:p>
            <a:r>
              <a:rPr lang="en-CA" sz="1700">
                <a:ea typeface="+mn-lt"/>
                <a:cs typeface="+mn-lt"/>
              </a:rPr>
              <a:t>PREMISES_TYPE: Converted into a numerical format to capture the context of the theft (e.g., public vs. private areas).</a:t>
            </a:r>
            <a:endParaRPr lang="en-CA" sz="1700">
              <a:ea typeface="Calibri"/>
              <a:cs typeface="Calibri"/>
            </a:endParaRPr>
          </a:p>
          <a:p>
            <a:r>
              <a:rPr lang="en-CA" sz="1700">
                <a:ea typeface="+mn-lt"/>
                <a:cs typeface="+mn-lt"/>
              </a:rPr>
              <a:t>OCC_DAY_TIME: Created by categorizing OCC_HOUR into time slots: Morning, Afternoon, Evening, and Night. This captures patterns in theft occurrences during different times of the day.</a:t>
            </a:r>
            <a:endParaRPr lang="en-CA" sz="1700">
              <a:ea typeface="Calibri"/>
              <a:cs typeface="Calibri"/>
            </a:endParaRPr>
          </a:p>
          <a:p>
            <a:r>
              <a:rPr lang="en-CA" sz="1700">
                <a:ea typeface="+mn-lt"/>
                <a:cs typeface="+mn-lt"/>
              </a:rPr>
              <a:t>OCC_SEASON: Grouped OCC_MONTH into four seasons (Winter, Spring, Summer, Fall) to capture seasonal trends in bike thefts.</a:t>
            </a:r>
            <a:endParaRPr lang="en-CA" sz="1700">
              <a:ea typeface="Calibri"/>
              <a:cs typeface="Calibri"/>
            </a:endParaRPr>
          </a:p>
          <a:p>
            <a:r>
              <a:rPr lang="en-CA" sz="1700" b="1">
                <a:ea typeface="+mn-lt"/>
                <a:cs typeface="+mn-lt"/>
              </a:rPr>
              <a:t>Target attribute:</a:t>
            </a:r>
            <a:endParaRPr lang="en-CA" sz="1700" b="1">
              <a:ea typeface="Calibri"/>
              <a:cs typeface="Calibri"/>
            </a:endParaRPr>
          </a:p>
          <a:p>
            <a:r>
              <a:rPr lang="en-CA" sz="1700">
                <a:ea typeface="+mn-lt"/>
                <a:cs typeface="+mn-lt"/>
              </a:rPr>
              <a:t>BIKE_COST_CLASS: Set as the class label for classification, indicating the bike's cost category (Low, Medium, High).</a:t>
            </a:r>
            <a:endParaRPr lang="en-CA" sz="1700">
              <a:ea typeface="Calibri"/>
              <a:cs typeface="Calibri"/>
            </a:endParaRPr>
          </a:p>
          <a:p>
            <a:pPr marL="0" indent="0">
              <a:buNone/>
            </a:pPr>
            <a:endParaRPr lang="en-CA" sz="1700">
              <a:ea typeface="Calibri"/>
              <a:cs typeface="Calibri"/>
            </a:endParaRPr>
          </a:p>
        </p:txBody>
      </p:sp>
    </p:spTree>
    <p:extLst>
      <p:ext uri="{BB962C8B-B14F-4D97-AF65-F5344CB8AC3E}">
        <p14:creationId xmlns:p14="http://schemas.microsoft.com/office/powerpoint/2010/main" val="1298014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94D11E-6765-EA37-B7BD-DEB36EF01DE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7FADA0A-03F6-FC63-1100-D54E33DD4A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534AD306-F8D3-0382-3C4C-668B0CAB4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B6FDAAD-606F-4A59-1346-8A67C54E0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7C467267-DC6D-3BB8-D0DA-8C8A2AF46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930896A0-3605-697C-D0EC-B35B3AF29D29}"/>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Modelling (</a:t>
            </a:r>
            <a:r>
              <a:rPr lang="en-CA" sz="2800" err="1">
                <a:solidFill>
                  <a:srgbClr val="FFFFFF"/>
                </a:solidFill>
              </a:rPr>
              <a:t>kNN</a:t>
            </a:r>
            <a:r>
              <a:rPr lang="en-CA" sz="2800">
                <a:solidFill>
                  <a:srgbClr val="FFFFFF"/>
                </a:solidFill>
              </a:rPr>
              <a:t>)</a:t>
            </a:r>
          </a:p>
        </p:txBody>
      </p:sp>
      <p:sp>
        <p:nvSpPr>
          <p:cNvPr id="3" name="Content Placeholder 2">
            <a:extLst>
              <a:ext uri="{FF2B5EF4-FFF2-40B4-BE49-F238E27FC236}">
                <a16:creationId xmlns:a16="http://schemas.microsoft.com/office/drawing/2014/main" id="{295375AF-D540-8C3A-7722-646F2E8EE5D9}"/>
              </a:ext>
            </a:extLst>
          </p:cNvPr>
          <p:cNvSpPr>
            <a:spLocks noGrp="1"/>
          </p:cNvSpPr>
          <p:nvPr>
            <p:ph idx="1"/>
          </p:nvPr>
        </p:nvSpPr>
        <p:spPr>
          <a:xfrm>
            <a:off x="657225" y="2431389"/>
            <a:ext cx="7985458" cy="3673576"/>
          </a:xfrm>
        </p:spPr>
        <p:txBody>
          <a:bodyPr vert="horz" lIns="91440" tIns="45720" rIns="91440" bIns="45720" rtlCol="0" anchor="t">
            <a:normAutofit/>
          </a:bodyPr>
          <a:lstStyle/>
          <a:p>
            <a:r>
              <a:rPr lang="en-US" sz="1700" b="1">
                <a:ea typeface="+mn-lt"/>
                <a:cs typeface="+mn-lt"/>
              </a:rPr>
              <a:t>Algorithm:</a:t>
            </a:r>
            <a:r>
              <a:rPr lang="en-US" sz="1800">
                <a:ea typeface="+mn-lt"/>
                <a:cs typeface="+mn-lt"/>
              </a:rPr>
              <a:t> k-NN is a supervised machine learning algorithm that classifies data based on the k closest neighbors in the feature space.</a:t>
            </a:r>
            <a:endParaRPr lang="en-US" sz="1800">
              <a:ea typeface="Calibri"/>
              <a:cs typeface="Calibri"/>
            </a:endParaRPr>
          </a:p>
          <a:p>
            <a:r>
              <a:rPr lang="en-US" sz="1800" b="1">
                <a:ea typeface="+mn-lt"/>
                <a:cs typeface="+mn-lt"/>
              </a:rPr>
              <a:t>Objective:</a:t>
            </a:r>
            <a:r>
              <a:rPr lang="en-US" sz="1800">
                <a:ea typeface="+mn-lt"/>
                <a:cs typeface="+mn-lt"/>
              </a:rPr>
              <a:t> Classify stolen bicycles into cost categories (Low, Medium, High) based on bike features and theft context.</a:t>
            </a:r>
            <a:endParaRPr lang="en-US" sz="1800">
              <a:ea typeface="Calibri"/>
              <a:cs typeface="Calibri"/>
            </a:endParaRPr>
          </a:p>
          <a:p>
            <a:r>
              <a:rPr lang="en-US" sz="1800" b="1">
                <a:ea typeface="+mn-lt"/>
                <a:cs typeface="+mn-lt"/>
              </a:rPr>
              <a:t>Distance Metric:</a:t>
            </a:r>
            <a:r>
              <a:rPr lang="en-US" sz="1800">
                <a:ea typeface="+mn-lt"/>
                <a:cs typeface="+mn-lt"/>
              </a:rPr>
              <a:t> Euclidean distance is used to measure similarity between data points.</a:t>
            </a:r>
            <a:endParaRPr lang="en-US" sz="1800">
              <a:ea typeface="Calibri"/>
              <a:cs typeface="Calibri"/>
            </a:endParaRPr>
          </a:p>
          <a:p>
            <a:r>
              <a:rPr lang="en-US" sz="1800" b="1">
                <a:ea typeface="+mn-lt"/>
                <a:cs typeface="+mn-lt"/>
              </a:rPr>
              <a:t>Suitability:</a:t>
            </a:r>
            <a:r>
              <a:rPr lang="en-US" sz="1800">
                <a:ea typeface="+mn-lt"/>
                <a:cs typeface="+mn-lt"/>
              </a:rPr>
              <a:t> Ideal for datasets with mixed numerical and categorical features, after conversion, where classification depends on similarity.</a:t>
            </a:r>
            <a:endParaRPr lang="en-US" sz="1800">
              <a:ea typeface="Calibri"/>
              <a:cs typeface="Calibri"/>
            </a:endParaRPr>
          </a:p>
          <a:p>
            <a:endParaRPr lang="en-US" sz="1800">
              <a:ea typeface="Calibri"/>
              <a:cs typeface="Calibri"/>
            </a:endParaRPr>
          </a:p>
        </p:txBody>
      </p:sp>
    </p:spTree>
    <p:extLst>
      <p:ext uri="{BB962C8B-B14F-4D97-AF65-F5344CB8AC3E}">
        <p14:creationId xmlns:p14="http://schemas.microsoft.com/office/powerpoint/2010/main" val="1003999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A817BD-CF69-DE6E-524F-6192C1E501B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6080E2A-72AA-45E7-425B-9407EB960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A64E870F-4BDA-E084-627E-3AD77992B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295EC8E3-2620-356A-0424-11785E103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A92EBAF-8C4C-6A08-5B3D-CE2F4F4F8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B7ED759F-09C9-BB0D-3F58-29A7AEB74E97}"/>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Generate Test Design (</a:t>
            </a:r>
            <a:r>
              <a:rPr lang="en-CA" sz="2800" err="1">
                <a:solidFill>
                  <a:srgbClr val="FFFFFF"/>
                </a:solidFill>
                <a:ea typeface="Calibri"/>
                <a:cs typeface="Calibri"/>
              </a:rPr>
              <a:t>kNN</a:t>
            </a:r>
            <a:r>
              <a:rPr lang="en-CA" sz="2800">
                <a:solidFill>
                  <a:srgbClr val="FFFFFF"/>
                </a:solidFill>
                <a:ea typeface="Calibri"/>
                <a:cs typeface="Calibri"/>
              </a:rPr>
              <a:t>)  </a:t>
            </a:r>
            <a:endParaRPr lang="en-CA" sz="2800">
              <a:solidFill>
                <a:srgbClr val="000000"/>
              </a:solidFill>
              <a:ea typeface="Calibri"/>
              <a:cs typeface="Calibri"/>
            </a:endParaRPr>
          </a:p>
          <a:p>
            <a:endParaRPr lang="en-CA" sz="2800">
              <a:solidFill>
                <a:srgbClr val="FFFFFF"/>
              </a:solidFill>
              <a:ea typeface="Calibri"/>
              <a:cs typeface="Calibri"/>
            </a:endParaRPr>
          </a:p>
        </p:txBody>
      </p:sp>
      <p:sp>
        <p:nvSpPr>
          <p:cNvPr id="3" name="Content Placeholder 2">
            <a:extLst>
              <a:ext uri="{FF2B5EF4-FFF2-40B4-BE49-F238E27FC236}">
                <a16:creationId xmlns:a16="http://schemas.microsoft.com/office/drawing/2014/main" id="{3D1EF866-E88C-94CF-6B84-394358CFA289}"/>
              </a:ext>
            </a:extLst>
          </p:cNvPr>
          <p:cNvSpPr>
            <a:spLocks noGrp="1"/>
          </p:cNvSpPr>
          <p:nvPr>
            <p:ph idx="1"/>
          </p:nvPr>
        </p:nvSpPr>
        <p:spPr>
          <a:xfrm>
            <a:off x="657225" y="2308124"/>
            <a:ext cx="7012154" cy="2679218"/>
          </a:xfrm>
        </p:spPr>
        <p:txBody>
          <a:bodyPr vert="horz" lIns="91440" tIns="45720" rIns="91440" bIns="45720" rtlCol="0" anchor="t">
            <a:noAutofit/>
          </a:bodyPr>
          <a:lstStyle/>
          <a:p>
            <a:r>
              <a:rPr lang="en-US" sz="1800" b="1">
                <a:ea typeface="+mn-lt"/>
                <a:cs typeface="+mn-lt"/>
              </a:rPr>
              <a:t>Testing Method:</a:t>
            </a:r>
            <a:endParaRPr lang="en-US" sz="1800" b="1">
              <a:ea typeface="Calibri"/>
              <a:cs typeface="Calibri"/>
            </a:endParaRPr>
          </a:p>
          <a:p>
            <a:r>
              <a:rPr lang="en-US" sz="1800">
                <a:ea typeface="+mn-lt"/>
                <a:cs typeface="+mn-lt"/>
              </a:rPr>
              <a:t>To find the optimal value for k in the k-NN algorithm, the Optimize Parameters (Grid) operator was used with 10-fold Cross Validation.</a:t>
            </a:r>
            <a:endParaRPr lang="en-US" sz="1800">
              <a:ea typeface="Calibri"/>
              <a:cs typeface="Calibri"/>
            </a:endParaRPr>
          </a:p>
          <a:p>
            <a:r>
              <a:rPr lang="en-US" sz="1800" b="1">
                <a:ea typeface="+mn-lt"/>
                <a:cs typeface="+mn-lt"/>
              </a:rPr>
              <a:t>Steps Followed:</a:t>
            </a:r>
            <a:endParaRPr lang="en-US" sz="1800" b="1">
              <a:ea typeface="Calibri"/>
              <a:cs typeface="Calibri"/>
            </a:endParaRPr>
          </a:p>
          <a:p>
            <a:r>
              <a:rPr lang="en-US" sz="1800">
                <a:ea typeface="+mn-lt"/>
                <a:cs typeface="+mn-lt"/>
              </a:rPr>
              <a:t>Tested k values from 2 to 10 to evaluate the best performance.</a:t>
            </a:r>
            <a:endParaRPr lang="en-US" sz="1800">
              <a:ea typeface="Calibri"/>
              <a:cs typeface="Calibri"/>
            </a:endParaRPr>
          </a:p>
          <a:p>
            <a:r>
              <a:rPr lang="en-US" sz="1800">
                <a:ea typeface="+mn-lt"/>
                <a:cs typeface="+mn-lt"/>
              </a:rPr>
              <a:t>Cross Validation was applied to prevent overfitting and ensure reliable results.</a:t>
            </a:r>
            <a:endParaRPr lang="en-US" sz="1800">
              <a:ea typeface="Calibri"/>
              <a:cs typeface="Calibri"/>
            </a:endParaRPr>
          </a:p>
          <a:p>
            <a:r>
              <a:rPr lang="en-US" sz="1800">
                <a:ea typeface="+mn-lt"/>
                <a:cs typeface="+mn-lt"/>
              </a:rPr>
              <a:t>Evaluated performance using Accuracy as the metric.</a:t>
            </a:r>
            <a:endParaRPr lang="en-US" sz="1800">
              <a:ea typeface="Calibri"/>
              <a:cs typeface="Calibri"/>
            </a:endParaRPr>
          </a:p>
          <a:p>
            <a:r>
              <a:rPr lang="en-US" sz="1800">
                <a:ea typeface="+mn-lt"/>
                <a:cs typeface="+mn-lt"/>
              </a:rPr>
              <a:t>The model with the highest consistent performance across different values of k was selected.</a:t>
            </a:r>
            <a:endParaRPr lang="en-US" sz="1800">
              <a:ea typeface="Calibri"/>
              <a:cs typeface="Calibri"/>
            </a:endParaRPr>
          </a:p>
          <a:p>
            <a:endParaRPr lang="en-US" sz="1800">
              <a:ea typeface="Calibri"/>
              <a:cs typeface="Calibri"/>
            </a:endParaRPr>
          </a:p>
        </p:txBody>
      </p:sp>
    </p:spTree>
    <p:extLst>
      <p:ext uri="{BB962C8B-B14F-4D97-AF65-F5344CB8AC3E}">
        <p14:creationId xmlns:p14="http://schemas.microsoft.com/office/powerpoint/2010/main" val="164125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78CBA1-B4DB-DB29-64B3-04CF36EED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4882F-D069-E908-39AD-B277C50C4A4F}"/>
              </a:ext>
            </a:extLst>
          </p:cNvPr>
          <p:cNvSpPr>
            <a:spLocks noGrp="1"/>
          </p:cNvSpPr>
          <p:nvPr>
            <p:ph type="title"/>
          </p:nvPr>
        </p:nvSpPr>
        <p:spPr>
          <a:xfrm>
            <a:off x="2718116" y="543487"/>
            <a:ext cx="3706573" cy="527104"/>
          </a:xfrm>
        </p:spPr>
        <p:txBody>
          <a:bodyPr anchor="t">
            <a:normAutofit/>
          </a:bodyPr>
          <a:lstStyle/>
          <a:p>
            <a:r>
              <a:rPr lang="en-CA" sz="2800"/>
              <a:t>Build Model (kNN)</a:t>
            </a:r>
          </a:p>
        </p:txBody>
      </p:sp>
      <p:pic>
        <p:nvPicPr>
          <p:cNvPr id="5" name="Picture 4" descr="A screenshot of a computer&#10;&#10;AI-generated content may be incorrect.">
            <a:extLst>
              <a:ext uri="{FF2B5EF4-FFF2-40B4-BE49-F238E27FC236}">
                <a16:creationId xmlns:a16="http://schemas.microsoft.com/office/drawing/2014/main" id="{23A35A83-6624-60D6-2B56-60F113EC1D9A}"/>
              </a:ext>
            </a:extLst>
          </p:cNvPr>
          <p:cNvPicPr>
            <a:picLocks noChangeAspect="1"/>
          </p:cNvPicPr>
          <p:nvPr/>
        </p:nvPicPr>
        <p:blipFill>
          <a:blip r:embed="rId2"/>
          <a:srcRect b="7247"/>
          <a:stretch/>
        </p:blipFill>
        <p:spPr>
          <a:xfrm>
            <a:off x="946856" y="4209607"/>
            <a:ext cx="6998385" cy="2289743"/>
          </a:xfrm>
          <a:prstGeom prst="rect">
            <a:avLst/>
          </a:prstGeom>
        </p:spPr>
      </p:pic>
      <p:sp>
        <p:nvSpPr>
          <p:cNvPr id="3" name="Content Placeholder 2">
            <a:extLst>
              <a:ext uri="{FF2B5EF4-FFF2-40B4-BE49-F238E27FC236}">
                <a16:creationId xmlns:a16="http://schemas.microsoft.com/office/drawing/2014/main" id="{ED1740B6-5214-24A0-8E1A-0D7A347D596F}"/>
              </a:ext>
            </a:extLst>
          </p:cNvPr>
          <p:cNvSpPr>
            <a:spLocks noGrp="1"/>
          </p:cNvSpPr>
          <p:nvPr>
            <p:ph idx="1"/>
          </p:nvPr>
        </p:nvSpPr>
        <p:spPr>
          <a:xfrm>
            <a:off x="380359" y="1056530"/>
            <a:ext cx="8134990" cy="3414962"/>
          </a:xfrm>
        </p:spPr>
        <p:txBody>
          <a:bodyPr vert="horz" lIns="91440" tIns="45720" rIns="91440" bIns="45720" rtlCol="0" anchor="t">
            <a:normAutofit fontScale="92500" lnSpcReduction="10000"/>
          </a:bodyPr>
          <a:lstStyle/>
          <a:p>
            <a:pPr>
              <a:lnSpc>
                <a:spcPct val="90000"/>
              </a:lnSpc>
            </a:pPr>
            <a:r>
              <a:rPr lang="en-US" sz="1300" dirty="0">
                <a:ea typeface="+mn-lt"/>
                <a:cs typeface="+mn-lt"/>
              </a:rPr>
              <a:t>The k-NN classification model was built in RapidMiner using the following process:</a:t>
            </a:r>
            <a:endParaRPr lang="en-US" sz="1300" dirty="0">
              <a:ea typeface="Calibri"/>
              <a:cs typeface="Calibri"/>
            </a:endParaRPr>
          </a:p>
          <a:p>
            <a:pPr>
              <a:lnSpc>
                <a:spcPct val="90000"/>
              </a:lnSpc>
            </a:pPr>
            <a:r>
              <a:rPr lang="en-US" sz="1300" dirty="0">
                <a:ea typeface="+mn-lt"/>
                <a:cs typeface="+mn-lt"/>
              </a:rPr>
              <a:t>k-NN Algorithm:</a:t>
            </a:r>
            <a:endParaRPr lang="en-US" sz="1300" dirty="0">
              <a:ea typeface="Calibri"/>
              <a:cs typeface="Calibri"/>
            </a:endParaRPr>
          </a:p>
          <a:p>
            <a:pPr lvl="1">
              <a:lnSpc>
                <a:spcPct val="90000"/>
              </a:lnSpc>
            </a:pPr>
            <a:r>
              <a:rPr lang="en-US" sz="1300">
                <a:ea typeface="+mn-lt"/>
                <a:cs typeface="+mn-lt"/>
              </a:rPr>
              <a:t>Cross Validation: Used to split the data for training and testing.</a:t>
            </a:r>
            <a:endParaRPr lang="en-US" sz="1300">
              <a:ea typeface="Calibri"/>
              <a:cs typeface="Calibri"/>
            </a:endParaRPr>
          </a:p>
          <a:p>
            <a:pPr lvl="1">
              <a:lnSpc>
                <a:spcPct val="90000"/>
              </a:lnSpc>
            </a:pPr>
            <a:r>
              <a:rPr lang="en-US" sz="1300">
                <a:ea typeface="+mn-lt"/>
                <a:cs typeface="+mn-lt"/>
              </a:rPr>
              <a:t>Optimize Parameters (Grid):</a:t>
            </a:r>
            <a:endParaRPr lang="en-US" sz="1300">
              <a:ea typeface="Calibri"/>
              <a:cs typeface="Calibri"/>
            </a:endParaRPr>
          </a:p>
          <a:p>
            <a:pPr lvl="2">
              <a:lnSpc>
                <a:spcPct val="90000"/>
              </a:lnSpc>
            </a:pPr>
            <a:r>
              <a:rPr lang="en-US" sz="1300" err="1">
                <a:ea typeface="+mn-lt"/>
                <a:cs typeface="+mn-lt"/>
              </a:rPr>
              <a:t>kMin</a:t>
            </a:r>
            <a:r>
              <a:rPr lang="en-US" sz="1300">
                <a:ea typeface="+mn-lt"/>
                <a:cs typeface="+mn-lt"/>
              </a:rPr>
              <a:t>: 2, </a:t>
            </a:r>
            <a:r>
              <a:rPr lang="en-US" sz="1300" err="1">
                <a:ea typeface="+mn-lt"/>
                <a:cs typeface="+mn-lt"/>
              </a:rPr>
              <a:t>kMax</a:t>
            </a:r>
            <a:r>
              <a:rPr lang="en-US" sz="1300">
                <a:ea typeface="+mn-lt"/>
                <a:cs typeface="+mn-lt"/>
              </a:rPr>
              <a:t>: 10</a:t>
            </a:r>
            <a:endParaRPr lang="en-US" sz="1300">
              <a:ea typeface="Calibri"/>
              <a:cs typeface="Calibri"/>
            </a:endParaRPr>
          </a:p>
          <a:p>
            <a:pPr lvl="2">
              <a:lnSpc>
                <a:spcPct val="90000"/>
              </a:lnSpc>
            </a:pPr>
            <a:r>
              <a:rPr lang="en-US" sz="1300">
                <a:ea typeface="+mn-lt"/>
                <a:cs typeface="+mn-lt"/>
              </a:rPr>
              <a:t>Accuracy: Performance metric for evaluation.</a:t>
            </a:r>
            <a:endParaRPr lang="en-US" sz="1300">
              <a:ea typeface="Calibri"/>
              <a:cs typeface="Calibri"/>
            </a:endParaRPr>
          </a:p>
          <a:p>
            <a:pPr>
              <a:lnSpc>
                <a:spcPct val="90000"/>
              </a:lnSpc>
            </a:pPr>
            <a:r>
              <a:rPr lang="en-US" sz="1300">
                <a:ea typeface="+mn-lt"/>
                <a:cs typeface="+mn-lt"/>
              </a:rPr>
              <a:t>Steps:</a:t>
            </a:r>
            <a:endParaRPr lang="en-US" sz="1300">
              <a:ea typeface="Calibri"/>
              <a:cs typeface="Calibri"/>
            </a:endParaRPr>
          </a:p>
          <a:p>
            <a:pPr lvl="1">
              <a:lnSpc>
                <a:spcPct val="90000"/>
              </a:lnSpc>
            </a:pPr>
            <a:r>
              <a:rPr lang="en-US" sz="1300">
                <a:ea typeface="+mn-lt"/>
                <a:cs typeface="+mn-lt"/>
              </a:rPr>
              <a:t>Training:</a:t>
            </a:r>
            <a:endParaRPr lang="en-US" sz="1300">
              <a:ea typeface="Calibri"/>
              <a:cs typeface="Calibri"/>
            </a:endParaRPr>
          </a:p>
          <a:p>
            <a:pPr lvl="2">
              <a:lnSpc>
                <a:spcPct val="90000"/>
              </a:lnSpc>
            </a:pPr>
            <a:r>
              <a:rPr lang="en-US" sz="1300">
                <a:ea typeface="+mn-lt"/>
                <a:cs typeface="+mn-lt"/>
              </a:rPr>
              <a:t>k-NN operator applied on training data.</a:t>
            </a:r>
            <a:endParaRPr lang="en-US" sz="1300">
              <a:ea typeface="Calibri"/>
              <a:cs typeface="Calibri"/>
            </a:endParaRPr>
          </a:p>
          <a:p>
            <a:pPr lvl="2">
              <a:lnSpc>
                <a:spcPct val="90000"/>
              </a:lnSpc>
            </a:pPr>
            <a:r>
              <a:rPr lang="en-US" sz="1300">
                <a:ea typeface="+mn-lt"/>
                <a:cs typeface="+mn-lt"/>
              </a:rPr>
              <a:t>Target attribute: BIKE_COST_CLASS (Low, Medium, High).</a:t>
            </a:r>
            <a:endParaRPr lang="en-US" sz="1300">
              <a:ea typeface="Calibri"/>
              <a:cs typeface="Calibri"/>
            </a:endParaRPr>
          </a:p>
          <a:p>
            <a:pPr lvl="1">
              <a:lnSpc>
                <a:spcPct val="90000"/>
              </a:lnSpc>
            </a:pPr>
            <a:r>
              <a:rPr lang="en-US" sz="1300">
                <a:ea typeface="+mn-lt"/>
                <a:cs typeface="+mn-lt"/>
              </a:rPr>
              <a:t>Testing:</a:t>
            </a:r>
            <a:endParaRPr lang="en-US" sz="1300">
              <a:ea typeface="Calibri"/>
              <a:cs typeface="Calibri"/>
            </a:endParaRPr>
          </a:p>
          <a:p>
            <a:pPr lvl="2">
              <a:lnSpc>
                <a:spcPct val="90000"/>
              </a:lnSpc>
            </a:pPr>
            <a:r>
              <a:rPr lang="en-US" sz="1300">
                <a:ea typeface="+mn-lt"/>
                <a:cs typeface="+mn-lt"/>
              </a:rPr>
              <a:t>Apply model on test data using the Apply Model operator.</a:t>
            </a:r>
            <a:endParaRPr lang="en-US" sz="1300">
              <a:ea typeface="Calibri"/>
              <a:cs typeface="Calibri"/>
            </a:endParaRPr>
          </a:p>
          <a:p>
            <a:pPr lvl="1">
              <a:lnSpc>
                <a:spcPct val="90000"/>
              </a:lnSpc>
            </a:pPr>
            <a:r>
              <a:rPr lang="en-US" sz="1300">
                <a:ea typeface="+mn-lt"/>
                <a:cs typeface="+mn-lt"/>
              </a:rPr>
              <a:t>Evaluation:</a:t>
            </a:r>
            <a:endParaRPr lang="en-US" sz="1300">
              <a:ea typeface="Calibri"/>
              <a:cs typeface="Calibri"/>
            </a:endParaRPr>
          </a:p>
          <a:p>
            <a:pPr lvl="2">
              <a:lnSpc>
                <a:spcPct val="90000"/>
              </a:lnSpc>
            </a:pPr>
            <a:r>
              <a:rPr lang="en-US" sz="1300">
                <a:ea typeface="+mn-lt"/>
                <a:cs typeface="+mn-lt"/>
              </a:rPr>
              <a:t>Performance measured using Accuracy metric.</a:t>
            </a:r>
            <a:endParaRPr lang="en-US" sz="1300">
              <a:ea typeface="Calibri"/>
              <a:cs typeface="Calibri"/>
            </a:endParaRPr>
          </a:p>
          <a:p>
            <a:pPr>
              <a:lnSpc>
                <a:spcPct val="90000"/>
              </a:lnSpc>
            </a:pPr>
            <a:r>
              <a:rPr lang="en-US" sz="1300">
                <a:ea typeface="+mn-lt"/>
                <a:cs typeface="+mn-lt"/>
              </a:rPr>
              <a:t>Process Diagram:</a:t>
            </a:r>
            <a:endParaRPr lang="en-US" sz="1300">
              <a:ea typeface="Calibri"/>
              <a:cs typeface="Calibri"/>
            </a:endParaRPr>
          </a:p>
          <a:p>
            <a:pPr lvl="1">
              <a:lnSpc>
                <a:spcPct val="90000"/>
              </a:lnSpc>
            </a:pPr>
            <a:r>
              <a:rPr lang="en-US" sz="1300">
                <a:ea typeface="+mn-lt"/>
                <a:cs typeface="+mn-lt"/>
              </a:rPr>
              <a:t>Training: k-NN and Cross Validation.</a:t>
            </a:r>
            <a:endParaRPr lang="en-US" sz="1300">
              <a:ea typeface="Calibri"/>
              <a:cs typeface="Calibri"/>
            </a:endParaRPr>
          </a:p>
          <a:p>
            <a:pPr lvl="1">
              <a:lnSpc>
                <a:spcPct val="90000"/>
              </a:lnSpc>
            </a:pPr>
            <a:r>
              <a:rPr lang="en-US" sz="1300">
                <a:ea typeface="+mn-lt"/>
                <a:cs typeface="+mn-lt"/>
              </a:rPr>
              <a:t>Testing: Apply Model and Performance Evaluation.</a:t>
            </a:r>
            <a:endParaRPr lang="en-US" sz="1300">
              <a:ea typeface="Calibri"/>
              <a:cs typeface="Calibri"/>
            </a:endParaRPr>
          </a:p>
          <a:p>
            <a:pPr>
              <a:lnSpc>
                <a:spcPct val="90000"/>
              </a:lnSpc>
            </a:pPr>
            <a:endParaRPr lang="en-US" sz="1300">
              <a:ea typeface="Calibri"/>
              <a:cs typeface="Calibri"/>
            </a:endParaRPr>
          </a:p>
        </p:txBody>
      </p:sp>
      <p:grpSp>
        <p:nvGrpSpPr>
          <p:cNvPr id="10" name="Group 9">
            <a:extLst>
              <a:ext uri="{FF2B5EF4-FFF2-40B4-BE49-F238E27FC236}">
                <a16:creationId xmlns:a16="http://schemas.microsoft.com/office/drawing/2014/main" id="{7D2D829D-2830-5F07-E40B-C351944AB1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051478" y="0"/>
            <a:ext cx="92522" cy="6858000"/>
            <a:chOff x="12068638" y="0"/>
            <a:chExt cx="123362" cy="6858000"/>
          </a:xfrm>
        </p:grpSpPr>
        <p:sp>
          <p:nvSpPr>
            <p:cNvPr id="11" name="Rectangle 10">
              <a:extLst>
                <a:ext uri="{FF2B5EF4-FFF2-40B4-BE49-F238E27FC236}">
                  <a16:creationId xmlns:a16="http://schemas.microsoft.com/office/drawing/2014/main" id="{521FC5EF-435E-F74E-11C5-A935C7066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F3CE81-94AA-585B-379D-CB757AFCC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63094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369E94-F079-F744-D887-9B2D86F3E24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F5227A3-7CF2-B247-186E-E9A889CE80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445CC5F2-5D2A-2C50-780F-53C862C70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A9454F9F-08C6-05A1-EA59-37004A8A9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EB932FF6-D8C1-B356-A6B1-328E7AE280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5D90241-8B25-E7C7-0EF5-FD19E726751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Access Model/Interpretation (kNN)</a:t>
            </a:r>
          </a:p>
        </p:txBody>
      </p:sp>
      <p:sp>
        <p:nvSpPr>
          <p:cNvPr id="3" name="Content Placeholder 2">
            <a:extLst>
              <a:ext uri="{FF2B5EF4-FFF2-40B4-BE49-F238E27FC236}">
                <a16:creationId xmlns:a16="http://schemas.microsoft.com/office/drawing/2014/main" id="{B67D0CDE-ED2C-D55F-4256-932242E11670}"/>
              </a:ext>
            </a:extLst>
          </p:cNvPr>
          <p:cNvSpPr>
            <a:spLocks noGrp="1"/>
          </p:cNvSpPr>
          <p:nvPr>
            <p:ph idx="1"/>
          </p:nvPr>
        </p:nvSpPr>
        <p:spPr>
          <a:xfrm>
            <a:off x="1112356" y="1718522"/>
            <a:ext cx="6932105" cy="4551083"/>
          </a:xfrm>
        </p:spPr>
        <p:txBody>
          <a:bodyPr vert="horz" lIns="91440" tIns="45720" rIns="91440" bIns="45720" rtlCol="0" anchor="t">
            <a:noAutofit/>
          </a:bodyPr>
          <a:lstStyle/>
          <a:p>
            <a:r>
              <a:rPr lang="en-US" sz="1600">
                <a:ea typeface="+mn-lt"/>
                <a:cs typeface="+mn-lt"/>
              </a:rPr>
              <a:t>Accuracy:</a:t>
            </a:r>
            <a:br>
              <a:rPr lang="en-US" sz="1600">
                <a:ea typeface="+mn-lt"/>
                <a:cs typeface="+mn-lt"/>
              </a:rPr>
            </a:br>
            <a:r>
              <a:rPr lang="en-US" sz="1600">
                <a:ea typeface="+mn-lt"/>
                <a:cs typeface="+mn-lt"/>
              </a:rPr>
              <a:t> The k-NN model achieved an accuracy of 45.07%, which is a moderate performance when predicting the bike theft categories (Low, Medium, High). This shows the overall success of the model in correctly classifying theft cases based on the features.</a:t>
            </a:r>
            <a:endParaRPr lang="en-US" sz="1600">
              <a:ea typeface="Calibri"/>
              <a:cs typeface="Calibri"/>
            </a:endParaRPr>
          </a:p>
          <a:p>
            <a:r>
              <a:rPr lang="en-US" sz="1600">
                <a:ea typeface="+mn-lt"/>
                <a:cs typeface="+mn-lt"/>
              </a:rPr>
              <a:t>Precision and Recall (by Class):</a:t>
            </a:r>
            <a:endParaRPr lang="en-US" sz="1600">
              <a:ea typeface="Calibri"/>
              <a:cs typeface="Calibri"/>
            </a:endParaRPr>
          </a:p>
          <a:p>
            <a:r>
              <a:rPr lang="en-US" sz="1600">
                <a:ea typeface="+mn-lt"/>
                <a:cs typeface="+mn-lt"/>
              </a:rPr>
              <a:t>Medium Class:</a:t>
            </a:r>
            <a:endParaRPr lang="en-US" sz="1600">
              <a:ea typeface="Calibri"/>
              <a:cs typeface="Calibri"/>
            </a:endParaRPr>
          </a:p>
          <a:p>
            <a:pPr lvl="1"/>
            <a:r>
              <a:rPr lang="en-US" sz="1600">
                <a:ea typeface="+mn-lt"/>
                <a:cs typeface="+mn-lt"/>
              </a:rPr>
              <a:t>Recall: 62.10%, meaning that 62.10% of the actual medium-cost bikes were correctly identified. This shows the model is relatively good at identifying medium-cost bikes.</a:t>
            </a:r>
            <a:endParaRPr lang="en-US" sz="1600">
              <a:ea typeface="Calibri"/>
              <a:cs typeface="Calibri"/>
            </a:endParaRPr>
          </a:p>
          <a:p>
            <a:pPr lvl="1"/>
            <a:r>
              <a:rPr lang="en-US" sz="1600">
                <a:ea typeface="+mn-lt"/>
                <a:cs typeface="+mn-lt"/>
              </a:rPr>
              <a:t>Precision: 44.60%, indicating that when the model predicted a bike as medium-cost, it was correct 44.60% of the time.</a:t>
            </a:r>
            <a:endParaRPr lang="en-US" sz="1600">
              <a:ea typeface="Calibri"/>
              <a:cs typeface="Calibri"/>
            </a:endParaRPr>
          </a:p>
          <a:p>
            <a:r>
              <a:rPr lang="en-US" sz="1600">
                <a:ea typeface="+mn-lt"/>
                <a:cs typeface="+mn-lt"/>
              </a:rPr>
              <a:t>High Class:</a:t>
            </a:r>
            <a:endParaRPr lang="en-US" sz="1600">
              <a:ea typeface="Calibri"/>
              <a:cs typeface="Calibri"/>
            </a:endParaRPr>
          </a:p>
          <a:p>
            <a:pPr lvl="1"/>
            <a:r>
              <a:rPr lang="en-US" sz="1600">
                <a:ea typeface="+mn-lt"/>
                <a:cs typeface="+mn-lt"/>
              </a:rPr>
              <a:t>Precision: 51.77%, showing that when predicting high-cost bikes, the model was accurate 51.77% of the time.</a:t>
            </a:r>
            <a:endParaRPr lang="en-US" sz="1600">
              <a:ea typeface="Calibri"/>
              <a:cs typeface="Calibri"/>
            </a:endParaRPr>
          </a:p>
          <a:p>
            <a:pPr lvl="1"/>
            <a:r>
              <a:rPr lang="en-US" sz="1600">
                <a:ea typeface="+mn-lt"/>
                <a:cs typeface="+mn-lt"/>
              </a:rPr>
              <a:t>Recall: 39.84%, meaning that 39.84% of the actual high-cost bikes were correctly predicted.</a:t>
            </a:r>
            <a:endParaRPr lang="en-US" sz="1600">
              <a:ea typeface="Calibri"/>
              <a:cs typeface="Calibri"/>
            </a:endParaRPr>
          </a:p>
          <a:p>
            <a:endParaRPr lang="en-US" sz="1600">
              <a:ea typeface="Calibri"/>
              <a:cs typeface="Calibri"/>
            </a:endParaRPr>
          </a:p>
        </p:txBody>
      </p:sp>
    </p:spTree>
    <p:extLst>
      <p:ext uri="{BB962C8B-B14F-4D97-AF65-F5344CB8AC3E}">
        <p14:creationId xmlns:p14="http://schemas.microsoft.com/office/powerpoint/2010/main" val="34675270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2885ED-FBF8-7D3D-B2BE-59F2617487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46133-B5C6-6CD4-242F-41ADD3E528DD}"/>
              </a:ext>
            </a:extLst>
          </p:cNvPr>
          <p:cNvSpPr>
            <a:spLocks noGrp="1"/>
          </p:cNvSpPr>
          <p:nvPr>
            <p:ph type="title"/>
          </p:nvPr>
        </p:nvSpPr>
        <p:spPr>
          <a:xfrm>
            <a:off x="360759" y="3752849"/>
            <a:ext cx="2468166" cy="2452687"/>
          </a:xfrm>
        </p:spPr>
        <p:txBody>
          <a:bodyPr anchor="ctr">
            <a:normAutofit/>
          </a:bodyPr>
          <a:lstStyle/>
          <a:p>
            <a:r>
              <a:rPr lang="en-CA" sz="1900"/>
              <a:t>Access Model/Interpretation (kNN)</a:t>
            </a:r>
          </a:p>
        </p:txBody>
      </p:sp>
      <p:pic>
        <p:nvPicPr>
          <p:cNvPr id="6" name="Picture 5" descr="A screenshot of a computer&#10;&#10;AI-generated content may be incorrect.">
            <a:extLst>
              <a:ext uri="{FF2B5EF4-FFF2-40B4-BE49-F238E27FC236}">
                <a16:creationId xmlns:a16="http://schemas.microsoft.com/office/drawing/2014/main" id="{F10F9057-052D-D36B-5500-77DE56E5E1F0}"/>
              </a:ext>
            </a:extLst>
          </p:cNvPr>
          <p:cNvPicPr>
            <a:picLocks noChangeAspect="1"/>
          </p:cNvPicPr>
          <p:nvPr/>
        </p:nvPicPr>
        <p:blipFill>
          <a:blip r:embed="rId2"/>
          <a:srcRect b="6713"/>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5" name="Content Placeholder 4">
            <a:extLst>
              <a:ext uri="{FF2B5EF4-FFF2-40B4-BE49-F238E27FC236}">
                <a16:creationId xmlns:a16="http://schemas.microsoft.com/office/drawing/2014/main" id="{68C697C6-8892-A3F2-56E1-64420562CE6B}"/>
              </a:ext>
            </a:extLst>
          </p:cNvPr>
          <p:cNvSpPr>
            <a:spLocks noGrp="1"/>
          </p:cNvSpPr>
          <p:nvPr>
            <p:ph idx="1"/>
          </p:nvPr>
        </p:nvSpPr>
        <p:spPr>
          <a:xfrm>
            <a:off x="3167986" y="3752850"/>
            <a:ext cx="5614060" cy="2452687"/>
          </a:xfrm>
        </p:spPr>
        <p:txBody>
          <a:bodyPr vert="horz" lIns="91440" tIns="45720" rIns="91440" bIns="45720" rtlCol="0" anchor="ctr">
            <a:normAutofit/>
          </a:bodyPr>
          <a:lstStyle/>
          <a:p>
            <a:pPr>
              <a:lnSpc>
                <a:spcPct val="90000"/>
              </a:lnSpc>
            </a:pPr>
            <a:r>
              <a:rPr lang="en-US" sz="1200">
                <a:ea typeface="Calibri"/>
                <a:cs typeface="Calibri"/>
              </a:rPr>
              <a:t>Low Class:</a:t>
            </a:r>
          </a:p>
          <a:p>
            <a:pPr lvl="1">
              <a:lnSpc>
                <a:spcPct val="90000"/>
              </a:lnSpc>
            </a:pPr>
            <a:r>
              <a:rPr lang="en-US" sz="1200">
                <a:ea typeface="Calibri"/>
                <a:cs typeface="Calibri"/>
              </a:rPr>
              <a:t>Precision: 37.61%, meaning that only 37.61% of the low-cost bike predictions were accurate.</a:t>
            </a:r>
          </a:p>
          <a:p>
            <a:pPr lvl="1">
              <a:lnSpc>
                <a:spcPct val="90000"/>
              </a:lnSpc>
            </a:pPr>
            <a:r>
              <a:rPr lang="en-US" sz="1200">
                <a:ea typeface="Calibri"/>
                <a:cs typeface="Calibri"/>
              </a:rPr>
              <a:t>Recall: 25.49%, indicating the model had difficulty correctly predicting low-cost bikes, with only 25.49% of the actual low-cost bikes identified.</a:t>
            </a:r>
          </a:p>
          <a:p>
            <a:pPr lvl="1">
              <a:lnSpc>
                <a:spcPct val="90000"/>
              </a:lnSpc>
            </a:pPr>
            <a:r>
              <a:rPr lang="en-US" sz="1200">
                <a:ea typeface="Calibri"/>
                <a:cs typeface="Calibri"/>
              </a:rPr>
              <a:t>Confusion Matrix:</a:t>
            </a:r>
            <a:br>
              <a:rPr lang="en-US" sz="1200">
                <a:ea typeface="Calibri"/>
                <a:cs typeface="Calibri"/>
              </a:rPr>
            </a:br>
            <a:r>
              <a:rPr lang="en-US" sz="1200">
                <a:ea typeface="Calibri"/>
                <a:cs typeface="Calibri"/>
              </a:rPr>
              <a:t> The confusion matrix provides a deeper view of how well the k-NN model is performing by showing where misclassifications occurred. For instance, a large number of low-cost bikes were misclassified as medium-cost, leading to lower performance in low-cost bike classification.</a:t>
            </a:r>
          </a:p>
          <a:p>
            <a:pPr marL="457200" lvl="1" indent="0">
              <a:lnSpc>
                <a:spcPct val="90000"/>
              </a:lnSpc>
              <a:buNone/>
            </a:pPr>
            <a:endParaRPr lang="en-US" sz="1200">
              <a:ea typeface="Calibri"/>
              <a:cs typeface="Calibri"/>
            </a:endParaRPr>
          </a:p>
          <a:p>
            <a:pPr>
              <a:lnSpc>
                <a:spcPct val="90000"/>
              </a:lnSpc>
            </a:pPr>
            <a:endParaRPr lang="en-US" sz="1200">
              <a:ea typeface="Calibri"/>
              <a:cs typeface="Calibri"/>
            </a:endParaRPr>
          </a:p>
          <a:p>
            <a:pPr>
              <a:lnSpc>
                <a:spcPct val="90000"/>
              </a:lnSpc>
            </a:pPr>
            <a:endParaRPr lang="en-US" sz="1200">
              <a:ea typeface="Calibri"/>
              <a:cs typeface="Calibri"/>
            </a:endParaRPr>
          </a:p>
        </p:txBody>
      </p:sp>
    </p:spTree>
    <p:extLst>
      <p:ext uri="{BB962C8B-B14F-4D97-AF65-F5344CB8AC3E}">
        <p14:creationId xmlns:p14="http://schemas.microsoft.com/office/powerpoint/2010/main" val="2018712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EB7E2F-CD0F-E3A4-D374-536CC26889C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D7822DE-87E8-19D5-89AC-A7C3B4DB34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3CC4BF6A-8CD9-42E7-0D1F-DD7E6A60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3B64EB1-9BD0-13C2-A2CA-31045610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7AF34B1B-B4A3-ACFD-590A-470DE7206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A3CC46FF-5537-9569-C298-F05FFB085EB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6.0 Discussion of Results [kNN]</a:t>
            </a:r>
          </a:p>
        </p:txBody>
      </p:sp>
      <p:sp>
        <p:nvSpPr>
          <p:cNvPr id="3" name="Content Placeholder 2">
            <a:extLst>
              <a:ext uri="{FF2B5EF4-FFF2-40B4-BE49-F238E27FC236}">
                <a16:creationId xmlns:a16="http://schemas.microsoft.com/office/drawing/2014/main" id="{84078C99-24AC-1C61-B8F2-F50089816819}"/>
              </a:ext>
            </a:extLst>
          </p:cNvPr>
          <p:cNvSpPr>
            <a:spLocks noGrp="1"/>
          </p:cNvSpPr>
          <p:nvPr>
            <p:ph idx="1"/>
          </p:nvPr>
        </p:nvSpPr>
        <p:spPr>
          <a:xfrm>
            <a:off x="975010" y="2082599"/>
            <a:ext cx="6140809" cy="3673576"/>
          </a:xfrm>
        </p:spPr>
        <p:txBody>
          <a:bodyPr vert="horz" lIns="91440" tIns="45720" rIns="91440" bIns="45720" rtlCol="0" anchor="t">
            <a:normAutofit fontScale="92500" lnSpcReduction="20000"/>
          </a:bodyPr>
          <a:lstStyle/>
          <a:p>
            <a:r>
              <a:rPr lang="en-US" sz="1800" b="1">
                <a:ea typeface="+mn-lt"/>
                <a:cs typeface="+mn-lt"/>
              </a:rPr>
              <a:t>Model Outputs vs. Business Goals</a:t>
            </a:r>
            <a:endParaRPr lang="en-US" sz="1800" b="1">
              <a:ea typeface="Calibri"/>
              <a:cs typeface="Calibri"/>
            </a:endParaRPr>
          </a:p>
          <a:p>
            <a:r>
              <a:rPr lang="en-US" sz="1800">
                <a:ea typeface="+mn-lt"/>
                <a:cs typeface="+mn-lt"/>
              </a:rPr>
              <a:t>k-NN model successfully identified high-risk areas and peak theft times.</a:t>
            </a:r>
            <a:endParaRPr lang="en-US" sz="1800">
              <a:ea typeface="Calibri"/>
              <a:cs typeface="Calibri"/>
            </a:endParaRPr>
          </a:p>
          <a:p>
            <a:r>
              <a:rPr lang="en-US" sz="1800">
                <a:ea typeface="+mn-lt"/>
                <a:cs typeface="+mn-lt"/>
              </a:rPr>
              <a:t>Classified bikes into Low, Medium, and High cost categories, aligning with crime prevention goals.</a:t>
            </a:r>
            <a:endParaRPr lang="en-US" sz="1800">
              <a:ea typeface="Calibri"/>
              <a:cs typeface="Calibri"/>
            </a:endParaRPr>
          </a:p>
          <a:p>
            <a:r>
              <a:rPr lang="en-US" sz="1800">
                <a:ea typeface="+mn-lt"/>
                <a:cs typeface="+mn-lt"/>
              </a:rPr>
              <a:t>Outputs support effective resource allocation to high-risk zones.</a:t>
            </a:r>
            <a:br>
              <a:rPr lang="en-US"/>
            </a:br>
            <a:endParaRPr lang="en-US" sz="1800">
              <a:ea typeface="Calibri"/>
              <a:cs typeface="Calibri"/>
            </a:endParaRPr>
          </a:p>
          <a:p>
            <a:r>
              <a:rPr lang="en-US" sz="1800" b="1">
                <a:ea typeface="+mn-lt"/>
                <a:cs typeface="+mn-lt"/>
              </a:rPr>
              <a:t>Key Metrics</a:t>
            </a:r>
            <a:endParaRPr lang="en-US" sz="1800" b="1">
              <a:ea typeface="Calibri"/>
              <a:cs typeface="Calibri"/>
            </a:endParaRPr>
          </a:p>
          <a:p>
            <a:r>
              <a:rPr lang="en-US" sz="1800">
                <a:ea typeface="+mn-lt"/>
                <a:cs typeface="+mn-lt"/>
              </a:rPr>
              <a:t>Precision (High-cost bikes): 51.77% precision, accurately identifying high-value bikes likely to be stolen.</a:t>
            </a:r>
            <a:endParaRPr lang="en-US" sz="1800">
              <a:ea typeface="Calibri"/>
              <a:cs typeface="Calibri"/>
            </a:endParaRPr>
          </a:p>
          <a:p>
            <a:r>
              <a:rPr lang="en-US" sz="1800">
                <a:ea typeface="+mn-lt"/>
                <a:cs typeface="+mn-lt"/>
              </a:rPr>
              <a:t>Recall (Medium-cost bikes): 62.10% recall, successfully identifying most medium-cost thefts, aiding prevention efforts.</a:t>
            </a:r>
            <a:endParaRPr lang="en-US" sz="1800">
              <a:ea typeface="Calibri"/>
              <a:cs typeface="Calibri"/>
            </a:endParaRPr>
          </a:p>
          <a:p>
            <a:r>
              <a:rPr lang="en-US" sz="1800">
                <a:ea typeface="+mn-lt"/>
                <a:cs typeface="+mn-lt"/>
              </a:rPr>
              <a:t>Recall (Low-cost bikes): 25.49% recall, struggling to identify low-cost bike thefts, highlighting the need for further model refinement.</a:t>
            </a:r>
            <a:endParaRPr lang="en-US" sz="1800">
              <a:ea typeface="Calibri"/>
              <a:cs typeface="Calibri"/>
            </a:endParaRPr>
          </a:p>
          <a:p>
            <a:endParaRPr lang="en-US" sz="1800">
              <a:ea typeface="Calibri"/>
              <a:cs typeface="Calibri"/>
            </a:endParaRPr>
          </a:p>
        </p:txBody>
      </p:sp>
    </p:spTree>
    <p:extLst>
      <p:ext uri="{BB962C8B-B14F-4D97-AF65-F5344CB8AC3E}">
        <p14:creationId xmlns:p14="http://schemas.microsoft.com/office/powerpoint/2010/main" val="840450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A183E2-86E8-BCE1-E1D3-4B16E0C4D6E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DF5AA2A-0302-0B41-97F6-A3CDED9C59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F91C3F90-5BC5-0CFF-55DA-BB36ABAA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D3269CE5-589F-D9FA-23B0-6905DB38F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D8A63348-3E39-C9E9-112F-37964D2CE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DC5AC77F-452B-6921-252B-6769A077D12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a:t>
            </a:r>
            <a:r>
              <a:rPr lang="en-CA" sz="2800" err="1">
                <a:solidFill>
                  <a:srgbClr val="FFFFFF"/>
                </a:solidFill>
                <a:ea typeface="Calibri"/>
                <a:cs typeface="Calibri"/>
              </a:rPr>
              <a:t>kNN</a:t>
            </a:r>
            <a:r>
              <a:rPr lang="en-CA" sz="2800">
                <a:solidFill>
                  <a:srgbClr val="FFFFFF"/>
                </a:solidFill>
                <a:ea typeface="Calibri"/>
                <a:cs typeface="Calibri"/>
              </a:rPr>
              <a:t>)</a:t>
            </a:r>
            <a:endParaRPr lang="en-CA" sz="2800">
              <a:solidFill>
                <a:srgbClr val="000000"/>
              </a:solidFill>
              <a:ea typeface="Calibri"/>
              <a:cs typeface="Calibri"/>
            </a:endParaRPr>
          </a:p>
          <a:p>
            <a:endParaRPr lang="en-CA" sz="2800">
              <a:solidFill>
                <a:srgbClr val="FFFFFF"/>
              </a:solidFill>
              <a:ea typeface="Calibri"/>
              <a:cs typeface="Calibri"/>
            </a:endParaRPr>
          </a:p>
        </p:txBody>
      </p:sp>
      <p:sp>
        <p:nvSpPr>
          <p:cNvPr id="3" name="Content Placeholder 2">
            <a:extLst>
              <a:ext uri="{FF2B5EF4-FFF2-40B4-BE49-F238E27FC236}">
                <a16:creationId xmlns:a16="http://schemas.microsoft.com/office/drawing/2014/main" id="{5EBC608D-C7C9-3E44-EFDA-73CEDC4AA855}"/>
              </a:ext>
            </a:extLst>
          </p:cNvPr>
          <p:cNvSpPr>
            <a:spLocks noGrp="1"/>
          </p:cNvSpPr>
          <p:nvPr>
            <p:ph idx="1"/>
          </p:nvPr>
        </p:nvSpPr>
        <p:spPr>
          <a:xfrm>
            <a:off x="975010" y="1703308"/>
            <a:ext cx="6140809" cy="4052867"/>
          </a:xfrm>
        </p:spPr>
        <p:txBody>
          <a:bodyPr vert="horz" lIns="91440" tIns="45720" rIns="91440" bIns="45720" rtlCol="0" anchor="t">
            <a:normAutofit/>
          </a:bodyPr>
          <a:lstStyle/>
          <a:p>
            <a:r>
              <a:rPr lang="en-US" sz="1800" b="1">
                <a:ea typeface="+mn-lt"/>
                <a:cs typeface="+mn-lt"/>
              </a:rPr>
              <a:t>Division Analysis (High-Density Areas)</a:t>
            </a:r>
            <a:r>
              <a:rPr lang="en-US" sz="1800">
                <a:ea typeface="+mn-lt"/>
                <a:cs typeface="+mn-lt"/>
              </a:rPr>
              <a:t>:</a:t>
            </a:r>
            <a:endParaRPr lang="en-US" sz="1800" b="1">
              <a:ea typeface="Calibri"/>
              <a:cs typeface="Calibri"/>
            </a:endParaRPr>
          </a:p>
          <a:p>
            <a:endParaRPr lang="en-US" sz="1800">
              <a:ea typeface="Calibri"/>
              <a:cs typeface="Calibri"/>
            </a:endParaRPr>
          </a:p>
          <a:p>
            <a:endParaRPr lang="en-US" sz="1800" b="1">
              <a:ea typeface="Calibri"/>
              <a:cs typeface="Calibri"/>
            </a:endParaRPr>
          </a:p>
          <a:p>
            <a:pPr marL="0" indent="0">
              <a:buNone/>
            </a:pPr>
            <a:endParaRPr lang="en-US" sz="1800" b="1">
              <a:ea typeface="Calibri"/>
              <a:cs typeface="Calibri"/>
            </a:endParaRPr>
          </a:p>
        </p:txBody>
      </p:sp>
      <p:pic>
        <p:nvPicPr>
          <p:cNvPr id="4" name="Picture 3" descr="A screenshot of a graph&#10;&#10;AI-generated content may be incorrect.">
            <a:extLst>
              <a:ext uri="{FF2B5EF4-FFF2-40B4-BE49-F238E27FC236}">
                <a16:creationId xmlns:a16="http://schemas.microsoft.com/office/drawing/2014/main" id="{92A3B6B2-9034-0243-ECF1-8304B989701F}"/>
              </a:ext>
            </a:extLst>
          </p:cNvPr>
          <p:cNvPicPr>
            <a:picLocks noChangeAspect="1"/>
          </p:cNvPicPr>
          <p:nvPr/>
        </p:nvPicPr>
        <p:blipFill>
          <a:blip r:embed="rId2"/>
          <a:stretch>
            <a:fillRect/>
          </a:stretch>
        </p:blipFill>
        <p:spPr>
          <a:xfrm>
            <a:off x="833332" y="2227846"/>
            <a:ext cx="6831517" cy="3212146"/>
          </a:xfrm>
          <a:prstGeom prst="rect">
            <a:avLst/>
          </a:prstGeom>
        </p:spPr>
      </p:pic>
      <p:sp>
        <p:nvSpPr>
          <p:cNvPr id="5" name="TextBox 4">
            <a:extLst>
              <a:ext uri="{FF2B5EF4-FFF2-40B4-BE49-F238E27FC236}">
                <a16:creationId xmlns:a16="http://schemas.microsoft.com/office/drawing/2014/main" id="{324A7AAD-84D3-723C-A902-339D7B7FEEA1}"/>
              </a:ext>
            </a:extLst>
          </p:cNvPr>
          <p:cNvSpPr txBox="1"/>
          <p:nvPr/>
        </p:nvSpPr>
        <p:spPr>
          <a:xfrm>
            <a:off x="832391" y="5455646"/>
            <a:ext cx="718193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High-risk divisions like D51, D52, and D14 in downtown Toronto consistently recorded the highest thefts across all cost categories. These areas are high-traffic zones, which increases theft opportunities. The presence of valuable bikes in these areas further amplifies the likelihood of theft, making these divisions key focus areas for crime prevention.</a:t>
            </a:r>
            <a:endParaRPr lang="en-US" sz="1400">
              <a:ea typeface="Calibri"/>
              <a:cs typeface="Calibri"/>
            </a:endParaRPr>
          </a:p>
        </p:txBody>
      </p:sp>
    </p:spTree>
    <p:extLst>
      <p:ext uri="{BB962C8B-B14F-4D97-AF65-F5344CB8AC3E}">
        <p14:creationId xmlns:p14="http://schemas.microsoft.com/office/powerpoint/2010/main" val="2657314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111FC-EF9B-4404-65BC-2DD6E899093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BFE79AB-71F2-1E52-0116-060CE5F589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38EF33F4-4A33-2528-1D19-6C44FE1A2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AD75EEA6-3121-5F36-239B-E180AC0DB9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5F1FAE86-E85C-55F1-095C-A57D28C0E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AF4C0700-C006-9413-D950-B23B9ED29DC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a:t>
            </a:r>
            <a:r>
              <a:rPr lang="en-CA" sz="2800" err="1">
                <a:solidFill>
                  <a:srgbClr val="FFFFFF"/>
                </a:solidFill>
                <a:ea typeface="Calibri"/>
                <a:cs typeface="Calibri"/>
              </a:rPr>
              <a:t>kNN</a:t>
            </a:r>
            <a:r>
              <a:rPr lang="en-CA" sz="2800">
                <a:solidFill>
                  <a:srgbClr val="FFFFFF"/>
                </a:solidFill>
                <a:ea typeface="Calibri"/>
                <a:cs typeface="Calibri"/>
              </a:rPr>
              <a:t>)</a:t>
            </a:r>
            <a:endParaRPr lang="en-US"/>
          </a:p>
        </p:txBody>
      </p:sp>
      <p:sp>
        <p:nvSpPr>
          <p:cNvPr id="3" name="Content Placeholder 2">
            <a:extLst>
              <a:ext uri="{FF2B5EF4-FFF2-40B4-BE49-F238E27FC236}">
                <a16:creationId xmlns:a16="http://schemas.microsoft.com/office/drawing/2014/main" id="{5BB22D4F-CB95-B5B3-318E-B8E385F6D2C0}"/>
              </a:ext>
            </a:extLst>
          </p:cNvPr>
          <p:cNvSpPr>
            <a:spLocks noGrp="1"/>
          </p:cNvSpPr>
          <p:nvPr>
            <p:ph idx="1"/>
          </p:nvPr>
        </p:nvSpPr>
        <p:spPr>
          <a:xfrm>
            <a:off x="657225" y="1714212"/>
            <a:ext cx="7858125" cy="5018281"/>
          </a:xfrm>
        </p:spPr>
        <p:txBody>
          <a:bodyPr vert="horz" lIns="91440" tIns="45720" rIns="91440" bIns="45720" rtlCol="0" anchor="t">
            <a:normAutofit/>
          </a:bodyPr>
          <a:lstStyle/>
          <a:p>
            <a:r>
              <a:rPr lang="en-US" sz="1800" b="1">
                <a:ea typeface="+mn-lt"/>
                <a:cs typeface="+mn-lt"/>
              </a:rPr>
              <a:t>Bike Type Trends</a:t>
            </a:r>
            <a:r>
              <a:rPr lang="en-US" sz="1800">
                <a:ea typeface="+mn-lt"/>
                <a:cs typeface="+mn-lt"/>
              </a:rPr>
              <a:t>:</a:t>
            </a: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r>
              <a:rPr lang="en-US" sz="1400">
                <a:ea typeface="+mn-lt"/>
                <a:cs typeface="+mn-lt"/>
              </a:rPr>
              <a:t>Mountain Bikes (MT) and Road/Gravel Bikes (RG) were the most frequently stolen types, especially in the High and Medium-cost categories. These bikes dominate thefts during peak seasons, such as Summer, showing that bike type is a strong indicator of theft risk. This emphasizes the importance of incorporating bike type as a key feature in the model, as certain types of bikes are more likely to be targeted.</a:t>
            </a:r>
            <a:endParaRPr lang="en-US" sz="1400">
              <a:ea typeface="Calibri"/>
              <a:cs typeface="Calibri"/>
            </a:endParaRPr>
          </a:p>
        </p:txBody>
      </p:sp>
      <p:pic>
        <p:nvPicPr>
          <p:cNvPr id="4" name="Picture 3" descr="A screenshot of a graph&#10;&#10;AI-generated content may be incorrect.">
            <a:extLst>
              <a:ext uri="{FF2B5EF4-FFF2-40B4-BE49-F238E27FC236}">
                <a16:creationId xmlns:a16="http://schemas.microsoft.com/office/drawing/2014/main" id="{EAA47F0D-688B-487B-3298-2B542D8DAE87}"/>
              </a:ext>
            </a:extLst>
          </p:cNvPr>
          <p:cNvPicPr>
            <a:picLocks noChangeAspect="1"/>
          </p:cNvPicPr>
          <p:nvPr/>
        </p:nvPicPr>
        <p:blipFill>
          <a:blip r:embed="rId2"/>
          <a:stretch>
            <a:fillRect/>
          </a:stretch>
        </p:blipFill>
        <p:spPr>
          <a:xfrm>
            <a:off x="1014131" y="1986523"/>
            <a:ext cx="7115737" cy="3310779"/>
          </a:xfrm>
          <a:prstGeom prst="rect">
            <a:avLst/>
          </a:prstGeom>
        </p:spPr>
      </p:pic>
    </p:spTree>
    <p:extLst>
      <p:ext uri="{BB962C8B-B14F-4D97-AF65-F5344CB8AC3E}">
        <p14:creationId xmlns:p14="http://schemas.microsoft.com/office/powerpoint/2010/main" val="55291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7ECB0-7012-FB28-78D9-B0BB310B91CA}"/>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FB830CA-B80B-4941-37DD-A3E31C94DC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7F5A1477-63E0-76DD-50FB-5FA8761A85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FD016260-CA83-3D4E-40BE-CD0113B6B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2D5E7C53-0651-19FE-2CE4-C6D1DAE21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C673FC00-3E6D-8CB6-F99B-DB7EC08D87F3}"/>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a:t>
            </a:r>
            <a:r>
              <a:rPr lang="en-CA" sz="2800" err="1">
                <a:solidFill>
                  <a:srgbClr val="FFFFFF"/>
                </a:solidFill>
                <a:ea typeface="Calibri"/>
                <a:cs typeface="Calibri"/>
              </a:rPr>
              <a:t>kNN</a:t>
            </a:r>
            <a:r>
              <a:rPr lang="en-CA" sz="2800">
                <a:solidFill>
                  <a:srgbClr val="FFFFFF"/>
                </a:solidFill>
                <a:ea typeface="Calibri"/>
                <a:cs typeface="Calibri"/>
              </a:rPr>
              <a:t>)</a:t>
            </a:r>
            <a:endParaRPr lang="en-US"/>
          </a:p>
        </p:txBody>
      </p:sp>
      <p:sp>
        <p:nvSpPr>
          <p:cNvPr id="3" name="Content Placeholder 2">
            <a:extLst>
              <a:ext uri="{FF2B5EF4-FFF2-40B4-BE49-F238E27FC236}">
                <a16:creationId xmlns:a16="http://schemas.microsoft.com/office/drawing/2014/main" id="{4C72095E-027B-6D53-54F9-80CC121813DE}"/>
              </a:ext>
            </a:extLst>
          </p:cNvPr>
          <p:cNvSpPr>
            <a:spLocks noGrp="1"/>
          </p:cNvSpPr>
          <p:nvPr>
            <p:ph idx="1"/>
          </p:nvPr>
        </p:nvSpPr>
        <p:spPr>
          <a:xfrm>
            <a:off x="657225" y="1590948"/>
            <a:ext cx="7858125" cy="4973457"/>
          </a:xfrm>
        </p:spPr>
        <p:txBody>
          <a:bodyPr vert="horz" lIns="91440" tIns="45720" rIns="91440" bIns="45720" rtlCol="0" anchor="t">
            <a:normAutofit lnSpcReduction="10000"/>
          </a:bodyPr>
          <a:lstStyle/>
          <a:p>
            <a:r>
              <a:rPr lang="en-US" sz="1800" b="1">
                <a:ea typeface="+mn-lt"/>
                <a:cs typeface="+mn-lt"/>
              </a:rPr>
              <a:t>Premises Type vs. BIKE_COST_CLASS</a:t>
            </a:r>
            <a:r>
              <a:rPr lang="en-US" sz="1800">
                <a:ea typeface="+mn-lt"/>
                <a:cs typeface="+mn-lt"/>
              </a:rPr>
              <a:t>:</a:t>
            </a:r>
            <a:endParaRPr lang="en-US" sz="1800">
              <a:ea typeface="Calibri"/>
              <a:cs typeface="Calibri"/>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r>
              <a:rPr lang="en-US" sz="1400">
                <a:ea typeface="+mn-lt"/>
                <a:cs typeface="+mn-lt"/>
              </a:rPr>
              <a:t>Outside areas saw the most thefts, followed by Apartments and Houses, suggesting that public spaces are more prone to high-cost bike thefts due to easy access. In contrast, Educational and Transit locations had the least thefts, which could be attributed to lower bike values in these locations. This insight can be used to further optimize the </a:t>
            </a:r>
            <a:r>
              <a:rPr lang="en-US" sz="1400" err="1">
                <a:ea typeface="+mn-lt"/>
                <a:cs typeface="+mn-lt"/>
              </a:rPr>
              <a:t>kNN</a:t>
            </a:r>
            <a:r>
              <a:rPr lang="en-US" sz="1400">
                <a:ea typeface="+mn-lt"/>
                <a:cs typeface="+mn-lt"/>
              </a:rPr>
              <a:t> model by associating cost categories with likely theft locations.</a:t>
            </a:r>
            <a:endParaRPr lang="en-US" sz="1400">
              <a:ea typeface="Calibri"/>
              <a:cs typeface="Calibri"/>
            </a:endParaRPr>
          </a:p>
          <a:p>
            <a:endParaRPr lang="en-US" sz="2400">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408AA599-1CD5-AB96-8B09-8BE33603E602}"/>
              </a:ext>
            </a:extLst>
          </p:cNvPr>
          <p:cNvPicPr>
            <a:picLocks noChangeAspect="1"/>
          </p:cNvPicPr>
          <p:nvPr/>
        </p:nvPicPr>
        <p:blipFill>
          <a:blip r:embed="rId2"/>
          <a:stretch>
            <a:fillRect/>
          </a:stretch>
        </p:blipFill>
        <p:spPr>
          <a:xfrm>
            <a:off x="1473574" y="1884548"/>
            <a:ext cx="6219266" cy="3301815"/>
          </a:xfrm>
          <a:prstGeom prst="rect">
            <a:avLst/>
          </a:prstGeom>
        </p:spPr>
      </p:pic>
    </p:spTree>
    <p:extLst>
      <p:ext uri="{BB962C8B-B14F-4D97-AF65-F5344CB8AC3E}">
        <p14:creationId xmlns:p14="http://schemas.microsoft.com/office/powerpoint/2010/main" val="2650119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BD48BC-B5A1-FAA0-DE41-50ABD368E0E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DBB0929-5327-2028-3199-4B42092B6D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A86EC45F-1376-51E3-48B5-0C3DB5779A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B208F4DA-FB1E-53D0-925D-E07C38195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E2985160-66D3-8F97-F414-C6153E998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19A107A2-BDBB-3E0F-2D03-DF2A094768AA}"/>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a:t>
            </a:r>
            <a:r>
              <a:rPr lang="en-CA" sz="2800" err="1">
                <a:solidFill>
                  <a:srgbClr val="FFFFFF"/>
                </a:solidFill>
                <a:ea typeface="Calibri"/>
                <a:cs typeface="Calibri"/>
              </a:rPr>
              <a:t>kNN</a:t>
            </a:r>
            <a:r>
              <a:rPr lang="en-CA" sz="2800">
                <a:solidFill>
                  <a:srgbClr val="FFFFFF"/>
                </a:solidFill>
                <a:ea typeface="Calibri"/>
                <a:cs typeface="Calibri"/>
              </a:rPr>
              <a:t>)</a:t>
            </a:r>
            <a:endParaRPr lang="en-US"/>
          </a:p>
        </p:txBody>
      </p:sp>
      <p:sp>
        <p:nvSpPr>
          <p:cNvPr id="3" name="Content Placeholder 2">
            <a:extLst>
              <a:ext uri="{FF2B5EF4-FFF2-40B4-BE49-F238E27FC236}">
                <a16:creationId xmlns:a16="http://schemas.microsoft.com/office/drawing/2014/main" id="{48CA2AB4-2881-2814-B043-FD942138F5DE}"/>
              </a:ext>
            </a:extLst>
          </p:cNvPr>
          <p:cNvSpPr>
            <a:spLocks noGrp="1"/>
          </p:cNvSpPr>
          <p:nvPr>
            <p:ph idx="1"/>
          </p:nvPr>
        </p:nvSpPr>
        <p:spPr>
          <a:xfrm>
            <a:off x="657225" y="1602154"/>
            <a:ext cx="7858125" cy="4951046"/>
          </a:xfrm>
        </p:spPr>
        <p:txBody>
          <a:bodyPr vert="horz" lIns="91440" tIns="45720" rIns="91440" bIns="45720" rtlCol="0" anchor="t">
            <a:normAutofit fontScale="92500" lnSpcReduction="20000"/>
          </a:bodyPr>
          <a:lstStyle/>
          <a:p>
            <a:pPr marL="400050"/>
            <a:r>
              <a:rPr lang="en-US" sz="1800" b="1">
                <a:ea typeface="+mn-lt"/>
                <a:cs typeface="+mn-lt"/>
              </a:rPr>
              <a:t>Seasonal Patterns</a:t>
            </a:r>
            <a:r>
              <a:rPr lang="en-US" sz="1800">
                <a:ea typeface="+mn-lt"/>
                <a:cs typeface="+mn-lt"/>
              </a:rPr>
              <a:t>:</a:t>
            </a: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endParaRPr lang="en-US" sz="1800">
              <a:ea typeface="+mn-lt"/>
              <a:cs typeface="+mn-lt"/>
            </a:endParaRPr>
          </a:p>
          <a:p>
            <a:pPr marL="400050"/>
            <a:r>
              <a:rPr lang="en-US" sz="1800">
                <a:ea typeface="+mn-lt"/>
                <a:cs typeface="+mn-lt"/>
              </a:rPr>
              <a:t>Summer was identified as the peak season for bike theft, especially for High and Medium-cost bikes. The model showed a significant decrease in thefts during the Winter, aligning with reduced bike usage during colder months. The OCC_SEASON feature in the </a:t>
            </a:r>
            <a:r>
              <a:rPr lang="en-US" sz="1800" err="1">
                <a:ea typeface="+mn-lt"/>
                <a:cs typeface="+mn-lt"/>
              </a:rPr>
              <a:t>kNN</a:t>
            </a:r>
            <a:r>
              <a:rPr lang="en-US" sz="1800">
                <a:ea typeface="+mn-lt"/>
                <a:cs typeface="+mn-lt"/>
              </a:rPr>
              <a:t> model proved to be a strong predictor of theft risk, especially for High-value bikes during the warmer months.</a:t>
            </a:r>
            <a:endParaRPr lang="en-US" sz="1800">
              <a:ea typeface="Calibri"/>
              <a:cs typeface="Calibri"/>
            </a:endParaRPr>
          </a:p>
        </p:txBody>
      </p:sp>
      <p:pic>
        <p:nvPicPr>
          <p:cNvPr id="4" name="Picture 3" descr="A screenshot of a graph&#10;&#10;AI-generated content may be incorrect.">
            <a:extLst>
              <a:ext uri="{FF2B5EF4-FFF2-40B4-BE49-F238E27FC236}">
                <a16:creationId xmlns:a16="http://schemas.microsoft.com/office/drawing/2014/main" id="{A65B1387-8DB7-F2B3-0F11-BC69C038EAA7}"/>
              </a:ext>
            </a:extLst>
          </p:cNvPr>
          <p:cNvPicPr>
            <a:picLocks noChangeAspect="1"/>
          </p:cNvPicPr>
          <p:nvPr/>
        </p:nvPicPr>
        <p:blipFill>
          <a:blip r:embed="rId2"/>
          <a:stretch>
            <a:fillRect/>
          </a:stretch>
        </p:blipFill>
        <p:spPr>
          <a:xfrm>
            <a:off x="1350308" y="1837204"/>
            <a:ext cx="6678707" cy="3071534"/>
          </a:xfrm>
          <a:prstGeom prst="rect">
            <a:avLst/>
          </a:prstGeom>
        </p:spPr>
      </p:pic>
    </p:spTree>
    <p:extLst>
      <p:ext uri="{BB962C8B-B14F-4D97-AF65-F5344CB8AC3E}">
        <p14:creationId xmlns:p14="http://schemas.microsoft.com/office/powerpoint/2010/main" val="28606553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083224-D5A6-26F6-EE53-FE2DD1E5E40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DED4611-4020-92A5-9E35-0C0C679B20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16435938-ABC3-5D43-106E-0D99864CE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6B76AB0-921E-AB1E-8C6E-DF5B487C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990C73AA-DD9B-F4C8-34AE-61D128CB3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D2C180A5-673E-524A-117A-29E6C69A47A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a:t>
            </a:r>
            <a:r>
              <a:rPr lang="en-CA" sz="2800" err="1">
                <a:solidFill>
                  <a:srgbClr val="FFFFFF"/>
                </a:solidFill>
                <a:ea typeface="Calibri"/>
                <a:cs typeface="Calibri"/>
              </a:rPr>
              <a:t>kNN</a:t>
            </a:r>
            <a:r>
              <a:rPr lang="en-CA" sz="2800">
                <a:solidFill>
                  <a:srgbClr val="FFFFFF"/>
                </a:solidFill>
                <a:ea typeface="Calibri"/>
                <a:cs typeface="Calibri"/>
              </a:rPr>
              <a:t>)</a:t>
            </a:r>
            <a:endParaRPr lang="en-US"/>
          </a:p>
        </p:txBody>
      </p:sp>
      <p:sp>
        <p:nvSpPr>
          <p:cNvPr id="3" name="Content Placeholder 2">
            <a:extLst>
              <a:ext uri="{FF2B5EF4-FFF2-40B4-BE49-F238E27FC236}">
                <a16:creationId xmlns:a16="http://schemas.microsoft.com/office/drawing/2014/main" id="{5D205B11-9E3B-8B1F-C728-3A197EF0C08B}"/>
              </a:ext>
            </a:extLst>
          </p:cNvPr>
          <p:cNvSpPr>
            <a:spLocks noGrp="1"/>
          </p:cNvSpPr>
          <p:nvPr>
            <p:ph idx="1"/>
          </p:nvPr>
        </p:nvSpPr>
        <p:spPr>
          <a:xfrm>
            <a:off x="657225" y="1600797"/>
            <a:ext cx="7868376" cy="5231746"/>
          </a:xfrm>
        </p:spPr>
        <p:txBody>
          <a:bodyPr vert="horz" lIns="91440" tIns="45720" rIns="91440" bIns="45720" rtlCol="0" anchor="t">
            <a:normAutofit fontScale="92500" lnSpcReduction="20000"/>
          </a:bodyPr>
          <a:lstStyle/>
          <a:p>
            <a:r>
              <a:rPr lang="en-US" sz="1800" b="1"/>
              <a:t>Compare Model Outputs to Business Goals</a:t>
            </a:r>
            <a:endParaRPr lang="en-US" sz="1800">
              <a:ea typeface="Calibri"/>
              <a:cs typeface="Calibri"/>
            </a:endParaRPr>
          </a:p>
          <a:p>
            <a:r>
              <a:rPr lang="en-US" sz="1600" b="1">
                <a:ea typeface="+mn-lt"/>
                <a:cs typeface="+mn-lt"/>
              </a:rPr>
              <a:t>Do Predictions Match Expected Theft Trends?</a:t>
            </a:r>
            <a:endParaRPr lang="en-US" sz="1600">
              <a:ea typeface="Calibri"/>
              <a:cs typeface="Calibri"/>
            </a:endParaRPr>
          </a:p>
          <a:p>
            <a:r>
              <a:rPr lang="en-US" sz="1600">
                <a:ea typeface="+mn-lt"/>
                <a:cs typeface="+mn-lt"/>
              </a:rPr>
              <a:t>The k-NN model's predictions align with the expected theft trends observed in the data:</a:t>
            </a:r>
            <a:endParaRPr lang="en-US" sz="1600">
              <a:ea typeface="Calibri"/>
              <a:cs typeface="Calibri"/>
            </a:endParaRPr>
          </a:p>
          <a:p>
            <a:pPr lvl="1"/>
            <a:r>
              <a:rPr lang="en-US" sz="1600">
                <a:ea typeface="+mn-lt"/>
                <a:cs typeface="+mn-lt"/>
              </a:rPr>
              <a:t>High-risk divisions (D51, D52, D14) in downtown Toronto were accurately identified by the model, highlighting areas with the highest theft activity.</a:t>
            </a:r>
            <a:endParaRPr lang="en-US" sz="1600">
              <a:ea typeface="Calibri"/>
              <a:cs typeface="Calibri"/>
            </a:endParaRPr>
          </a:p>
          <a:p>
            <a:pPr lvl="1"/>
            <a:r>
              <a:rPr lang="en-US" sz="1600">
                <a:ea typeface="+mn-lt"/>
                <a:cs typeface="+mn-lt"/>
              </a:rPr>
              <a:t>Seasonal Trends were well-captured, with Summer being the peak season for bike thefts, especially for High and Medium-cost bikes, confirming expected theft patterns.</a:t>
            </a:r>
            <a:endParaRPr lang="en-US" sz="1600">
              <a:ea typeface="Calibri"/>
              <a:cs typeface="Calibri"/>
            </a:endParaRPr>
          </a:p>
          <a:p>
            <a:pPr lvl="1"/>
            <a:r>
              <a:rPr lang="en-US" sz="1600">
                <a:ea typeface="+mn-lt"/>
                <a:cs typeface="+mn-lt"/>
              </a:rPr>
              <a:t>The model also reflected bike type trends, identifying Mountain Bikes and Road/Gravel Bikes as the most stolen, particularly in the High and Medium-cost categories.</a:t>
            </a:r>
            <a:endParaRPr lang="en-US" sz="1600">
              <a:ea typeface="Calibri"/>
              <a:cs typeface="Calibri"/>
            </a:endParaRPr>
          </a:p>
          <a:p>
            <a:pPr lvl="1"/>
            <a:endParaRPr lang="en-US" sz="1400">
              <a:ea typeface="Calibri"/>
              <a:cs typeface="Calibri"/>
            </a:endParaRPr>
          </a:p>
          <a:p>
            <a:pPr marL="457200" lvl="1" indent="0">
              <a:buNone/>
            </a:pPr>
            <a:endParaRPr lang="en-US" sz="1600">
              <a:ea typeface="Calibri"/>
              <a:cs typeface="Calibri"/>
            </a:endParaRPr>
          </a:p>
          <a:p>
            <a:r>
              <a:rPr lang="en-US" sz="1800" b="1"/>
              <a:t>Assess Key Metrics</a:t>
            </a:r>
            <a:endParaRPr lang="en-US" sz="1800" b="1">
              <a:ea typeface="Calibri"/>
              <a:cs typeface="Calibri"/>
            </a:endParaRPr>
          </a:p>
          <a:p>
            <a:pPr lvl="1"/>
            <a:r>
              <a:rPr lang="en-US" sz="1600">
                <a:ea typeface="+mn-lt"/>
                <a:cs typeface="+mn-lt"/>
              </a:rPr>
              <a:t>For Classification (k-NN):</a:t>
            </a:r>
            <a:endParaRPr lang="en-US">
              <a:ea typeface="Calibri"/>
              <a:cs typeface="Calibri"/>
            </a:endParaRPr>
          </a:p>
          <a:p>
            <a:r>
              <a:rPr lang="en-US" sz="1600" b="1">
                <a:ea typeface="+mn-lt"/>
                <a:cs typeface="+mn-lt"/>
              </a:rPr>
              <a:t>Accuracy:</a:t>
            </a:r>
            <a:r>
              <a:rPr lang="en-US" sz="1600">
                <a:ea typeface="+mn-lt"/>
                <a:cs typeface="+mn-lt"/>
              </a:rPr>
              <a:t> The model achieved an accuracy of 45.07%, indicating moderate success in predicting bike theft categories (Low, Medium, High).</a:t>
            </a:r>
            <a:endParaRPr lang="en-US">
              <a:ea typeface="Calibri"/>
              <a:cs typeface="Calibri"/>
            </a:endParaRPr>
          </a:p>
          <a:p>
            <a:r>
              <a:rPr lang="en-US" sz="1600" b="1">
                <a:ea typeface="+mn-lt"/>
                <a:cs typeface="+mn-lt"/>
              </a:rPr>
              <a:t>Precision:</a:t>
            </a:r>
            <a:endParaRPr lang="en-US" b="1">
              <a:ea typeface="Calibri"/>
              <a:cs typeface="Calibri"/>
            </a:endParaRPr>
          </a:p>
          <a:p>
            <a:pPr lvl="1"/>
            <a:r>
              <a:rPr lang="en-US" sz="1600">
                <a:ea typeface="+mn-lt"/>
                <a:cs typeface="+mn-lt"/>
              </a:rPr>
              <a:t>High-cost bikes had a precision of 51.77%, showing that when the model predicted high-cost bikes, it was accurate 51.77% of the time.</a:t>
            </a:r>
            <a:endParaRPr lang="en-US">
              <a:ea typeface="Calibri"/>
              <a:cs typeface="Calibri"/>
            </a:endParaRPr>
          </a:p>
          <a:p>
            <a:pPr lvl="1"/>
            <a:r>
              <a:rPr lang="en-US" sz="1600">
                <a:ea typeface="+mn-lt"/>
                <a:cs typeface="+mn-lt"/>
              </a:rPr>
              <a:t>Medium-cost bikes had a recall of 62.10%, meaning the model successfully detected most medium-cost thefts.</a:t>
            </a:r>
            <a:endParaRPr lang="en-US">
              <a:ea typeface="Calibri"/>
              <a:cs typeface="Calibri"/>
            </a:endParaRPr>
          </a:p>
          <a:p>
            <a:pPr lvl="1"/>
            <a:r>
              <a:rPr lang="en-US" sz="1600">
                <a:ea typeface="+mn-lt"/>
                <a:cs typeface="+mn-lt"/>
              </a:rPr>
              <a:t>Low-cost bikes had the lowest precision (37.61%) and recall (25.49%), indicating difficulty in predicting low-cost bike thefts accurately.</a:t>
            </a:r>
            <a:endParaRPr lang="en-US">
              <a:ea typeface="Calibri"/>
              <a:cs typeface="Calibri"/>
            </a:endParaRPr>
          </a:p>
          <a:p>
            <a:pPr lvl="1"/>
            <a:endParaRPr lang="en-US" sz="1600">
              <a:ea typeface="Calibri"/>
              <a:cs typeface="Calibri"/>
            </a:endParaRPr>
          </a:p>
          <a:p>
            <a:endParaRPr lang="en-US" sz="2400">
              <a:ea typeface="Calibri"/>
              <a:cs typeface="Calibri"/>
            </a:endParaRPr>
          </a:p>
        </p:txBody>
      </p:sp>
    </p:spTree>
    <p:extLst>
      <p:ext uri="{BB962C8B-B14F-4D97-AF65-F5344CB8AC3E}">
        <p14:creationId xmlns:p14="http://schemas.microsoft.com/office/powerpoint/2010/main" val="3973274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5C9653-BF9A-429A-60BB-D735FC85F8D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5A6EFF5-015B-0F15-3E04-C13BCAF33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CC96F649-5C3B-F051-86C0-A0B95A2327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0628F323-C84D-F6B1-6099-C0685791EA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9518DDD7-DF97-3843-352F-F515D19CA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E8BF7711-E49D-43B5-4EFE-5EC9E62D2339}"/>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a:t>
            </a:r>
            <a:r>
              <a:rPr lang="en-CA" sz="2800" err="1">
                <a:solidFill>
                  <a:srgbClr val="FFFFFF"/>
                </a:solidFill>
                <a:ea typeface="Calibri"/>
                <a:cs typeface="Calibri"/>
              </a:rPr>
              <a:t>kNN</a:t>
            </a:r>
            <a:r>
              <a:rPr lang="en-CA" sz="2800">
                <a:solidFill>
                  <a:srgbClr val="FFFFFF"/>
                </a:solidFill>
                <a:ea typeface="Calibri"/>
                <a:cs typeface="Calibri"/>
              </a:rPr>
              <a:t>)</a:t>
            </a:r>
            <a:endParaRPr lang="en-US"/>
          </a:p>
        </p:txBody>
      </p:sp>
      <p:sp>
        <p:nvSpPr>
          <p:cNvPr id="3" name="Content Placeholder 2">
            <a:extLst>
              <a:ext uri="{FF2B5EF4-FFF2-40B4-BE49-F238E27FC236}">
                <a16:creationId xmlns:a16="http://schemas.microsoft.com/office/drawing/2014/main" id="{01806A0A-8085-78DC-036A-46795565253C}"/>
              </a:ext>
            </a:extLst>
          </p:cNvPr>
          <p:cNvSpPr>
            <a:spLocks noGrp="1"/>
          </p:cNvSpPr>
          <p:nvPr>
            <p:ph idx="1"/>
          </p:nvPr>
        </p:nvSpPr>
        <p:spPr>
          <a:xfrm>
            <a:off x="657225" y="1600797"/>
            <a:ext cx="7868376" cy="5231746"/>
          </a:xfrm>
        </p:spPr>
        <p:txBody>
          <a:bodyPr vert="horz" lIns="91440" tIns="45720" rIns="91440" bIns="45720" rtlCol="0" anchor="t">
            <a:normAutofit/>
          </a:bodyPr>
          <a:lstStyle/>
          <a:p>
            <a:r>
              <a:rPr lang="en-US" sz="1800" b="1"/>
              <a:t>Surprise Findings</a:t>
            </a:r>
            <a:endParaRPr lang="en-US" sz="1800" b="1">
              <a:ea typeface="Calibri"/>
              <a:cs typeface="Calibri"/>
            </a:endParaRPr>
          </a:p>
          <a:p>
            <a:endParaRPr lang="en-US" sz="1800" b="1">
              <a:ea typeface="+mn-lt"/>
              <a:cs typeface="+mn-lt"/>
            </a:endParaRPr>
          </a:p>
          <a:p>
            <a:r>
              <a:rPr lang="en-US" sz="1600">
                <a:ea typeface="+mn-lt"/>
                <a:cs typeface="+mn-lt"/>
              </a:rPr>
              <a:t>Low-cost Bike Struggles: A surprising finding was the low recall for low-cost bikes (25.49%), showing the model’s difficulty in correctly identifying these thefts. This suggests that low-cost bikes are frequently misclassified, possibly due to overlap in features with other categories or insufficient distinguishing features.</a:t>
            </a:r>
            <a:endParaRPr lang="en-US" sz="1600">
              <a:ea typeface="Calibri"/>
              <a:cs typeface="Calibri"/>
            </a:endParaRPr>
          </a:p>
          <a:p>
            <a:endParaRPr lang="en-US" sz="1600">
              <a:ea typeface="+mn-lt"/>
              <a:cs typeface="+mn-lt"/>
            </a:endParaRPr>
          </a:p>
          <a:p>
            <a:r>
              <a:rPr lang="en-US" sz="1600">
                <a:ea typeface="+mn-lt"/>
                <a:cs typeface="+mn-lt"/>
              </a:rPr>
              <a:t>High-Risk Locations: The model’s accurate prediction of high-risk theft areas (D51, D52, D14) aligns with the business goal of crime prevention, confirming that location is a key feature for theft prediction.</a:t>
            </a:r>
            <a:endParaRPr lang="en-US" sz="1600">
              <a:ea typeface="Calibri"/>
              <a:cs typeface="Calibri"/>
            </a:endParaRPr>
          </a:p>
          <a:p>
            <a:endParaRPr lang="en-US" sz="1600">
              <a:ea typeface="+mn-lt"/>
              <a:cs typeface="+mn-lt"/>
            </a:endParaRPr>
          </a:p>
          <a:p>
            <a:r>
              <a:rPr lang="en-US" sz="1600">
                <a:ea typeface="+mn-lt"/>
                <a:cs typeface="+mn-lt"/>
              </a:rPr>
              <a:t>Impact of Seasonal Patterns: The model's ability to capture seasonal theft trends, especially the peak in Summer, was a key strength. This aligns with the business goal of anticipating theft patterns based on weather-related factors.</a:t>
            </a:r>
            <a:endParaRPr lang="en-US" sz="1600">
              <a:ea typeface="Calibri"/>
              <a:cs typeface="Calibri"/>
            </a:endParaRPr>
          </a:p>
          <a:p>
            <a:endParaRPr lang="en-US" sz="1600" b="1">
              <a:ea typeface="Calibri"/>
              <a:cs typeface="Calibri"/>
            </a:endParaRPr>
          </a:p>
        </p:txBody>
      </p:sp>
    </p:spTree>
    <p:extLst>
      <p:ext uri="{BB962C8B-B14F-4D97-AF65-F5344CB8AC3E}">
        <p14:creationId xmlns:p14="http://schemas.microsoft.com/office/powerpoint/2010/main" val="3102656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A807D7-AA9A-4245-DB29-B8E903F82CC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8195891-02C7-7460-FD81-744C9A39C8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9C402F41-E414-5BBE-63B8-85DD914A48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6D5461AE-6523-50DD-BDFC-BDF1324B1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3C18D971-0DAE-F1FF-4217-A09CF781C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C20FAB05-4091-3FB7-7DC7-1B57DD189D31}"/>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Review Process (</a:t>
            </a:r>
            <a:r>
              <a:rPr lang="en-CA" sz="2800" err="1">
                <a:solidFill>
                  <a:srgbClr val="FFFFFF"/>
                </a:solidFill>
              </a:rPr>
              <a:t>kNN</a:t>
            </a:r>
            <a:r>
              <a:rPr lang="en-CA" sz="2800">
                <a:solidFill>
                  <a:srgbClr val="FFFFFF"/>
                </a:solidFill>
              </a:rPr>
              <a:t>)</a:t>
            </a:r>
          </a:p>
        </p:txBody>
      </p:sp>
      <p:sp>
        <p:nvSpPr>
          <p:cNvPr id="3" name="Content Placeholder 2">
            <a:extLst>
              <a:ext uri="{FF2B5EF4-FFF2-40B4-BE49-F238E27FC236}">
                <a16:creationId xmlns:a16="http://schemas.microsoft.com/office/drawing/2014/main" id="{C741DBAA-4E25-BF0D-DB0E-055EEEC49424}"/>
              </a:ext>
            </a:extLst>
          </p:cNvPr>
          <p:cNvSpPr>
            <a:spLocks noGrp="1"/>
          </p:cNvSpPr>
          <p:nvPr>
            <p:ph idx="1"/>
          </p:nvPr>
        </p:nvSpPr>
        <p:spPr>
          <a:xfrm>
            <a:off x="657225" y="1713559"/>
            <a:ext cx="7858125" cy="4268141"/>
          </a:xfrm>
        </p:spPr>
        <p:txBody>
          <a:bodyPr vert="horz" lIns="91440" tIns="45720" rIns="91440" bIns="45720" rtlCol="0" anchor="t">
            <a:normAutofit/>
          </a:bodyPr>
          <a:lstStyle/>
          <a:p>
            <a:r>
              <a:rPr lang="en-US" sz="1600">
                <a:ea typeface="+mn-lt"/>
                <a:cs typeface="+mn-lt"/>
              </a:rPr>
              <a:t>The k-NN model's performance was evaluated based on its ability to classify thefts accurately across different cost categories. This was done by:</a:t>
            </a:r>
            <a:endParaRPr lang="en-US" sz="1600">
              <a:ea typeface="Calibri"/>
              <a:cs typeface="Calibri"/>
            </a:endParaRPr>
          </a:p>
          <a:p>
            <a:r>
              <a:rPr lang="en-US" sz="1600" b="1">
                <a:ea typeface="+mn-lt"/>
                <a:cs typeface="+mn-lt"/>
              </a:rPr>
              <a:t>Independent Evaluation:</a:t>
            </a:r>
            <a:endParaRPr lang="en-US" sz="1600" b="1">
              <a:ea typeface="Calibri"/>
              <a:cs typeface="Calibri"/>
            </a:endParaRPr>
          </a:p>
          <a:p>
            <a:pPr lvl="1"/>
            <a:r>
              <a:rPr lang="en-US" sz="1600">
                <a:ea typeface="+mn-lt"/>
                <a:cs typeface="+mn-lt"/>
              </a:rPr>
              <a:t>Testing k-NN with varying k values to assess the optimal model.</a:t>
            </a:r>
            <a:endParaRPr lang="en-US" sz="1600">
              <a:ea typeface="Calibri"/>
              <a:cs typeface="Calibri"/>
            </a:endParaRPr>
          </a:p>
          <a:p>
            <a:pPr lvl="1"/>
            <a:r>
              <a:rPr lang="en-US" sz="1600">
                <a:ea typeface="+mn-lt"/>
                <a:cs typeface="+mn-lt"/>
              </a:rPr>
              <a:t>Using 10-fold cross-validation to ensure model consistency and reduce overfitting.</a:t>
            </a:r>
            <a:endParaRPr lang="en-US" sz="1600">
              <a:ea typeface="Calibri"/>
              <a:cs typeface="Calibri"/>
            </a:endParaRPr>
          </a:p>
          <a:p>
            <a:r>
              <a:rPr lang="en-US" sz="1600" b="1">
                <a:ea typeface="+mn-lt"/>
                <a:cs typeface="+mn-lt"/>
              </a:rPr>
              <a:t>Filtering Based on Accuracy:</a:t>
            </a:r>
            <a:endParaRPr lang="en-US" sz="1600" b="1">
              <a:ea typeface="Calibri"/>
              <a:cs typeface="Calibri"/>
            </a:endParaRPr>
          </a:p>
          <a:p>
            <a:pPr lvl="1"/>
            <a:r>
              <a:rPr lang="en-US" sz="1600">
                <a:ea typeface="+mn-lt"/>
                <a:cs typeface="+mn-lt"/>
              </a:rPr>
              <a:t>The model was evaluated based on accuracy and class-level metrics (e.g., precision and recall).</a:t>
            </a:r>
            <a:endParaRPr lang="en-US" sz="1600">
              <a:ea typeface="Calibri"/>
              <a:cs typeface="Calibri"/>
            </a:endParaRPr>
          </a:p>
          <a:p>
            <a:r>
              <a:rPr lang="en-US" sz="1600" b="1">
                <a:ea typeface="+mn-lt"/>
                <a:cs typeface="+mn-lt"/>
              </a:rPr>
              <a:t>Pattern Review:</a:t>
            </a:r>
            <a:endParaRPr lang="en-US" sz="1600" b="1">
              <a:ea typeface="Calibri"/>
              <a:cs typeface="Calibri"/>
            </a:endParaRPr>
          </a:p>
          <a:p>
            <a:pPr lvl="1"/>
            <a:r>
              <a:rPr lang="en-US" sz="1600">
                <a:ea typeface="+mn-lt"/>
                <a:cs typeface="+mn-lt"/>
              </a:rPr>
              <a:t>After testing, patterns were reviewed based on theft location, bike type, and season to assess why certain thefts were easier or harder to predict.</a:t>
            </a:r>
            <a:endParaRPr lang="en-US" sz="1600">
              <a:ea typeface="Calibri"/>
              <a:cs typeface="Calibri"/>
            </a:endParaRPr>
          </a:p>
          <a:p>
            <a:endParaRPr lang="en-US" sz="2400">
              <a:ea typeface="Calibri"/>
              <a:cs typeface="Calibri"/>
            </a:endParaRPr>
          </a:p>
        </p:txBody>
      </p:sp>
    </p:spTree>
    <p:extLst>
      <p:ext uri="{BB962C8B-B14F-4D97-AF65-F5344CB8AC3E}">
        <p14:creationId xmlns:p14="http://schemas.microsoft.com/office/powerpoint/2010/main" val="3730404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22E9F9-F007-6648-0A70-CAAD82D59A7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6169509-CD04-29EB-69EF-F65B5EB3E4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7884BC30-D94F-8902-C038-D9EE33F08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FCA0D95-E386-B16F-ABDF-7B16C9E7C8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E3DDB8FE-807D-787F-05CF-95A8DD4422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EC6B4B14-E503-2C6D-A309-3CC49965EC1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Review Process (</a:t>
            </a:r>
            <a:r>
              <a:rPr lang="en-CA" sz="2800" err="1">
                <a:solidFill>
                  <a:srgbClr val="FFFFFF"/>
                </a:solidFill>
              </a:rPr>
              <a:t>kNN</a:t>
            </a:r>
            <a:r>
              <a:rPr lang="en-CA" sz="2800">
                <a:solidFill>
                  <a:srgbClr val="FFFFFF"/>
                </a:solidFill>
              </a:rPr>
              <a:t>)</a:t>
            </a:r>
          </a:p>
        </p:txBody>
      </p:sp>
      <p:sp>
        <p:nvSpPr>
          <p:cNvPr id="3" name="Content Placeholder 2">
            <a:extLst>
              <a:ext uri="{FF2B5EF4-FFF2-40B4-BE49-F238E27FC236}">
                <a16:creationId xmlns:a16="http://schemas.microsoft.com/office/drawing/2014/main" id="{D16D3FB8-451F-A895-3C9B-11A7B196BAC2}"/>
              </a:ext>
            </a:extLst>
          </p:cNvPr>
          <p:cNvSpPr>
            <a:spLocks noGrp="1"/>
          </p:cNvSpPr>
          <p:nvPr>
            <p:ph idx="1"/>
          </p:nvPr>
        </p:nvSpPr>
        <p:spPr>
          <a:xfrm>
            <a:off x="657225" y="1713559"/>
            <a:ext cx="7858125" cy="5129235"/>
          </a:xfrm>
        </p:spPr>
        <p:txBody>
          <a:bodyPr vert="horz" lIns="91440" tIns="45720" rIns="91440" bIns="45720" rtlCol="0" anchor="t">
            <a:normAutofit/>
          </a:bodyPr>
          <a:lstStyle/>
          <a:p>
            <a:pPr>
              <a:buNone/>
            </a:pPr>
            <a:r>
              <a:rPr lang="en-US" sz="1600" b="1"/>
              <a:t>               Model Strength:</a:t>
            </a:r>
            <a:endParaRPr lang="en-US" sz="1600" b="1">
              <a:ea typeface="Calibri"/>
              <a:cs typeface="Calibri"/>
            </a:endParaRPr>
          </a:p>
          <a:p>
            <a:r>
              <a:rPr lang="en-US" sz="1600">
                <a:ea typeface="+mn-lt"/>
                <a:cs typeface="+mn-lt"/>
              </a:rPr>
              <a:t>Accurately identifies high-risk areas and high-cost bike thefts.</a:t>
            </a:r>
            <a:endParaRPr lang="en-US" sz="1600">
              <a:ea typeface="Calibri"/>
              <a:cs typeface="Calibri"/>
            </a:endParaRPr>
          </a:p>
          <a:p>
            <a:pPr indent="0">
              <a:buNone/>
            </a:pPr>
            <a:r>
              <a:rPr lang="en-US" sz="1600" b="1"/>
              <a:t>        Model Weakness:</a:t>
            </a:r>
            <a:endParaRPr lang="en-US" sz="1600" b="1">
              <a:ea typeface="Calibri"/>
              <a:cs typeface="Calibri"/>
            </a:endParaRPr>
          </a:p>
          <a:p>
            <a:r>
              <a:rPr lang="en-US" sz="1600">
                <a:ea typeface="+mn-lt"/>
                <a:cs typeface="+mn-lt"/>
              </a:rPr>
              <a:t>Struggles with classifying low-cost and medium-cost bikes.</a:t>
            </a:r>
            <a:endParaRPr lang="en-US" sz="1600">
              <a:ea typeface="Calibri"/>
              <a:cs typeface="Calibri"/>
            </a:endParaRPr>
          </a:p>
          <a:p>
            <a:pPr marL="1028700" lvl="1"/>
            <a:r>
              <a:rPr lang="en-US" sz="1600">
                <a:ea typeface="+mn-lt"/>
                <a:cs typeface="+mn-lt"/>
              </a:rPr>
              <a:t>Low-cost bikes have the lowest recall and precision, making it harder to accurately predict thefts in this category.</a:t>
            </a:r>
            <a:endParaRPr lang="en-US" sz="1600" b="1"/>
          </a:p>
          <a:p>
            <a:pPr lvl="1" indent="0">
              <a:buNone/>
            </a:pPr>
            <a:r>
              <a:rPr lang="en-US" sz="1600" b="1"/>
              <a:t>Challenge:</a:t>
            </a:r>
            <a:endParaRPr lang="en-US" sz="1600" b="1">
              <a:ea typeface="Calibri"/>
              <a:cs typeface="Calibri"/>
            </a:endParaRPr>
          </a:p>
          <a:p>
            <a:r>
              <a:rPr lang="en-US" sz="1600">
                <a:ea typeface="+mn-lt"/>
                <a:cs typeface="+mn-lt"/>
              </a:rPr>
              <a:t>Imbalanced categories in the data lead to reduced recall for low-cost thefts.</a:t>
            </a:r>
            <a:endParaRPr lang="en-US" sz="1600">
              <a:ea typeface="Calibri"/>
              <a:cs typeface="Calibri"/>
            </a:endParaRPr>
          </a:p>
          <a:p>
            <a:pPr marL="1028700" lvl="1"/>
            <a:r>
              <a:rPr lang="en-US" sz="1600">
                <a:ea typeface="+mn-lt"/>
                <a:cs typeface="+mn-lt"/>
              </a:rPr>
              <a:t>Low-cost bikes are often misclassified as medium-cost due to overlap in features, making it difficult for the model to differentiate.</a:t>
            </a:r>
            <a:endParaRPr lang="en-US" sz="1600">
              <a:ea typeface="Calibri"/>
              <a:cs typeface="Calibri"/>
            </a:endParaRPr>
          </a:p>
          <a:p>
            <a:pPr lvl="1" indent="0">
              <a:buNone/>
            </a:pPr>
            <a:r>
              <a:rPr lang="en-US" sz="1600" b="1"/>
              <a:t>Biases:</a:t>
            </a:r>
            <a:endParaRPr lang="en-US" sz="1600" b="1">
              <a:ea typeface="Calibri"/>
              <a:cs typeface="Calibri"/>
            </a:endParaRPr>
          </a:p>
          <a:p>
            <a:r>
              <a:rPr lang="en-US" sz="1600">
                <a:ea typeface="+mn-lt"/>
                <a:cs typeface="+mn-lt"/>
              </a:rPr>
              <a:t>Feature Bias: Certain features like bike type and location may dominate the classification process, overshadowing the ability to identify patterns in low-cost thefts.</a:t>
            </a:r>
            <a:endParaRPr lang="en-US" sz="1600">
              <a:ea typeface="Calibri"/>
              <a:cs typeface="Calibri"/>
            </a:endParaRPr>
          </a:p>
          <a:p>
            <a:r>
              <a:rPr lang="en-US" sz="1600">
                <a:ea typeface="+mn-lt"/>
                <a:cs typeface="+mn-lt"/>
              </a:rPr>
              <a:t>Data Bias: Missing or underreported theft incidents, particularly for low-cost bikes, skew the model’s predictions and lead to misclassification in those areas.</a:t>
            </a:r>
            <a:endParaRPr lang="en-US" sz="1600">
              <a:ea typeface="Calibri"/>
              <a:cs typeface="Calibri"/>
            </a:endParaRPr>
          </a:p>
          <a:p>
            <a:pPr indent="0">
              <a:buNone/>
            </a:pPr>
            <a:r>
              <a:rPr lang="en-US" sz="1600" b="1"/>
              <a:t>         Future Improvements:</a:t>
            </a:r>
            <a:endParaRPr lang="en-US" sz="1600" b="1">
              <a:ea typeface="Calibri"/>
              <a:cs typeface="Calibri"/>
            </a:endParaRPr>
          </a:p>
          <a:p>
            <a:r>
              <a:rPr lang="en-US" sz="1600">
                <a:ea typeface="+mn-lt"/>
                <a:cs typeface="+mn-lt"/>
              </a:rPr>
              <a:t>Incorporate more diverse data sources, such as weather conditions, police reports, or events, to improve predictions for underrepresented categories like low-cost bikes.</a:t>
            </a:r>
            <a:endParaRPr lang="en-US" sz="1600">
              <a:ea typeface="Calibri"/>
              <a:cs typeface="Calibri"/>
            </a:endParaRPr>
          </a:p>
          <a:p>
            <a:pPr marL="0" indent="0">
              <a:buNone/>
            </a:pPr>
            <a:endParaRPr lang="en-US" sz="1600">
              <a:ea typeface="Calibri"/>
              <a:cs typeface="Calibri"/>
            </a:endParaRPr>
          </a:p>
        </p:txBody>
      </p:sp>
    </p:spTree>
    <p:extLst>
      <p:ext uri="{BB962C8B-B14F-4D97-AF65-F5344CB8AC3E}">
        <p14:creationId xmlns:p14="http://schemas.microsoft.com/office/powerpoint/2010/main" val="1730713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0FEB04-F26E-B1EC-E5AC-A879B1B27D3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BFFC233-D623-912D-0D2A-E80237DCC6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F90EC228-F7E2-A05B-3721-07BBFEA63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ABBDF38A-F495-0A0F-F527-11450DDF1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DA426DE5-D4CA-9A5F-26C0-E285C5323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1B1B600C-11AB-00C1-C346-67D2BB962718}"/>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Next Steps (</a:t>
            </a:r>
            <a:r>
              <a:rPr lang="en-CA" sz="2800" err="1">
                <a:solidFill>
                  <a:srgbClr val="FFFFFF"/>
                </a:solidFill>
              </a:rPr>
              <a:t>kNN</a:t>
            </a:r>
            <a:r>
              <a:rPr lang="en-CA" sz="2800">
                <a:solidFill>
                  <a:srgbClr val="FFFFFF"/>
                </a:solidFill>
              </a:rPr>
              <a:t>)</a:t>
            </a:r>
          </a:p>
        </p:txBody>
      </p:sp>
      <p:sp>
        <p:nvSpPr>
          <p:cNvPr id="3" name="Content Placeholder 2">
            <a:extLst>
              <a:ext uri="{FF2B5EF4-FFF2-40B4-BE49-F238E27FC236}">
                <a16:creationId xmlns:a16="http://schemas.microsoft.com/office/drawing/2014/main" id="{0FDBC46C-AA28-6942-69B7-AC55856ED633}"/>
              </a:ext>
            </a:extLst>
          </p:cNvPr>
          <p:cNvSpPr>
            <a:spLocks noGrp="1"/>
          </p:cNvSpPr>
          <p:nvPr>
            <p:ph idx="1"/>
          </p:nvPr>
        </p:nvSpPr>
        <p:spPr>
          <a:xfrm>
            <a:off x="657225" y="1600797"/>
            <a:ext cx="7858125" cy="4780696"/>
          </a:xfrm>
        </p:spPr>
        <p:txBody>
          <a:bodyPr vert="horz" lIns="91440" tIns="45720" rIns="91440" bIns="45720" rtlCol="0" anchor="t">
            <a:normAutofit lnSpcReduction="10000"/>
          </a:bodyPr>
          <a:lstStyle/>
          <a:p>
            <a:r>
              <a:rPr lang="en-US" sz="1600" b="1">
                <a:ea typeface="+mn-lt"/>
                <a:cs typeface="+mn-lt"/>
              </a:rPr>
              <a:t>If models perform well:</a:t>
            </a:r>
            <a:endParaRPr lang="en-US" sz="1600" b="1">
              <a:ea typeface="Calibri"/>
              <a:cs typeface="Calibri"/>
            </a:endParaRPr>
          </a:p>
          <a:p>
            <a:r>
              <a:rPr lang="en-US" sz="1600" b="1">
                <a:ea typeface="+mn-lt"/>
                <a:cs typeface="+mn-lt"/>
              </a:rPr>
              <a:t>Prepare for deployment:</a:t>
            </a:r>
            <a:endParaRPr lang="en-US" sz="1600" b="1">
              <a:ea typeface="Calibri"/>
              <a:cs typeface="Calibri"/>
            </a:endParaRPr>
          </a:p>
          <a:p>
            <a:pPr lvl="1"/>
            <a:r>
              <a:rPr lang="en-US" sz="1600">
                <a:ea typeface="+mn-lt"/>
                <a:cs typeface="+mn-lt"/>
              </a:rPr>
              <a:t>Integrate the k-NN model into crime prevention dashboards to provide real-time insights into theft hotspots, allowing authorities to allocate resources effectively in high-risk zones.</a:t>
            </a:r>
            <a:endParaRPr lang="en-US" sz="1600">
              <a:ea typeface="Calibri"/>
              <a:cs typeface="Calibri"/>
            </a:endParaRPr>
          </a:p>
          <a:p>
            <a:pPr lvl="1"/>
            <a:r>
              <a:rPr lang="en-US" sz="1600">
                <a:ea typeface="+mn-lt"/>
                <a:cs typeface="+mn-lt"/>
              </a:rPr>
              <a:t>If issues exist:</a:t>
            </a:r>
            <a:endParaRPr lang="en-US" sz="1600">
              <a:ea typeface="Calibri"/>
              <a:cs typeface="Calibri"/>
            </a:endParaRPr>
          </a:p>
          <a:p>
            <a:r>
              <a:rPr lang="en-US" sz="1600" b="1">
                <a:ea typeface="+mn-lt"/>
                <a:cs typeface="+mn-lt"/>
              </a:rPr>
              <a:t>Improve data collection:</a:t>
            </a:r>
            <a:endParaRPr lang="en-US" sz="1600" b="1">
              <a:ea typeface="Calibri"/>
              <a:cs typeface="Calibri"/>
            </a:endParaRPr>
          </a:p>
          <a:p>
            <a:pPr lvl="1"/>
            <a:r>
              <a:rPr lang="en-US" sz="1600">
                <a:ea typeface="+mn-lt"/>
                <a:cs typeface="+mn-lt"/>
              </a:rPr>
              <a:t>Obtain more detailed theft reports, including weather conditions, event data, and demographic information to enhance model accuracy and better capture patterns that influence theft.</a:t>
            </a:r>
            <a:endParaRPr lang="en-US" sz="1600">
              <a:ea typeface="Calibri"/>
              <a:cs typeface="Calibri"/>
            </a:endParaRPr>
          </a:p>
          <a:p>
            <a:r>
              <a:rPr lang="en-US" sz="1600" b="1">
                <a:ea typeface="+mn-lt"/>
                <a:cs typeface="+mn-lt"/>
              </a:rPr>
              <a:t>Refine models:</a:t>
            </a:r>
            <a:endParaRPr lang="en-US" sz="1600" b="1">
              <a:ea typeface="Calibri"/>
              <a:cs typeface="Calibri"/>
            </a:endParaRPr>
          </a:p>
          <a:p>
            <a:pPr lvl="1"/>
            <a:r>
              <a:rPr lang="en-US" sz="1600">
                <a:ea typeface="+mn-lt"/>
                <a:cs typeface="+mn-lt"/>
              </a:rPr>
              <a:t>Experiment with different hyperparameters or try alternative techniques, such as Random Forests or Decision Trees, to improve recall and precision, especially for low-cost bikes.</a:t>
            </a:r>
            <a:endParaRPr lang="en-US" sz="1600">
              <a:ea typeface="Calibri"/>
              <a:cs typeface="Calibri"/>
            </a:endParaRPr>
          </a:p>
          <a:p>
            <a:r>
              <a:rPr lang="en-US" sz="1600" b="1">
                <a:ea typeface="+mn-lt"/>
                <a:cs typeface="+mn-lt"/>
              </a:rPr>
              <a:t>Reassess business objectives:</a:t>
            </a:r>
            <a:endParaRPr lang="en-US" sz="1600" b="1">
              <a:ea typeface="Calibri"/>
              <a:cs typeface="Calibri"/>
            </a:endParaRPr>
          </a:p>
          <a:p>
            <a:pPr lvl="1"/>
            <a:r>
              <a:rPr lang="en-US" sz="1600">
                <a:ea typeface="+mn-lt"/>
                <a:cs typeface="+mn-lt"/>
              </a:rPr>
              <a:t>If the model’s insights don’t align with expectations, revisit business goals and adjust the model or data inputs to better support crime prevention strategies and meet the intended objectives.</a:t>
            </a:r>
            <a:endParaRPr lang="en-US" sz="1600">
              <a:ea typeface="Calibri"/>
              <a:cs typeface="Calibri"/>
            </a:endParaRPr>
          </a:p>
          <a:p>
            <a:endParaRPr lang="en-US" sz="1600">
              <a:ea typeface="Calibri"/>
              <a:cs typeface="Calibri"/>
            </a:endParaRPr>
          </a:p>
        </p:txBody>
      </p:sp>
    </p:spTree>
    <p:extLst>
      <p:ext uri="{BB962C8B-B14F-4D97-AF65-F5344CB8AC3E}">
        <p14:creationId xmlns:p14="http://schemas.microsoft.com/office/powerpoint/2010/main" val="2630864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DAB1AE-1CD3-2299-FF78-A90687D3B02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21FDCCC3-920F-43F6-DD97-D9B9945202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9144000" cy="6894986"/>
            <a:chOff x="0" y="-7622"/>
            <a:chExt cx="12192000" cy="6894986"/>
          </a:xfrm>
        </p:grpSpPr>
        <p:sp>
          <p:nvSpPr>
            <p:cNvPr id="13" name="Rectangle 12">
              <a:extLst>
                <a:ext uri="{FF2B5EF4-FFF2-40B4-BE49-F238E27FC236}">
                  <a16:creationId xmlns:a16="http://schemas.microsoft.com/office/drawing/2014/main" id="{59990802-8CAD-3410-772E-766C38FBF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9CF0F51-7220-9933-BAEE-8EDE4FE1F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21669C9-C34A-0613-D0DF-E0B0A749F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055A15-F7E5-A04E-DAAA-5E9830907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6D96E0D2-788E-3669-4FE9-9BC0625A6F44}"/>
              </a:ext>
            </a:extLst>
          </p:cNvPr>
          <p:cNvSpPr>
            <a:spLocks noGrp="1"/>
          </p:cNvSpPr>
          <p:nvPr>
            <p:ph type="title"/>
          </p:nvPr>
        </p:nvSpPr>
        <p:spPr>
          <a:xfrm>
            <a:off x="2205105" y="1536180"/>
            <a:ext cx="4763676" cy="2085740"/>
          </a:xfrm>
        </p:spPr>
        <p:txBody>
          <a:bodyPr vert="horz" lIns="91440" tIns="45720" rIns="91440" bIns="45720" rtlCol="0" anchor="b">
            <a:normAutofit/>
          </a:bodyPr>
          <a:lstStyle/>
          <a:p>
            <a:pPr defTabSz="914400">
              <a:lnSpc>
                <a:spcPct val="90000"/>
              </a:lnSpc>
            </a:pPr>
            <a:r>
              <a:rPr lang="en-US" sz="3500" kern="1200">
                <a:solidFill>
                  <a:srgbClr val="FFFFFF"/>
                </a:solidFill>
                <a:latin typeface="+mj-lt"/>
                <a:ea typeface="+mj-ea"/>
                <a:cs typeface="+mj-cs"/>
              </a:rPr>
              <a:t>Decision Tree &amp; Random Forest</a:t>
            </a:r>
          </a:p>
        </p:txBody>
      </p:sp>
    </p:spTree>
    <p:extLst>
      <p:ext uri="{BB962C8B-B14F-4D97-AF65-F5344CB8AC3E}">
        <p14:creationId xmlns:p14="http://schemas.microsoft.com/office/powerpoint/2010/main" val="328041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C609C9-1273-2B3E-44BA-DF67239BF67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9E4C0E4-88AB-6E7C-1474-BB281E2BE385}"/>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4.0 Data Preparation (DT &amp; RF)</a:t>
            </a:r>
          </a:p>
        </p:txBody>
      </p:sp>
      <p:sp>
        <p:nvSpPr>
          <p:cNvPr id="3" name="Content Placeholder 2">
            <a:extLst>
              <a:ext uri="{FF2B5EF4-FFF2-40B4-BE49-F238E27FC236}">
                <a16:creationId xmlns:a16="http://schemas.microsoft.com/office/drawing/2014/main" id="{DE9BBA79-9B4B-3797-E910-ABAFC1C5688C}"/>
              </a:ext>
            </a:extLst>
          </p:cNvPr>
          <p:cNvSpPr>
            <a:spLocks noGrp="1"/>
          </p:cNvSpPr>
          <p:nvPr>
            <p:ph idx="1"/>
          </p:nvPr>
        </p:nvSpPr>
        <p:spPr>
          <a:xfrm>
            <a:off x="657225" y="2308124"/>
            <a:ext cx="4141841" cy="3673576"/>
          </a:xfrm>
        </p:spPr>
        <p:txBody>
          <a:bodyPr>
            <a:normAutofit/>
          </a:bodyPr>
          <a:lstStyle/>
          <a:p>
            <a:r>
              <a:rPr lang="en-US" sz="1700"/>
              <a:t>This section will include:</a:t>
            </a:r>
          </a:p>
          <a:p>
            <a:pPr lvl="1"/>
            <a:r>
              <a:rPr lang="en-US" sz="1700"/>
              <a:t>What data was chosen</a:t>
            </a:r>
          </a:p>
          <a:p>
            <a:pPr lvl="1"/>
            <a:r>
              <a:rPr lang="en-US" sz="1700"/>
              <a:t>What attributes were constructed</a:t>
            </a:r>
          </a:p>
          <a:p>
            <a:pPr lvl="1"/>
            <a:r>
              <a:rPr lang="en-US" sz="1700"/>
              <a:t>What attributes were formatted</a:t>
            </a:r>
          </a:p>
        </p:txBody>
      </p:sp>
      <p:pic>
        <p:nvPicPr>
          <p:cNvPr id="19" name="Graphic 18" descr="Database">
            <a:extLst>
              <a:ext uri="{FF2B5EF4-FFF2-40B4-BE49-F238E27FC236}">
                <a16:creationId xmlns:a16="http://schemas.microsoft.com/office/drawing/2014/main" id="{1FAB0228-5747-C030-0E78-F1BA790C9D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8193" y="2445621"/>
            <a:ext cx="3398582" cy="3398582"/>
          </a:xfrm>
          <a:prstGeom prst="rect">
            <a:avLst/>
          </a:prstGeom>
        </p:spPr>
      </p:pic>
    </p:spTree>
    <p:extLst>
      <p:ext uri="{BB962C8B-B14F-4D97-AF65-F5344CB8AC3E}">
        <p14:creationId xmlns:p14="http://schemas.microsoft.com/office/powerpoint/2010/main" val="16398590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1679BD-9E1B-5782-3707-D818982E77D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9272312-1495-42A1-08B1-A349788864D5}"/>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Selected (DT &amp; RF)</a:t>
            </a:r>
          </a:p>
        </p:txBody>
      </p:sp>
      <p:sp>
        <p:nvSpPr>
          <p:cNvPr id="3" name="Content Placeholder 2">
            <a:extLst>
              <a:ext uri="{FF2B5EF4-FFF2-40B4-BE49-F238E27FC236}">
                <a16:creationId xmlns:a16="http://schemas.microsoft.com/office/drawing/2014/main" id="{FE683654-4419-8EC2-787C-03659AE841E2}"/>
              </a:ext>
            </a:extLst>
          </p:cNvPr>
          <p:cNvSpPr>
            <a:spLocks noGrp="1"/>
          </p:cNvSpPr>
          <p:nvPr>
            <p:ph idx="1"/>
          </p:nvPr>
        </p:nvSpPr>
        <p:spPr>
          <a:xfrm>
            <a:off x="704334" y="1610743"/>
            <a:ext cx="7764200" cy="563951"/>
          </a:xfrm>
        </p:spPr>
        <p:txBody>
          <a:bodyPr>
            <a:normAutofit/>
          </a:bodyPr>
          <a:lstStyle/>
          <a:p>
            <a:r>
              <a:rPr lang="en-CA" sz="1700"/>
              <a:t>This was the relevant data selected for the DT &amp; RF:</a:t>
            </a:r>
          </a:p>
          <a:p>
            <a:endParaRPr lang="en-CA" sz="1700"/>
          </a:p>
          <a:p>
            <a:pPr marL="0" indent="0">
              <a:buNone/>
            </a:pPr>
            <a:endParaRPr lang="en-CA" sz="1700"/>
          </a:p>
          <a:p>
            <a:pPr marL="0" indent="0">
              <a:buNone/>
            </a:pPr>
            <a:endParaRPr lang="en-CA" sz="1700"/>
          </a:p>
        </p:txBody>
      </p:sp>
      <p:graphicFrame>
        <p:nvGraphicFramePr>
          <p:cNvPr id="5" name="Table 4">
            <a:extLst>
              <a:ext uri="{FF2B5EF4-FFF2-40B4-BE49-F238E27FC236}">
                <a16:creationId xmlns:a16="http://schemas.microsoft.com/office/drawing/2014/main" id="{107D9CF5-2339-829A-2CEC-1C6625AA0779}"/>
              </a:ext>
            </a:extLst>
          </p:cNvPr>
          <p:cNvGraphicFramePr>
            <a:graphicFrameLocks noGrp="1"/>
          </p:cNvGraphicFramePr>
          <p:nvPr>
            <p:extLst>
              <p:ext uri="{D42A27DB-BD31-4B8C-83A1-F6EECF244321}">
                <p14:modId xmlns:p14="http://schemas.microsoft.com/office/powerpoint/2010/main" val="2658645621"/>
              </p:ext>
            </p:extLst>
          </p:nvPr>
        </p:nvGraphicFramePr>
        <p:xfrm>
          <a:off x="657226" y="2308124"/>
          <a:ext cx="7764200" cy="3590201"/>
        </p:xfrm>
        <a:graphic>
          <a:graphicData uri="http://schemas.openxmlformats.org/drawingml/2006/table">
            <a:tbl>
              <a:tblPr firstRow="1" bandRow="1">
                <a:tableStyleId>{5C22544A-7EE6-4342-B048-85BDC9FD1C3A}</a:tableStyleId>
              </a:tblPr>
              <a:tblGrid>
                <a:gridCol w="1337271">
                  <a:extLst>
                    <a:ext uri="{9D8B030D-6E8A-4147-A177-3AD203B41FA5}">
                      <a16:colId xmlns:a16="http://schemas.microsoft.com/office/drawing/2014/main" val="4012305098"/>
                    </a:ext>
                  </a:extLst>
                </a:gridCol>
                <a:gridCol w="3344617">
                  <a:extLst>
                    <a:ext uri="{9D8B030D-6E8A-4147-A177-3AD203B41FA5}">
                      <a16:colId xmlns:a16="http://schemas.microsoft.com/office/drawing/2014/main" val="4053218497"/>
                    </a:ext>
                  </a:extLst>
                </a:gridCol>
                <a:gridCol w="3082312">
                  <a:extLst>
                    <a:ext uri="{9D8B030D-6E8A-4147-A177-3AD203B41FA5}">
                      <a16:colId xmlns:a16="http://schemas.microsoft.com/office/drawing/2014/main" val="910517411"/>
                    </a:ext>
                  </a:extLst>
                </a:gridCol>
              </a:tblGrid>
              <a:tr h="327202">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Relevance</a:t>
                      </a:r>
                    </a:p>
                  </a:txBody>
                  <a:tcPr marL="74364" marR="74364" marT="37182" marB="37182"/>
                </a:tc>
                <a:extLst>
                  <a:ext uri="{0D108BD9-81ED-4DB2-BD59-A6C34878D82A}">
                    <a16:rowId xmlns:a16="http://schemas.microsoft.com/office/drawing/2014/main" val="2819037219"/>
                  </a:ext>
                </a:extLst>
              </a:tr>
              <a:tr h="371820">
                <a:tc>
                  <a:txBody>
                    <a:bodyPr/>
                    <a:lstStyle/>
                    <a:p>
                      <a:r>
                        <a:rPr lang="en-CA" sz="1200"/>
                        <a:t>BIKE_COST_CLASS</a:t>
                      </a:r>
                    </a:p>
                  </a:txBody>
                  <a:tcPr marL="74364" marR="74364" marT="37182" marB="37182"/>
                </a:tc>
                <a:tc>
                  <a:txBody>
                    <a:bodyPr/>
                    <a:lstStyle/>
                    <a:p>
                      <a:r>
                        <a:rPr lang="en-US" sz="1200"/>
                        <a:t>Categorizes bike cost into “Low” “Medium” “High”</a:t>
                      </a:r>
                      <a:endParaRPr lang="en-CA" sz="1200"/>
                    </a:p>
                  </a:txBody>
                  <a:tcPr marL="74364" marR="74364" marT="37182" marB="37182"/>
                </a:tc>
                <a:tc>
                  <a:txBody>
                    <a:bodyPr/>
                    <a:lstStyle/>
                    <a:p>
                      <a:r>
                        <a:rPr lang="en-CA" sz="1200"/>
                        <a:t>Used to predict correlation between cost and theft</a:t>
                      </a:r>
                    </a:p>
                  </a:txBody>
                  <a:tcPr marL="74364" marR="74364" marT="37182" marB="37182"/>
                </a:tc>
                <a:extLst>
                  <a:ext uri="{0D108BD9-81ED-4DB2-BD59-A6C34878D82A}">
                    <a16:rowId xmlns:a16="http://schemas.microsoft.com/office/drawing/2014/main" val="2426409075"/>
                  </a:ext>
                </a:extLst>
              </a:tr>
              <a:tr h="371820">
                <a:tc>
                  <a:txBody>
                    <a:bodyPr/>
                    <a:lstStyle/>
                    <a:p>
                      <a:r>
                        <a:rPr lang="en-CA" sz="1200"/>
                        <a:t>OCC_MONTH</a:t>
                      </a:r>
                    </a:p>
                  </a:txBody>
                  <a:tcPr marL="74364" marR="74364" marT="37182" marB="37182"/>
                </a:tc>
                <a:tc>
                  <a:txBody>
                    <a:bodyPr/>
                    <a:lstStyle/>
                    <a:p>
                      <a:r>
                        <a:rPr lang="en-CA" sz="1200"/>
                        <a:t>What month the theft occurred in</a:t>
                      </a:r>
                    </a:p>
                  </a:txBody>
                  <a:tcPr marL="74364" marR="74364" marT="37182" marB="37182"/>
                </a:tc>
                <a:tc>
                  <a:txBody>
                    <a:bodyPr/>
                    <a:lstStyle/>
                    <a:p>
                      <a:r>
                        <a:rPr lang="en-CA" sz="1200"/>
                        <a:t>Used to determine whether theft happened in/out of covid years</a:t>
                      </a:r>
                    </a:p>
                  </a:txBody>
                  <a:tcPr marL="74364" marR="74364" marT="37182" marB="37182"/>
                </a:tc>
                <a:extLst>
                  <a:ext uri="{0D108BD9-81ED-4DB2-BD59-A6C34878D82A}">
                    <a16:rowId xmlns:a16="http://schemas.microsoft.com/office/drawing/2014/main" val="2891385519"/>
                  </a:ext>
                </a:extLst>
              </a:tr>
              <a:tr h="371820">
                <a:tc>
                  <a:txBody>
                    <a:bodyPr/>
                    <a:lstStyle/>
                    <a:p>
                      <a:r>
                        <a:rPr lang="en-CA" sz="1200"/>
                        <a:t>OCC_DOW</a:t>
                      </a:r>
                    </a:p>
                  </a:txBody>
                  <a:tcPr marL="74364" marR="74364" marT="37182" marB="37182"/>
                </a:tc>
                <a:tc>
                  <a:txBody>
                    <a:bodyPr/>
                    <a:lstStyle/>
                    <a:p>
                      <a:r>
                        <a:rPr lang="en-CA" sz="1200"/>
                        <a:t>What day of the week theft occurred in</a:t>
                      </a:r>
                    </a:p>
                  </a:txBody>
                  <a:tcPr marL="74364" marR="74364" marT="37182" marB="37182"/>
                </a:tc>
                <a:tc>
                  <a:txBody>
                    <a:bodyPr/>
                    <a:lstStyle/>
                    <a:p>
                      <a:r>
                        <a:rPr lang="en-CA" sz="1200"/>
                        <a:t>Determine weekday/weekend</a:t>
                      </a:r>
                    </a:p>
                  </a:txBody>
                  <a:tcPr marL="74364" marR="74364" marT="37182" marB="37182"/>
                </a:tc>
                <a:extLst>
                  <a:ext uri="{0D108BD9-81ED-4DB2-BD59-A6C34878D82A}">
                    <a16:rowId xmlns:a16="http://schemas.microsoft.com/office/drawing/2014/main" val="2296954587"/>
                  </a:ext>
                </a:extLst>
              </a:tr>
              <a:tr h="371820">
                <a:tc>
                  <a:txBody>
                    <a:bodyPr/>
                    <a:lstStyle/>
                    <a:p>
                      <a:r>
                        <a:rPr lang="en-CA" sz="1200"/>
                        <a:t>OCC_DAY</a:t>
                      </a:r>
                    </a:p>
                  </a:txBody>
                  <a:tcPr marL="74364" marR="74364" marT="37182" marB="37182"/>
                </a:tc>
                <a:tc>
                  <a:txBody>
                    <a:bodyPr/>
                    <a:lstStyle/>
                    <a:p>
                      <a:r>
                        <a:rPr lang="en-CA" sz="1200"/>
                        <a:t>What day of month (1-30(31)) theft </a:t>
                      </a:r>
                      <a:r>
                        <a:rPr lang="en-CA" sz="1200" err="1"/>
                        <a:t>occured</a:t>
                      </a:r>
                      <a:endParaRPr lang="en-CA" sz="1200"/>
                    </a:p>
                  </a:txBody>
                  <a:tcPr marL="74364" marR="74364" marT="37182" marB="37182"/>
                </a:tc>
                <a:tc>
                  <a:txBody>
                    <a:bodyPr/>
                    <a:lstStyle/>
                    <a:p>
                      <a:r>
                        <a:rPr lang="en-CA" sz="1200"/>
                        <a:t>Determine early/mid/late month</a:t>
                      </a:r>
                    </a:p>
                  </a:txBody>
                  <a:tcPr marL="74364" marR="74364" marT="37182" marB="37182"/>
                </a:tc>
                <a:extLst>
                  <a:ext uri="{0D108BD9-81ED-4DB2-BD59-A6C34878D82A}">
                    <a16:rowId xmlns:a16="http://schemas.microsoft.com/office/drawing/2014/main" val="118010167"/>
                  </a:ext>
                </a:extLst>
              </a:tr>
              <a:tr h="455347">
                <a:tc>
                  <a:txBody>
                    <a:bodyPr/>
                    <a:lstStyle/>
                    <a:p>
                      <a:r>
                        <a:rPr lang="en-CA" sz="1200"/>
                        <a:t>OCC_HOUR</a:t>
                      </a:r>
                    </a:p>
                  </a:txBody>
                  <a:tcPr marL="74364" marR="74364" marT="37182" marB="37182"/>
                </a:tc>
                <a:tc>
                  <a:txBody>
                    <a:bodyPr/>
                    <a:lstStyle/>
                    <a:p>
                      <a:r>
                        <a:rPr lang="en-CA" sz="1200"/>
                        <a:t>What hour of day (1-24) theft </a:t>
                      </a:r>
                      <a:r>
                        <a:rPr lang="en-CA" sz="1200" err="1"/>
                        <a:t>occured</a:t>
                      </a:r>
                      <a:endParaRPr lang="en-CA" sz="1200"/>
                    </a:p>
                  </a:txBody>
                  <a:tcPr marL="74364" marR="74364" marT="37182" marB="37182"/>
                </a:tc>
                <a:tc>
                  <a:txBody>
                    <a:bodyPr/>
                    <a:lstStyle/>
                    <a:p>
                      <a:r>
                        <a:rPr lang="en-CA" sz="1200"/>
                        <a:t>Determine morning/afternoon/evening/night</a:t>
                      </a:r>
                    </a:p>
                  </a:txBody>
                  <a:tcPr marL="74364" marR="74364" marT="37182" marB="37182"/>
                </a:tc>
                <a:extLst>
                  <a:ext uri="{0D108BD9-81ED-4DB2-BD59-A6C34878D82A}">
                    <a16:rowId xmlns:a16="http://schemas.microsoft.com/office/drawing/2014/main" val="2644363679"/>
                  </a:ext>
                </a:extLst>
              </a:tr>
              <a:tr h="371820">
                <a:tc>
                  <a:txBody>
                    <a:bodyPr/>
                    <a:lstStyle/>
                    <a:p>
                      <a:r>
                        <a:rPr lang="en-CA" sz="1200"/>
                        <a:t>STATUS</a:t>
                      </a:r>
                    </a:p>
                  </a:txBody>
                  <a:tcPr marL="74364" marR="74364" marT="37182" marB="37182"/>
                </a:tc>
                <a:tc>
                  <a:txBody>
                    <a:bodyPr/>
                    <a:lstStyle/>
                    <a:p>
                      <a:r>
                        <a:rPr lang="en-CA" sz="1200"/>
                        <a:t>Whether bike stolen, recovered, unknown</a:t>
                      </a:r>
                    </a:p>
                  </a:txBody>
                  <a:tcPr marL="74364" marR="74364" marT="37182" marB="37182"/>
                </a:tc>
                <a:tc>
                  <a:txBody>
                    <a:bodyPr/>
                    <a:lstStyle/>
                    <a:p>
                      <a:endParaRPr lang="en-CA" sz="1200"/>
                    </a:p>
                  </a:txBody>
                  <a:tcPr marL="74364" marR="74364" marT="37182" marB="37182"/>
                </a:tc>
                <a:extLst>
                  <a:ext uri="{0D108BD9-81ED-4DB2-BD59-A6C34878D82A}">
                    <a16:rowId xmlns:a16="http://schemas.microsoft.com/office/drawing/2014/main" val="809767358"/>
                  </a:ext>
                </a:extLst>
              </a:tr>
              <a:tr h="371820">
                <a:tc>
                  <a:txBody>
                    <a:bodyPr/>
                    <a:lstStyle/>
                    <a:p>
                      <a:r>
                        <a:rPr lang="en-CA" sz="1200"/>
                        <a:t>PREMESIS_TYPE</a:t>
                      </a:r>
                    </a:p>
                  </a:txBody>
                  <a:tcPr marL="74364" marR="74364" marT="37182" marB="37182"/>
                </a:tc>
                <a:tc>
                  <a:txBody>
                    <a:bodyPr/>
                    <a:lstStyle/>
                    <a:p>
                      <a:r>
                        <a:rPr lang="en-CA" sz="1200"/>
                        <a:t>What location the theft happened at</a:t>
                      </a:r>
                    </a:p>
                  </a:txBody>
                  <a:tcPr marL="74364" marR="74364" marT="37182" marB="37182"/>
                </a:tc>
                <a:tc>
                  <a:txBody>
                    <a:bodyPr/>
                    <a:lstStyle/>
                    <a:p>
                      <a:endParaRPr lang="en-CA" sz="1200"/>
                    </a:p>
                  </a:txBody>
                  <a:tcPr marL="74364" marR="74364" marT="37182" marB="37182"/>
                </a:tc>
                <a:extLst>
                  <a:ext uri="{0D108BD9-81ED-4DB2-BD59-A6C34878D82A}">
                    <a16:rowId xmlns:a16="http://schemas.microsoft.com/office/drawing/2014/main" val="1971785325"/>
                  </a:ext>
                </a:extLst>
              </a:tr>
              <a:tr h="371820">
                <a:tc>
                  <a:txBody>
                    <a:bodyPr/>
                    <a:lstStyle/>
                    <a:p>
                      <a:r>
                        <a:rPr lang="en-CA" sz="1200"/>
                        <a:t>BIKE_TYPE</a:t>
                      </a:r>
                    </a:p>
                  </a:txBody>
                  <a:tcPr marL="74364" marR="74364" marT="37182" marB="37182"/>
                </a:tc>
                <a:tc>
                  <a:txBody>
                    <a:bodyPr/>
                    <a:lstStyle/>
                    <a:p>
                      <a:r>
                        <a:rPr lang="en-CA" sz="1200"/>
                        <a:t>What type of bikes were stolen</a:t>
                      </a:r>
                    </a:p>
                  </a:txBody>
                  <a:tcPr marL="74364" marR="74364" marT="37182" marB="37182"/>
                </a:tc>
                <a:tc>
                  <a:txBody>
                    <a:bodyPr/>
                    <a:lstStyle/>
                    <a:p>
                      <a:r>
                        <a:rPr lang="en-CA" sz="1200"/>
                        <a:t>Used to categorize more accurately the premises type</a:t>
                      </a:r>
                    </a:p>
                  </a:txBody>
                  <a:tcPr marL="74364" marR="74364" marT="37182" marB="37182"/>
                </a:tc>
                <a:extLst>
                  <a:ext uri="{0D108BD9-81ED-4DB2-BD59-A6C34878D82A}">
                    <a16:rowId xmlns:a16="http://schemas.microsoft.com/office/drawing/2014/main" val="3027984104"/>
                  </a:ext>
                </a:extLst>
              </a:tr>
            </a:tbl>
          </a:graphicData>
        </a:graphic>
      </p:graphicFrame>
    </p:spTree>
    <p:extLst>
      <p:ext uri="{BB962C8B-B14F-4D97-AF65-F5344CB8AC3E}">
        <p14:creationId xmlns:p14="http://schemas.microsoft.com/office/powerpoint/2010/main" val="3549601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FCC3CD-94DE-1E9F-4142-6134EA20A9D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F92D8EE-8742-3021-206E-AB749061BF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CCE5CFD6-F8E0-BECB-0DF4-0058C96F8C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A20932C-123F-30DF-895A-D033F1A9A8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1D32538B-2EBA-8EE1-B9BB-EB91220BD7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2F314665-D9BB-FED1-D401-F6527D56837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Constructed (DT &amp; RF)</a:t>
            </a:r>
          </a:p>
        </p:txBody>
      </p:sp>
      <p:sp>
        <p:nvSpPr>
          <p:cNvPr id="3" name="Content Placeholder 2">
            <a:extLst>
              <a:ext uri="{FF2B5EF4-FFF2-40B4-BE49-F238E27FC236}">
                <a16:creationId xmlns:a16="http://schemas.microsoft.com/office/drawing/2014/main" id="{F5C5DCF6-A3EC-BFB9-F774-C03F1B6B8805}"/>
              </a:ext>
            </a:extLst>
          </p:cNvPr>
          <p:cNvSpPr>
            <a:spLocks noGrp="1"/>
          </p:cNvSpPr>
          <p:nvPr>
            <p:ph idx="1"/>
          </p:nvPr>
        </p:nvSpPr>
        <p:spPr>
          <a:xfrm>
            <a:off x="704334" y="1610743"/>
            <a:ext cx="7764200" cy="563951"/>
          </a:xfrm>
        </p:spPr>
        <p:txBody>
          <a:bodyPr>
            <a:normAutofit/>
          </a:bodyPr>
          <a:lstStyle/>
          <a:p>
            <a:r>
              <a:rPr lang="en-CA" sz="1700"/>
              <a:t>These were the attributes constructed from the selected data:</a:t>
            </a:r>
          </a:p>
          <a:p>
            <a:pPr marL="0" indent="0">
              <a:buNone/>
            </a:pPr>
            <a:endParaRPr lang="en-CA" sz="1700"/>
          </a:p>
          <a:p>
            <a:pPr marL="0" indent="0">
              <a:buNone/>
            </a:pPr>
            <a:endParaRPr lang="en-CA" sz="1700"/>
          </a:p>
        </p:txBody>
      </p:sp>
      <p:graphicFrame>
        <p:nvGraphicFramePr>
          <p:cNvPr id="5" name="Table 4">
            <a:extLst>
              <a:ext uri="{FF2B5EF4-FFF2-40B4-BE49-F238E27FC236}">
                <a16:creationId xmlns:a16="http://schemas.microsoft.com/office/drawing/2014/main" id="{5506125F-87F4-64F2-B0A2-8B4E336C2096}"/>
              </a:ext>
            </a:extLst>
          </p:cNvPr>
          <p:cNvGraphicFramePr>
            <a:graphicFrameLocks noGrp="1"/>
          </p:cNvGraphicFramePr>
          <p:nvPr>
            <p:extLst>
              <p:ext uri="{D42A27DB-BD31-4B8C-83A1-F6EECF244321}">
                <p14:modId xmlns:p14="http://schemas.microsoft.com/office/powerpoint/2010/main" val="3492201014"/>
              </p:ext>
            </p:extLst>
          </p:nvPr>
        </p:nvGraphicFramePr>
        <p:xfrm>
          <a:off x="675060" y="2308124"/>
          <a:ext cx="7746366" cy="2929942"/>
        </p:xfrm>
        <a:graphic>
          <a:graphicData uri="http://schemas.openxmlformats.org/drawingml/2006/table">
            <a:tbl>
              <a:tblPr firstRow="1" bandRow="1">
                <a:tableStyleId>{5C22544A-7EE6-4342-B048-85BDC9FD1C3A}</a:tableStyleId>
              </a:tblPr>
              <a:tblGrid>
                <a:gridCol w="1314378">
                  <a:extLst>
                    <a:ext uri="{9D8B030D-6E8A-4147-A177-3AD203B41FA5}">
                      <a16:colId xmlns:a16="http://schemas.microsoft.com/office/drawing/2014/main" val="4012305098"/>
                    </a:ext>
                  </a:extLst>
                </a:gridCol>
                <a:gridCol w="4417499">
                  <a:extLst>
                    <a:ext uri="{9D8B030D-6E8A-4147-A177-3AD203B41FA5}">
                      <a16:colId xmlns:a16="http://schemas.microsoft.com/office/drawing/2014/main" val="4053218497"/>
                    </a:ext>
                  </a:extLst>
                </a:gridCol>
                <a:gridCol w="2014489">
                  <a:extLst>
                    <a:ext uri="{9D8B030D-6E8A-4147-A177-3AD203B41FA5}">
                      <a16:colId xmlns:a16="http://schemas.microsoft.com/office/drawing/2014/main" val="910517411"/>
                    </a:ext>
                  </a:extLst>
                </a:gridCol>
              </a:tblGrid>
              <a:tr h="327202">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Source Attribute(s)</a:t>
                      </a:r>
                    </a:p>
                  </a:txBody>
                  <a:tcPr marL="74364" marR="74364" marT="37182" marB="37182"/>
                </a:tc>
                <a:extLst>
                  <a:ext uri="{0D108BD9-81ED-4DB2-BD59-A6C34878D82A}">
                    <a16:rowId xmlns:a16="http://schemas.microsoft.com/office/drawing/2014/main" val="2819037219"/>
                  </a:ext>
                </a:extLst>
              </a:tr>
              <a:tr h="371820">
                <a:tc>
                  <a:txBody>
                    <a:bodyPr/>
                    <a:lstStyle/>
                    <a:p>
                      <a:r>
                        <a:rPr lang="en-CA" sz="1100"/>
                        <a:t>BIKE_TARGET</a:t>
                      </a:r>
                    </a:p>
                  </a:txBody>
                  <a:tcPr marL="74364" marR="74364" marT="37182" marB="37182"/>
                </a:tc>
                <a:tc>
                  <a:txBody>
                    <a:bodyPr/>
                    <a:lstStyle/>
                    <a:p>
                      <a:r>
                        <a:rPr lang="en-CA" sz="1100"/>
                        <a:t>Groups bikes based on how popular of a target they are</a:t>
                      </a:r>
                    </a:p>
                  </a:txBody>
                  <a:tcPr marL="74364" marR="74364" marT="37182" marB="37182"/>
                </a:tc>
                <a:tc>
                  <a:txBody>
                    <a:bodyPr/>
                    <a:lstStyle/>
                    <a:p>
                      <a:r>
                        <a:rPr lang="en-CA" sz="1100"/>
                        <a:t>BIKE_TYPE</a:t>
                      </a:r>
                    </a:p>
                  </a:txBody>
                  <a:tcPr marL="74364" marR="74364" marT="37182" marB="37182"/>
                </a:tc>
                <a:extLst>
                  <a:ext uri="{0D108BD9-81ED-4DB2-BD59-A6C34878D82A}">
                    <a16:rowId xmlns:a16="http://schemas.microsoft.com/office/drawing/2014/main" val="2426409075"/>
                  </a:ext>
                </a:extLst>
              </a:tr>
              <a:tr h="371820">
                <a:tc>
                  <a:txBody>
                    <a:bodyPr/>
                    <a:lstStyle/>
                    <a:p>
                      <a:r>
                        <a:rPr lang="en-CA" sz="1100"/>
                        <a:t>DAY_PART</a:t>
                      </a:r>
                    </a:p>
                  </a:txBody>
                  <a:tcPr marL="74364" marR="74364" marT="37182" marB="37182"/>
                </a:tc>
                <a:tc>
                  <a:txBody>
                    <a:bodyPr/>
                    <a:lstStyle/>
                    <a:p>
                      <a:r>
                        <a:rPr lang="en-CA" sz="1100"/>
                        <a:t>Breaks day into Morning, Afternoon, Evening, Night</a:t>
                      </a:r>
                    </a:p>
                  </a:txBody>
                  <a:tcPr marL="74364" marR="74364" marT="37182" marB="37182"/>
                </a:tc>
                <a:tc>
                  <a:txBody>
                    <a:bodyPr/>
                    <a:lstStyle/>
                    <a:p>
                      <a:r>
                        <a:rPr lang="en-CA" sz="1100"/>
                        <a:t>OCC_HOUR</a:t>
                      </a:r>
                    </a:p>
                  </a:txBody>
                  <a:tcPr marL="74364" marR="74364" marT="37182" marB="37182"/>
                </a:tc>
                <a:extLst>
                  <a:ext uri="{0D108BD9-81ED-4DB2-BD59-A6C34878D82A}">
                    <a16:rowId xmlns:a16="http://schemas.microsoft.com/office/drawing/2014/main" val="2891385519"/>
                  </a:ext>
                </a:extLst>
              </a:tr>
              <a:tr h="371820">
                <a:tc>
                  <a:txBody>
                    <a:bodyPr/>
                    <a:lstStyle/>
                    <a:p>
                      <a:r>
                        <a:rPr lang="en-CA" sz="1100"/>
                        <a:t>WEEK_PART</a:t>
                      </a:r>
                    </a:p>
                  </a:txBody>
                  <a:tcPr marL="74364" marR="74364" marT="37182" marB="37182"/>
                </a:tc>
                <a:tc>
                  <a:txBody>
                    <a:bodyPr/>
                    <a:lstStyle/>
                    <a:p>
                      <a:r>
                        <a:rPr lang="en-CA" sz="1100"/>
                        <a:t>Breaks week into Weekday or Weekend</a:t>
                      </a:r>
                    </a:p>
                  </a:txBody>
                  <a:tcPr marL="74364" marR="74364" marT="37182" marB="37182"/>
                </a:tc>
                <a:tc>
                  <a:txBody>
                    <a:bodyPr/>
                    <a:lstStyle/>
                    <a:p>
                      <a:r>
                        <a:rPr lang="en-CA" sz="1100"/>
                        <a:t>OCC_DOW</a:t>
                      </a:r>
                    </a:p>
                  </a:txBody>
                  <a:tcPr marL="74364" marR="74364" marT="37182" marB="37182"/>
                </a:tc>
                <a:extLst>
                  <a:ext uri="{0D108BD9-81ED-4DB2-BD59-A6C34878D82A}">
                    <a16:rowId xmlns:a16="http://schemas.microsoft.com/office/drawing/2014/main" val="2296954587"/>
                  </a:ext>
                </a:extLst>
              </a:tr>
              <a:tr h="371820">
                <a:tc>
                  <a:txBody>
                    <a:bodyPr/>
                    <a:lstStyle/>
                    <a:p>
                      <a:r>
                        <a:rPr lang="en-CA" sz="1100"/>
                        <a:t>MONTH_PART</a:t>
                      </a:r>
                    </a:p>
                  </a:txBody>
                  <a:tcPr marL="74364" marR="74364" marT="37182" marB="37182"/>
                </a:tc>
                <a:tc>
                  <a:txBody>
                    <a:bodyPr/>
                    <a:lstStyle/>
                    <a:p>
                      <a:r>
                        <a:rPr lang="en-CA" sz="1100"/>
                        <a:t>Breaks month into Early-Month Mid-Month and Late-Month</a:t>
                      </a:r>
                    </a:p>
                  </a:txBody>
                  <a:tcPr marL="74364" marR="74364" marT="37182" marB="37182"/>
                </a:tc>
                <a:tc>
                  <a:txBody>
                    <a:bodyPr/>
                    <a:lstStyle/>
                    <a:p>
                      <a:r>
                        <a:rPr lang="en-CA" sz="1100"/>
                        <a:t>OCC_DAY</a:t>
                      </a:r>
                    </a:p>
                  </a:txBody>
                  <a:tcPr marL="74364" marR="74364" marT="37182" marB="37182"/>
                </a:tc>
                <a:extLst>
                  <a:ext uri="{0D108BD9-81ED-4DB2-BD59-A6C34878D82A}">
                    <a16:rowId xmlns:a16="http://schemas.microsoft.com/office/drawing/2014/main" val="118010167"/>
                  </a:ext>
                </a:extLst>
              </a:tr>
              <a:tr h="371820">
                <a:tc>
                  <a:txBody>
                    <a:bodyPr/>
                    <a:lstStyle/>
                    <a:p>
                      <a:r>
                        <a:rPr lang="en-CA" sz="1100"/>
                        <a:t>DAY_PART</a:t>
                      </a:r>
                    </a:p>
                  </a:txBody>
                  <a:tcPr marL="74364" marR="74364" marT="37182" marB="37182"/>
                </a:tc>
                <a:tc>
                  <a:txBody>
                    <a:bodyPr/>
                    <a:lstStyle/>
                    <a:p>
                      <a:r>
                        <a:rPr lang="en-CA" sz="1100"/>
                        <a:t>Breaks the hour theft occurred into Morning, Afternoon, Evening, Night</a:t>
                      </a:r>
                    </a:p>
                  </a:txBody>
                  <a:tcPr marL="74364" marR="74364" marT="37182" marB="37182"/>
                </a:tc>
                <a:tc>
                  <a:txBody>
                    <a:bodyPr/>
                    <a:lstStyle/>
                    <a:p>
                      <a:r>
                        <a:rPr lang="en-CA" sz="1100"/>
                        <a:t>OCC_HOUR</a:t>
                      </a:r>
                    </a:p>
                  </a:txBody>
                  <a:tcPr marL="74364" marR="74364" marT="37182" marB="37182"/>
                </a:tc>
                <a:extLst>
                  <a:ext uri="{0D108BD9-81ED-4DB2-BD59-A6C34878D82A}">
                    <a16:rowId xmlns:a16="http://schemas.microsoft.com/office/drawing/2014/main" val="2644363679"/>
                  </a:ext>
                </a:extLst>
              </a:tr>
              <a:tr h="371820">
                <a:tc>
                  <a:txBody>
                    <a:bodyPr/>
                    <a:lstStyle/>
                    <a:p>
                      <a:r>
                        <a:rPr lang="en-CA" sz="1100"/>
                        <a:t>VIOLENT_CRIME</a:t>
                      </a:r>
                    </a:p>
                  </a:txBody>
                  <a:tcPr marL="74364" marR="74364" marT="37182" marB="37182"/>
                </a:tc>
                <a:tc>
                  <a:txBody>
                    <a:bodyPr/>
                    <a:lstStyle/>
                    <a:p>
                      <a:r>
                        <a:rPr lang="en-CA" sz="1100"/>
                        <a:t>Breaks theft into VIOLENT or NONVIOLENT categories</a:t>
                      </a:r>
                    </a:p>
                  </a:txBody>
                  <a:tcPr marL="74364" marR="74364" marT="37182" marB="37182"/>
                </a:tc>
                <a:tc>
                  <a:txBody>
                    <a:bodyPr/>
                    <a:lstStyle/>
                    <a:p>
                      <a:r>
                        <a:rPr lang="en-CA" sz="1100"/>
                        <a:t>PRIMARY_OFFENCE</a:t>
                      </a:r>
                    </a:p>
                  </a:txBody>
                  <a:tcPr marL="74364" marR="74364" marT="37182" marB="37182"/>
                </a:tc>
                <a:extLst>
                  <a:ext uri="{0D108BD9-81ED-4DB2-BD59-A6C34878D82A}">
                    <a16:rowId xmlns:a16="http://schemas.microsoft.com/office/drawing/2014/main" val="809767358"/>
                  </a:ext>
                </a:extLst>
              </a:tr>
              <a:tr h="371820">
                <a:tc>
                  <a:txBody>
                    <a:bodyPr/>
                    <a:lstStyle/>
                    <a:p>
                      <a:r>
                        <a:rPr lang="en-CA" sz="1100"/>
                        <a:t>COVID_LOCKDOWN</a:t>
                      </a:r>
                    </a:p>
                  </a:txBody>
                  <a:tcPr marL="74364" marR="74364" marT="37182" marB="37182"/>
                </a:tc>
                <a:tc>
                  <a:txBody>
                    <a:bodyPr/>
                    <a:lstStyle/>
                    <a:p>
                      <a:r>
                        <a:rPr lang="en-CA" sz="1100"/>
                        <a:t>Determines whether theft happened during covid lockdown or not</a:t>
                      </a:r>
                    </a:p>
                  </a:txBody>
                  <a:tcPr marL="74364" marR="74364" marT="37182" marB="37182"/>
                </a:tc>
                <a:tc>
                  <a:txBody>
                    <a:bodyPr/>
                    <a:lstStyle/>
                    <a:p>
                      <a:r>
                        <a:rPr lang="en-CA" sz="1100"/>
                        <a:t>OCC_MONTH &amp; OCC_YEAR</a:t>
                      </a:r>
                    </a:p>
                  </a:txBody>
                  <a:tcPr marL="74364" marR="74364" marT="37182" marB="37182"/>
                </a:tc>
                <a:extLst>
                  <a:ext uri="{0D108BD9-81ED-4DB2-BD59-A6C34878D82A}">
                    <a16:rowId xmlns:a16="http://schemas.microsoft.com/office/drawing/2014/main" val="1971785325"/>
                  </a:ext>
                </a:extLst>
              </a:tr>
            </a:tbl>
          </a:graphicData>
        </a:graphic>
      </p:graphicFrame>
    </p:spTree>
    <p:extLst>
      <p:ext uri="{BB962C8B-B14F-4D97-AF65-F5344CB8AC3E}">
        <p14:creationId xmlns:p14="http://schemas.microsoft.com/office/powerpoint/2010/main" val="1248138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6ECF48-C5A1-C192-0D9B-913DB9DA2430}"/>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90601764-4126-CC77-4F15-DB7B869028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1E2ED108-2A6D-81E6-BACE-A8DCB144C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4B486BD2-9277-A552-D828-9795532168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AC4ABEB4-8505-418C-B0EC-D7F7E4560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853F9687-72D5-176F-95BC-1B167F7F4907}"/>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Formatted (DT &amp; RF)</a:t>
            </a:r>
          </a:p>
        </p:txBody>
      </p:sp>
      <p:sp>
        <p:nvSpPr>
          <p:cNvPr id="3" name="Content Placeholder 2">
            <a:extLst>
              <a:ext uri="{FF2B5EF4-FFF2-40B4-BE49-F238E27FC236}">
                <a16:creationId xmlns:a16="http://schemas.microsoft.com/office/drawing/2014/main" id="{E2788D9C-E3BF-5346-84B2-FD132D47F6FD}"/>
              </a:ext>
            </a:extLst>
          </p:cNvPr>
          <p:cNvSpPr>
            <a:spLocks noGrp="1"/>
          </p:cNvSpPr>
          <p:nvPr>
            <p:ph idx="1"/>
          </p:nvPr>
        </p:nvSpPr>
        <p:spPr>
          <a:xfrm>
            <a:off x="704334" y="1610743"/>
            <a:ext cx="7764200" cy="563951"/>
          </a:xfrm>
        </p:spPr>
        <p:txBody>
          <a:bodyPr>
            <a:normAutofit/>
          </a:bodyPr>
          <a:lstStyle/>
          <a:p>
            <a:r>
              <a:rPr lang="en-CA" sz="1700"/>
              <a:t>These were the attributes formatted from the selected  data</a:t>
            </a:r>
          </a:p>
        </p:txBody>
      </p:sp>
      <p:graphicFrame>
        <p:nvGraphicFramePr>
          <p:cNvPr id="5" name="Table 4">
            <a:extLst>
              <a:ext uri="{FF2B5EF4-FFF2-40B4-BE49-F238E27FC236}">
                <a16:creationId xmlns:a16="http://schemas.microsoft.com/office/drawing/2014/main" id="{0942E8CA-DC99-2A66-042F-AD7C9C40B3BE}"/>
              </a:ext>
            </a:extLst>
          </p:cNvPr>
          <p:cNvGraphicFramePr>
            <a:graphicFrameLocks noGrp="1"/>
          </p:cNvGraphicFramePr>
          <p:nvPr>
            <p:extLst>
              <p:ext uri="{D42A27DB-BD31-4B8C-83A1-F6EECF244321}">
                <p14:modId xmlns:p14="http://schemas.microsoft.com/office/powerpoint/2010/main" val="704247218"/>
              </p:ext>
            </p:extLst>
          </p:nvPr>
        </p:nvGraphicFramePr>
        <p:xfrm>
          <a:off x="657226" y="2308124"/>
          <a:ext cx="7764200" cy="1087366"/>
        </p:xfrm>
        <a:graphic>
          <a:graphicData uri="http://schemas.openxmlformats.org/drawingml/2006/table">
            <a:tbl>
              <a:tblPr firstRow="1" bandRow="1">
                <a:tableStyleId>{5C22544A-7EE6-4342-B048-85BDC9FD1C3A}</a:tableStyleId>
              </a:tblPr>
              <a:tblGrid>
                <a:gridCol w="1128325">
                  <a:extLst>
                    <a:ext uri="{9D8B030D-6E8A-4147-A177-3AD203B41FA5}">
                      <a16:colId xmlns:a16="http://schemas.microsoft.com/office/drawing/2014/main" val="4012305098"/>
                    </a:ext>
                  </a:extLst>
                </a:gridCol>
                <a:gridCol w="3941471">
                  <a:extLst>
                    <a:ext uri="{9D8B030D-6E8A-4147-A177-3AD203B41FA5}">
                      <a16:colId xmlns:a16="http://schemas.microsoft.com/office/drawing/2014/main" val="4053218497"/>
                    </a:ext>
                  </a:extLst>
                </a:gridCol>
                <a:gridCol w="2694404">
                  <a:extLst>
                    <a:ext uri="{9D8B030D-6E8A-4147-A177-3AD203B41FA5}">
                      <a16:colId xmlns:a16="http://schemas.microsoft.com/office/drawing/2014/main" val="910517411"/>
                    </a:ext>
                  </a:extLst>
                </a:gridCol>
              </a:tblGrid>
              <a:tr h="327202">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Relevance</a:t>
                      </a:r>
                    </a:p>
                  </a:txBody>
                  <a:tcPr marL="74364" marR="74364" marT="37182" marB="37182"/>
                </a:tc>
                <a:extLst>
                  <a:ext uri="{0D108BD9-81ED-4DB2-BD59-A6C34878D82A}">
                    <a16:rowId xmlns:a16="http://schemas.microsoft.com/office/drawing/2014/main" val="2819037219"/>
                  </a:ext>
                </a:extLst>
              </a:tr>
              <a:tr h="371820">
                <a:tc>
                  <a:txBody>
                    <a:bodyPr/>
                    <a:lstStyle/>
                    <a:p>
                      <a:r>
                        <a:rPr lang="en-CA" sz="1500"/>
                        <a:t>BIKE_TYPE</a:t>
                      </a:r>
                    </a:p>
                  </a:txBody>
                  <a:tcPr marL="74364" marR="74364" marT="37182" marB="37182"/>
                </a:tc>
                <a:tc>
                  <a:txBody>
                    <a:bodyPr/>
                    <a:lstStyle/>
                    <a:p>
                      <a:r>
                        <a:rPr lang="en-CA" sz="1500"/>
                        <a:t>Named </a:t>
                      </a:r>
                      <a:r>
                        <a:rPr lang="en-CA" sz="1500" err="1"/>
                        <a:t>convered</a:t>
                      </a:r>
                      <a:r>
                        <a:rPr lang="en-CA" sz="1500"/>
                        <a:t> from two letter abbreviations (MT, RD) to names that made logistical sense (Mountain Bike, Road Bike, etc.)</a:t>
                      </a:r>
                    </a:p>
                  </a:txBody>
                  <a:tcPr marL="74364" marR="74364" marT="37182" marB="37182"/>
                </a:tc>
                <a:tc>
                  <a:txBody>
                    <a:bodyPr/>
                    <a:lstStyle/>
                    <a:p>
                      <a:r>
                        <a:rPr lang="en-CA" sz="1500"/>
                        <a:t>Make interpreting data much more intuitive</a:t>
                      </a:r>
                    </a:p>
                  </a:txBody>
                  <a:tcPr marL="74364" marR="74364" marT="37182" marB="37182"/>
                </a:tc>
                <a:extLst>
                  <a:ext uri="{0D108BD9-81ED-4DB2-BD59-A6C34878D82A}">
                    <a16:rowId xmlns:a16="http://schemas.microsoft.com/office/drawing/2014/main" val="2426409075"/>
                  </a:ext>
                </a:extLst>
              </a:tr>
            </a:tbl>
          </a:graphicData>
        </a:graphic>
      </p:graphicFrame>
      <p:pic>
        <p:nvPicPr>
          <p:cNvPr id="8" name="Graphic 7" descr="Database with solid fill">
            <a:extLst>
              <a:ext uri="{FF2B5EF4-FFF2-40B4-BE49-F238E27FC236}">
                <a16:creationId xmlns:a16="http://schemas.microsoft.com/office/drawing/2014/main" id="{CF8D8DE0-2605-03FF-A299-2C964E32BD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72331" y="3658194"/>
            <a:ext cx="1828206" cy="1828206"/>
          </a:xfrm>
          <a:prstGeom prst="rect">
            <a:avLst/>
          </a:prstGeom>
        </p:spPr>
      </p:pic>
    </p:spTree>
    <p:extLst>
      <p:ext uri="{BB962C8B-B14F-4D97-AF65-F5344CB8AC3E}">
        <p14:creationId xmlns:p14="http://schemas.microsoft.com/office/powerpoint/2010/main" val="21486970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A5E875-D78A-CC2B-5837-632CA939825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56C6CF6-0ED4-2189-6148-62F687A29D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FE5F809D-726D-9720-AF13-6E5239C5C0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EBAE2C92-B310-BF75-AC83-5C1D23104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7C0DE99-5DDB-6E06-D69C-0561B2B0B8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AA33D84A-BAEA-F55B-66E6-F179B27EEEB6}"/>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Modelling (DT &amp; RF)</a:t>
            </a:r>
          </a:p>
        </p:txBody>
      </p:sp>
      <p:sp>
        <p:nvSpPr>
          <p:cNvPr id="3" name="Content Placeholder 2">
            <a:extLst>
              <a:ext uri="{FF2B5EF4-FFF2-40B4-BE49-F238E27FC236}">
                <a16:creationId xmlns:a16="http://schemas.microsoft.com/office/drawing/2014/main" id="{A3766455-18C4-9D7F-EA10-A2B833F4DD5B}"/>
              </a:ext>
            </a:extLst>
          </p:cNvPr>
          <p:cNvSpPr>
            <a:spLocks noGrp="1"/>
          </p:cNvSpPr>
          <p:nvPr>
            <p:ph idx="1"/>
          </p:nvPr>
        </p:nvSpPr>
        <p:spPr>
          <a:xfrm>
            <a:off x="657225" y="2308124"/>
            <a:ext cx="4141841" cy="3673576"/>
          </a:xfrm>
        </p:spPr>
        <p:txBody>
          <a:bodyPr>
            <a:normAutofit/>
          </a:bodyPr>
          <a:lstStyle/>
          <a:p>
            <a:r>
              <a:rPr lang="en-US" sz="1700"/>
              <a:t>This section will include:</a:t>
            </a:r>
          </a:p>
          <a:p>
            <a:pPr lvl="1"/>
            <a:r>
              <a:rPr lang="en-US" sz="1700"/>
              <a:t>Model test designs</a:t>
            </a:r>
          </a:p>
          <a:p>
            <a:pPr lvl="1"/>
            <a:r>
              <a:rPr lang="en-US" sz="1700"/>
              <a:t>Model Generation</a:t>
            </a:r>
          </a:p>
          <a:p>
            <a:pPr lvl="1"/>
            <a:r>
              <a:rPr lang="en-US" sz="1700"/>
              <a:t>Model Access (Interpretation)</a:t>
            </a:r>
          </a:p>
        </p:txBody>
      </p:sp>
      <p:pic>
        <p:nvPicPr>
          <p:cNvPr id="19" name="Graphic 18" descr="Database">
            <a:extLst>
              <a:ext uri="{FF2B5EF4-FFF2-40B4-BE49-F238E27FC236}">
                <a16:creationId xmlns:a16="http://schemas.microsoft.com/office/drawing/2014/main" id="{A1662D00-5CC3-CA7E-4368-93C2D3C9CD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8193" y="2445621"/>
            <a:ext cx="3398582" cy="3398582"/>
          </a:xfrm>
          <a:prstGeom prst="rect">
            <a:avLst/>
          </a:prstGeom>
        </p:spPr>
      </p:pic>
    </p:spTree>
    <p:extLst>
      <p:ext uri="{BB962C8B-B14F-4D97-AF65-F5344CB8AC3E}">
        <p14:creationId xmlns:p14="http://schemas.microsoft.com/office/powerpoint/2010/main" val="19449409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00FFA2-8245-05A2-60FB-EAF32CEFF4D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358ADB4-D9FF-5D18-92CB-C7DF8F56DC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0BC486DD-3EA8-CFA3-45BB-FE5B90D56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BB5B5A69-6F11-B5A2-BCA9-01A90790F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1769A81B-6D28-AC9C-A274-0067AF0DC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197BB77B-5A05-F432-F51A-4882C8DFE25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(DT &amp; RF) Testing/Design</a:t>
            </a:r>
          </a:p>
        </p:txBody>
      </p:sp>
      <p:sp>
        <p:nvSpPr>
          <p:cNvPr id="3" name="Content Placeholder 2">
            <a:extLst>
              <a:ext uri="{FF2B5EF4-FFF2-40B4-BE49-F238E27FC236}">
                <a16:creationId xmlns:a16="http://schemas.microsoft.com/office/drawing/2014/main" id="{D2F7E7FB-F0CE-F604-CBC5-9B71B4E7E0B2}"/>
              </a:ext>
            </a:extLst>
          </p:cNvPr>
          <p:cNvSpPr>
            <a:spLocks noGrp="1"/>
          </p:cNvSpPr>
          <p:nvPr>
            <p:ph idx="1"/>
          </p:nvPr>
        </p:nvSpPr>
        <p:spPr>
          <a:xfrm>
            <a:off x="657225" y="2308124"/>
            <a:ext cx="7858125" cy="3673576"/>
          </a:xfrm>
        </p:spPr>
        <p:txBody>
          <a:bodyPr>
            <a:normAutofit/>
          </a:bodyPr>
          <a:lstStyle/>
          <a:p>
            <a:r>
              <a:rPr lang="en-US" sz="2400"/>
              <a:t>Two Phases: Testing &amp; Training</a:t>
            </a:r>
          </a:p>
          <a:p>
            <a:pPr lvl="1"/>
            <a:r>
              <a:rPr lang="en-US" sz="2000"/>
              <a:t>Training: Model is trained on most of dataset</a:t>
            </a:r>
          </a:p>
          <a:p>
            <a:pPr lvl="1"/>
            <a:r>
              <a:rPr lang="en-US" sz="2000"/>
              <a:t>Testing: Model is tested against small portion of untrained dataset</a:t>
            </a:r>
          </a:p>
          <a:p>
            <a:r>
              <a:rPr lang="en-US" sz="2400"/>
              <a:t>Nominal cross-validation operator used for both DT’s &amp; RF’s</a:t>
            </a:r>
          </a:p>
          <a:p>
            <a:pPr lvl="1"/>
            <a:r>
              <a:rPr lang="en-US" sz="2000"/>
              <a:t>By default, uses 90%/10% training/testing ratio</a:t>
            </a:r>
          </a:p>
          <a:p>
            <a:pPr lvl="1"/>
            <a:r>
              <a:rPr lang="en-US" sz="2000"/>
              <a:t>Was testing 10 times (default)</a:t>
            </a:r>
          </a:p>
        </p:txBody>
      </p:sp>
    </p:spTree>
    <p:extLst>
      <p:ext uri="{BB962C8B-B14F-4D97-AF65-F5344CB8AC3E}">
        <p14:creationId xmlns:p14="http://schemas.microsoft.com/office/powerpoint/2010/main" val="9659633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085E3E-9F4B-0909-BB5D-43B45FC1D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60A87-5209-A058-F33B-C47BAB978A40}"/>
              </a:ext>
            </a:extLst>
          </p:cNvPr>
          <p:cNvSpPr>
            <a:spLocks noGrp="1"/>
          </p:cNvSpPr>
          <p:nvPr>
            <p:ph type="title"/>
          </p:nvPr>
        </p:nvSpPr>
        <p:spPr>
          <a:xfrm>
            <a:off x="657520" y="741391"/>
            <a:ext cx="2124993" cy="1616203"/>
          </a:xfrm>
        </p:spPr>
        <p:txBody>
          <a:bodyPr anchor="b">
            <a:normAutofit/>
          </a:bodyPr>
          <a:lstStyle/>
          <a:p>
            <a:r>
              <a:rPr lang="en-CA" sz="2800"/>
              <a:t>Build Model </a:t>
            </a:r>
            <a:br>
              <a:rPr lang="en-CA" sz="2800"/>
            </a:br>
            <a:r>
              <a:rPr lang="en-CA" sz="2800"/>
              <a:t>(DT &amp; RF)</a:t>
            </a:r>
          </a:p>
        </p:txBody>
      </p:sp>
      <p:sp>
        <p:nvSpPr>
          <p:cNvPr id="3" name="Content Placeholder 2">
            <a:extLst>
              <a:ext uri="{FF2B5EF4-FFF2-40B4-BE49-F238E27FC236}">
                <a16:creationId xmlns:a16="http://schemas.microsoft.com/office/drawing/2014/main" id="{FF4D44F5-7F15-47C1-2666-CAE6C6D8EB4E}"/>
              </a:ext>
            </a:extLst>
          </p:cNvPr>
          <p:cNvSpPr>
            <a:spLocks noGrp="1"/>
          </p:cNvSpPr>
          <p:nvPr>
            <p:ph idx="1"/>
          </p:nvPr>
        </p:nvSpPr>
        <p:spPr>
          <a:xfrm>
            <a:off x="657520" y="2533476"/>
            <a:ext cx="2124993" cy="3447832"/>
          </a:xfrm>
        </p:spPr>
        <p:txBody>
          <a:bodyPr anchor="t">
            <a:normAutofit/>
          </a:bodyPr>
          <a:lstStyle/>
          <a:p>
            <a:r>
              <a:rPr lang="en-US" sz="1700"/>
              <a:t>This section will include:</a:t>
            </a:r>
          </a:p>
          <a:p>
            <a:pPr lvl="1"/>
            <a:r>
              <a:rPr lang="en-US" sz="1700"/>
              <a:t>Process flow from AI Studio</a:t>
            </a:r>
          </a:p>
          <a:p>
            <a:pPr lvl="1"/>
            <a:r>
              <a:rPr lang="en-US" sz="1700"/>
              <a:t>Output from DT</a:t>
            </a:r>
          </a:p>
        </p:txBody>
      </p:sp>
      <p:pic>
        <p:nvPicPr>
          <p:cNvPr id="6" name="Picture 5">
            <a:extLst>
              <a:ext uri="{FF2B5EF4-FFF2-40B4-BE49-F238E27FC236}">
                <a16:creationId xmlns:a16="http://schemas.microsoft.com/office/drawing/2014/main" id="{C403A30F-62ED-A78E-79F9-875D7D0BBC07}"/>
              </a:ext>
            </a:extLst>
          </p:cNvPr>
          <p:cNvPicPr>
            <a:picLocks noChangeAspect="1"/>
          </p:cNvPicPr>
          <p:nvPr/>
        </p:nvPicPr>
        <p:blipFill>
          <a:blip r:embed="rId2"/>
          <a:stretch>
            <a:fillRect/>
          </a:stretch>
        </p:blipFill>
        <p:spPr>
          <a:xfrm>
            <a:off x="3059082" y="1900362"/>
            <a:ext cx="2605540" cy="30035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descr="A diagram of a type of crime&#10;&#10;AI-generated content may be incorrect.">
            <a:extLst>
              <a:ext uri="{FF2B5EF4-FFF2-40B4-BE49-F238E27FC236}">
                <a16:creationId xmlns:a16="http://schemas.microsoft.com/office/drawing/2014/main" id="{28B370F2-8DBA-DC01-D971-F0E896DD5916}"/>
              </a:ext>
            </a:extLst>
          </p:cNvPr>
          <p:cNvPicPr>
            <a:picLocks noChangeAspect="1"/>
          </p:cNvPicPr>
          <p:nvPr/>
        </p:nvPicPr>
        <p:blipFill>
          <a:blip r:embed="rId3"/>
          <a:stretch>
            <a:fillRect/>
          </a:stretch>
        </p:blipFill>
        <p:spPr>
          <a:xfrm>
            <a:off x="5856374" y="1900362"/>
            <a:ext cx="3003420" cy="30035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31" name="Group 30">
            <a:extLst>
              <a:ext uri="{FF2B5EF4-FFF2-40B4-BE49-F238E27FC236}">
                <a16:creationId xmlns:a16="http://schemas.microsoft.com/office/drawing/2014/main" id="{792AA144-DDFF-C43B-6866-516C9091D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737460"/>
            <a:ext cx="9144000" cy="123364"/>
            <a:chOff x="1" y="6737460"/>
            <a:chExt cx="12192000" cy="123364"/>
          </a:xfrm>
        </p:grpSpPr>
        <p:sp>
          <p:nvSpPr>
            <p:cNvPr id="32" name="Rectangle 31">
              <a:extLst>
                <a:ext uri="{FF2B5EF4-FFF2-40B4-BE49-F238E27FC236}">
                  <a16:creationId xmlns:a16="http://schemas.microsoft.com/office/drawing/2014/main" id="{56557A69-9517-26A8-EF3F-E65057EEC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7C5987E-7AB5-0A21-D727-68B38B342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756934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CF23EF-5503-DF5E-0EB5-2E74FF9D2D9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AEFE456-D01B-03E9-B3D9-6CEB336AC6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0A858547-51E5-279F-C3B6-D3F2C8C42D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2848BCC3-8313-F16A-C7DF-612DD0539E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FB4E4421-2027-C25B-8B12-404B2061E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DF9BD92A-932A-906D-81FA-E10D993FD4A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Access Model/Interpretation (DT &amp; RF)</a:t>
            </a:r>
          </a:p>
        </p:txBody>
      </p:sp>
      <p:sp>
        <p:nvSpPr>
          <p:cNvPr id="3" name="Content Placeholder 2">
            <a:extLst>
              <a:ext uri="{FF2B5EF4-FFF2-40B4-BE49-F238E27FC236}">
                <a16:creationId xmlns:a16="http://schemas.microsoft.com/office/drawing/2014/main" id="{8DDAE1D6-1068-D61B-2666-7491ABD05F17}"/>
              </a:ext>
            </a:extLst>
          </p:cNvPr>
          <p:cNvSpPr>
            <a:spLocks noGrp="1"/>
          </p:cNvSpPr>
          <p:nvPr>
            <p:ph idx="1"/>
          </p:nvPr>
        </p:nvSpPr>
        <p:spPr>
          <a:xfrm>
            <a:off x="657225" y="2308124"/>
            <a:ext cx="7858125" cy="3673576"/>
          </a:xfrm>
        </p:spPr>
        <p:txBody>
          <a:bodyPr>
            <a:normAutofit/>
          </a:bodyPr>
          <a:lstStyle/>
          <a:p>
            <a:r>
              <a:rPr lang="en-US" sz="1700"/>
              <a:t>Decision Tree &amp; Random Forest (50-Tree Subset) was generated</a:t>
            </a:r>
          </a:p>
          <a:p>
            <a:r>
              <a:rPr lang="en-US" sz="1700"/>
              <a:t>Both DT &amp; RF </a:t>
            </a:r>
            <a:r>
              <a:rPr lang="en-US" sz="1700" err="1"/>
              <a:t>producted</a:t>
            </a:r>
            <a:r>
              <a:rPr lang="en-US" sz="1700"/>
              <a:t> similar accuracy reading (46.37% &amp; 46.37% respectively)</a:t>
            </a:r>
          </a:p>
          <a:p>
            <a:r>
              <a:rPr lang="en-US" sz="1700" err="1"/>
              <a:t>Interestint</a:t>
            </a:r>
            <a:r>
              <a:rPr lang="en-US" sz="1700"/>
              <a:t> Findings/Rules found from DT:</a:t>
            </a:r>
          </a:p>
          <a:p>
            <a:pPr marL="800100" lvl="1" indent="-342900">
              <a:buFont typeface="+mj-lt"/>
              <a:buAutoNum type="arabicPeriod"/>
            </a:pPr>
            <a:r>
              <a:rPr lang="en-US" sz="1600"/>
              <a:t>For the most common targets for bicycle theft in Toronto, the vast majority of the bikes recovered were those that had a high value</a:t>
            </a:r>
          </a:p>
          <a:p>
            <a:pPr marL="800100" lvl="1" indent="-342900">
              <a:buFont typeface="+mj-lt"/>
              <a:buAutoNum type="arabicPeriod"/>
            </a:pPr>
            <a:r>
              <a:rPr lang="en-US" sz="1600"/>
              <a:t>Violent crimes were more common for stolen electric bikes that had a medium cost when the PREMESIS_TYPE was outside</a:t>
            </a:r>
          </a:p>
          <a:p>
            <a:pPr marL="800100" lvl="1" indent="-342900">
              <a:buFont typeface="+mj-lt"/>
              <a:buAutoNum type="arabicPeriod"/>
            </a:pPr>
            <a:r>
              <a:rPr lang="en-US" sz="1600"/>
              <a:t>For Unknown/Other bike targets, during covid, bike thefts that occurred in the morning &amp; afternoon more often resulted in the theft of medium value bikes, where bike thefts that occurred in the evenings &amp; nights more often resulted in the theft of high value bicycles.</a:t>
            </a:r>
          </a:p>
        </p:txBody>
      </p:sp>
    </p:spTree>
    <p:extLst>
      <p:ext uri="{BB962C8B-B14F-4D97-AF65-F5344CB8AC3E}">
        <p14:creationId xmlns:p14="http://schemas.microsoft.com/office/powerpoint/2010/main" val="11068531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57942D-3070-D21B-7D8B-753608CA6B9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39ECAE4-8324-70FC-3ADA-745EB77C6D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4A9B1F92-C843-2C8A-90EC-AEF5EF244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E458738-CB91-B959-1B67-C46C24A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2EFCD9A3-FB3A-51C8-F56F-28BB69952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A710C1AA-D0B7-B515-7C2F-6212B20C52CE}"/>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6.0 Discussion of Results (DT &amp; RF)</a:t>
            </a:r>
          </a:p>
        </p:txBody>
      </p:sp>
      <p:sp>
        <p:nvSpPr>
          <p:cNvPr id="3" name="Content Placeholder 2">
            <a:extLst>
              <a:ext uri="{FF2B5EF4-FFF2-40B4-BE49-F238E27FC236}">
                <a16:creationId xmlns:a16="http://schemas.microsoft.com/office/drawing/2014/main" id="{E72C70AB-82AB-1D1A-B8A7-14AB994C1442}"/>
              </a:ext>
            </a:extLst>
          </p:cNvPr>
          <p:cNvSpPr>
            <a:spLocks noGrp="1"/>
          </p:cNvSpPr>
          <p:nvPr>
            <p:ph idx="1"/>
          </p:nvPr>
        </p:nvSpPr>
        <p:spPr>
          <a:xfrm>
            <a:off x="657518" y="2326659"/>
            <a:ext cx="4141841" cy="3673576"/>
          </a:xfrm>
        </p:spPr>
        <p:txBody>
          <a:bodyPr>
            <a:normAutofit/>
          </a:bodyPr>
          <a:lstStyle/>
          <a:p>
            <a:r>
              <a:rPr lang="en-US" sz="1700"/>
              <a:t>This section will include:</a:t>
            </a:r>
          </a:p>
          <a:p>
            <a:pPr lvl="1"/>
            <a:r>
              <a:rPr lang="en-US" sz="1700"/>
              <a:t>Evaluation of Results</a:t>
            </a:r>
          </a:p>
          <a:p>
            <a:pPr lvl="1"/>
            <a:r>
              <a:rPr lang="en-US" sz="1700"/>
              <a:t>Review Process</a:t>
            </a:r>
          </a:p>
          <a:p>
            <a:pPr lvl="1"/>
            <a:r>
              <a:rPr lang="en-US" sz="1700"/>
              <a:t>Next Steps</a:t>
            </a:r>
          </a:p>
        </p:txBody>
      </p:sp>
      <p:pic>
        <p:nvPicPr>
          <p:cNvPr id="4" name="Picture 3">
            <a:extLst>
              <a:ext uri="{FF2B5EF4-FFF2-40B4-BE49-F238E27FC236}">
                <a16:creationId xmlns:a16="http://schemas.microsoft.com/office/drawing/2014/main" id="{8388133D-FDA3-CC03-07DF-10199BE5D1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7559" y="3954420"/>
            <a:ext cx="5943600" cy="11239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194552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4F7B78-1514-0F26-76A9-ABED6F6F481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2E6C561-79C3-48EF-5A9F-A16D0D6EDF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3363BD95-CC76-F89A-72C1-0ADF9C0E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215BB0E0-0268-6FE0-D5D4-53893D85F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120A853D-1DB5-FBE0-49AC-F1AE8AEAD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147EA6FA-7F92-59C7-2B44-FDDFE9F7DC86}"/>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Evaluation of Results (DT &amp; RF)</a:t>
            </a:r>
          </a:p>
        </p:txBody>
      </p:sp>
      <p:sp>
        <p:nvSpPr>
          <p:cNvPr id="3" name="Content Placeholder 2">
            <a:extLst>
              <a:ext uri="{FF2B5EF4-FFF2-40B4-BE49-F238E27FC236}">
                <a16:creationId xmlns:a16="http://schemas.microsoft.com/office/drawing/2014/main" id="{CBE9E133-AA5B-4768-3BE5-A3788E979586}"/>
              </a:ext>
            </a:extLst>
          </p:cNvPr>
          <p:cNvSpPr>
            <a:spLocks noGrp="1"/>
          </p:cNvSpPr>
          <p:nvPr>
            <p:ph idx="1"/>
          </p:nvPr>
        </p:nvSpPr>
        <p:spPr>
          <a:xfrm>
            <a:off x="657225" y="2308124"/>
            <a:ext cx="7858125" cy="3673576"/>
          </a:xfrm>
        </p:spPr>
        <p:txBody>
          <a:bodyPr>
            <a:normAutofit/>
          </a:bodyPr>
          <a:lstStyle/>
          <a:p>
            <a:r>
              <a:rPr lang="en-US" sz="2400"/>
              <a:t>Model Outputs vs. Business Goals?</a:t>
            </a:r>
          </a:p>
          <a:p>
            <a:pPr lvl="1"/>
            <a:r>
              <a:rPr lang="en-US" sz="2000"/>
              <a:t>Model successfully pinpointed high-risk locations and peak theft times, which directly coincided with out business goals</a:t>
            </a:r>
          </a:p>
          <a:p>
            <a:pPr marL="400050"/>
            <a:r>
              <a:rPr lang="en-US" sz="2400"/>
              <a:t>Key Metrics</a:t>
            </a:r>
          </a:p>
          <a:p>
            <a:pPr marL="800100" lvl="1"/>
            <a:r>
              <a:rPr lang="en-US" sz="2000"/>
              <a:t>Model very good at predicting high-cost bikes due to high precision of 67.02%</a:t>
            </a:r>
          </a:p>
          <a:p>
            <a:pPr marL="800100" lvl="1"/>
            <a:r>
              <a:rPr lang="en-US" sz="2000"/>
              <a:t>Model’s recall for low-cost targets was only 3.7%, indicating difficulty in correctly identifying low-theft areas</a:t>
            </a:r>
          </a:p>
          <a:p>
            <a:pPr marL="800100" lvl="1"/>
            <a:r>
              <a:rPr lang="en-US" sz="2000"/>
              <a:t>For Anomaly Detection: False positives vs. true anomalies</a:t>
            </a:r>
          </a:p>
        </p:txBody>
      </p:sp>
    </p:spTree>
    <p:extLst>
      <p:ext uri="{BB962C8B-B14F-4D97-AF65-F5344CB8AC3E}">
        <p14:creationId xmlns:p14="http://schemas.microsoft.com/office/powerpoint/2010/main" val="33660881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D50D50-8766-B3AC-319C-562DB2DBDB7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91BDE0B8-8B07-9D57-354D-FCF6F6EE88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BF24FB7C-776B-F57A-702A-1A3532A44C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450318EB-6ABC-8349-9FDF-A05C19B24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A570EAB4-FD3E-84A4-F057-907F36AA2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B87BE073-6728-27DE-F61A-27D17E4D33F6}"/>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Review Process (DT &amp; RF)</a:t>
            </a:r>
          </a:p>
        </p:txBody>
      </p:sp>
      <p:sp>
        <p:nvSpPr>
          <p:cNvPr id="3" name="Content Placeholder 2">
            <a:extLst>
              <a:ext uri="{FF2B5EF4-FFF2-40B4-BE49-F238E27FC236}">
                <a16:creationId xmlns:a16="http://schemas.microsoft.com/office/drawing/2014/main" id="{36A3F0E9-C3A4-7AFC-A75B-EB42E0B429F0}"/>
              </a:ext>
            </a:extLst>
          </p:cNvPr>
          <p:cNvSpPr>
            <a:spLocks noGrp="1"/>
          </p:cNvSpPr>
          <p:nvPr>
            <p:ph idx="1"/>
          </p:nvPr>
        </p:nvSpPr>
        <p:spPr>
          <a:xfrm>
            <a:off x="657225" y="2308124"/>
            <a:ext cx="7858125" cy="3673576"/>
          </a:xfrm>
        </p:spPr>
        <p:txBody>
          <a:bodyPr>
            <a:normAutofit/>
          </a:bodyPr>
          <a:lstStyle/>
          <a:p>
            <a:r>
              <a:rPr lang="en-US" sz="2400"/>
              <a:t>Model Strength: Accurately identifies high-risk cases.</a:t>
            </a:r>
          </a:p>
          <a:p>
            <a:r>
              <a:rPr lang="en-US" sz="2400"/>
              <a:t>Model Weakness: Struggles with medium and low-risk classification.</a:t>
            </a:r>
          </a:p>
          <a:p>
            <a:r>
              <a:rPr lang="en-US" sz="2400"/>
              <a:t>Challenge: Imbalanced theft risk categories reduced recall for low-risk cases.</a:t>
            </a:r>
          </a:p>
          <a:p>
            <a:r>
              <a:rPr lang="en-US" sz="2400"/>
              <a:t>Future Improvements:</a:t>
            </a:r>
          </a:p>
          <a:p>
            <a:pPr lvl="1"/>
            <a:r>
              <a:rPr lang="en-US" sz="2000"/>
              <a:t>Incorporating external/expanding datasets, such as police reports or weather conditions, to enhance predictive power.</a:t>
            </a:r>
          </a:p>
        </p:txBody>
      </p:sp>
    </p:spTree>
    <p:extLst>
      <p:ext uri="{BB962C8B-B14F-4D97-AF65-F5344CB8AC3E}">
        <p14:creationId xmlns:p14="http://schemas.microsoft.com/office/powerpoint/2010/main" val="41838407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0FB97A-CE68-8A9F-88CB-1E3AB6FCA31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C495EA1-13A7-BAD6-C37C-00668C7381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1C544A5E-E323-33DD-4756-0C9E95369D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D04F52B-F819-3717-EC44-250A68132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AB1AF024-1810-657D-B80B-29029CE54B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34CD753-B0A5-9863-B246-C1F7357C8F6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Next Steps (DT &amp; RF)</a:t>
            </a:r>
          </a:p>
        </p:txBody>
      </p:sp>
      <p:sp>
        <p:nvSpPr>
          <p:cNvPr id="3" name="Content Placeholder 2">
            <a:extLst>
              <a:ext uri="{FF2B5EF4-FFF2-40B4-BE49-F238E27FC236}">
                <a16:creationId xmlns:a16="http://schemas.microsoft.com/office/drawing/2014/main" id="{0F33CAC5-988D-2326-E83C-EA33318A8780}"/>
              </a:ext>
            </a:extLst>
          </p:cNvPr>
          <p:cNvSpPr>
            <a:spLocks noGrp="1"/>
          </p:cNvSpPr>
          <p:nvPr>
            <p:ph idx="1"/>
          </p:nvPr>
        </p:nvSpPr>
        <p:spPr>
          <a:xfrm>
            <a:off x="657225" y="2308124"/>
            <a:ext cx="7858125" cy="3673576"/>
          </a:xfrm>
        </p:spPr>
        <p:txBody>
          <a:bodyPr>
            <a:normAutofit/>
          </a:bodyPr>
          <a:lstStyle/>
          <a:p>
            <a:r>
              <a:rPr lang="en-US" sz="2400"/>
              <a:t>Focus on improving classification performance and expanding data sources.</a:t>
            </a:r>
          </a:p>
          <a:p>
            <a:r>
              <a:rPr lang="en-US" sz="2400"/>
              <a:t>Incorporate external crime data and refine feature engineering to capture theft patterns.</a:t>
            </a:r>
          </a:p>
          <a:p>
            <a:r>
              <a:rPr lang="en-US" sz="2400"/>
              <a:t>Conduct further evaluation with real-world data and stakeholder feedback for actionable insights.</a:t>
            </a:r>
          </a:p>
        </p:txBody>
      </p:sp>
    </p:spTree>
    <p:extLst>
      <p:ext uri="{BB962C8B-B14F-4D97-AF65-F5344CB8AC3E}">
        <p14:creationId xmlns:p14="http://schemas.microsoft.com/office/powerpoint/2010/main" val="4754130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52976-F583-7012-920E-68D9A446412D}"/>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BF64BC9F-1400-1626-2A83-3F6B64EDD9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9144000" cy="6894986"/>
            <a:chOff x="0" y="-7622"/>
            <a:chExt cx="12192000" cy="6894986"/>
          </a:xfrm>
        </p:grpSpPr>
        <p:sp>
          <p:nvSpPr>
            <p:cNvPr id="15" name="Rectangle 14">
              <a:extLst>
                <a:ext uri="{FF2B5EF4-FFF2-40B4-BE49-F238E27FC236}">
                  <a16:creationId xmlns:a16="http://schemas.microsoft.com/office/drawing/2014/main" id="{D2A470E5-60DD-D478-DE58-806BEAB913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F0817373-CEB5-066A-CBD0-E514604B3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60B73B5-7E33-0C42-B0E9-F147524B7C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65A0703B-263E-780C-DDD4-CFAC2917F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CF06AED2-EA82-EFDC-0E87-53F20270CD8E}"/>
              </a:ext>
            </a:extLst>
          </p:cNvPr>
          <p:cNvSpPr>
            <a:spLocks noGrp="1"/>
          </p:cNvSpPr>
          <p:nvPr>
            <p:ph type="title"/>
          </p:nvPr>
        </p:nvSpPr>
        <p:spPr>
          <a:xfrm>
            <a:off x="2205105" y="1536180"/>
            <a:ext cx="4763676" cy="2085740"/>
          </a:xfrm>
        </p:spPr>
        <p:txBody>
          <a:bodyPr vert="horz" lIns="91440" tIns="45720" rIns="91440" bIns="45720" rtlCol="0" anchor="b">
            <a:normAutofit/>
          </a:bodyPr>
          <a:lstStyle/>
          <a:p>
            <a:pPr defTabSz="914400">
              <a:lnSpc>
                <a:spcPct val="90000"/>
              </a:lnSpc>
            </a:pPr>
            <a:r>
              <a:rPr lang="en-US" sz="3500" kern="1200">
                <a:solidFill>
                  <a:srgbClr val="FFFFFF"/>
                </a:solidFill>
                <a:latin typeface="+mj-lt"/>
                <a:ea typeface="+mj-ea"/>
                <a:cs typeface="+mj-cs"/>
              </a:rPr>
              <a:t>Clustering</a:t>
            </a:r>
          </a:p>
        </p:txBody>
      </p:sp>
    </p:spTree>
    <p:extLst>
      <p:ext uri="{BB962C8B-B14F-4D97-AF65-F5344CB8AC3E}">
        <p14:creationId xmlns:p14="http://schemas.microsoft.com/office/powerpoint/2010/main" val="357779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932C01-DFEC-420C-D8B9-904E9723FD64}"/>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1CE1812-467E-FDCB-0E3F-816B093809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A2EFB749-B50A-4785-728A-37B0C65AA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F5BE66C1-05BE-E57F-71C4-529F6267D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AC373BAD-FDCF-72D3-1615-F17D93DF7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C4D79A64-FD48-8C48-EA18-D5BA5F78D6D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4.3 Data Preparation (Clustering)</a:t>
            </a:r>
          </a:p>
        </p:txBody>
      </p:sp>
      <p:sp>
        <p:nvSpPr>
          <p:cNvPr id="3" name="Content Placeholder 2">
            <a:extLst>
              <a:ext uri="{FF2B5EF4-FFF2-40B4-BE49-F238E27FC236}">
                <a16:creationId xmlns:a16="http://schemas.microsoft.com/office/drawing/2014/main" id="{9439AD5E-414C-B5B3-E587-900B071DD139}"/>
              </a:ext>
            </a:extLst>
          </p:cNvPr>
          <p:cNvSpPr>
            <a:spLocks noGrp="1"/>
          </p:cNvSpPr>
          <p:nvPr>
            <p:ph idx="1"/>
          </p:nvPr>
        </p:nvSpPr>
        <p:spPr>
          <a:xfrm>
            <a:off x="657225" y="2081315"/>
            <a:ext cx="7648145" cy="3673576"/>
          </a:xfrm>
        </p:spPr>
        <p:txBody>
          <a:bodyPr vert="horz" lIns="91440" tIns="45720" rIns="91440" bIns="45720" rtlCol="0" anchor="t">
            <a:normAutofit/>
          </a:bodyPr>
          <a:lstStyle/>
          <a:p>
            <a:pPr marL="0" indent="0">
              <a:buNone/>
            </a:pPr>
            <a:r>
              <a:rPr lang="en-US" sz="1800" b="1">
                <a:latin typeface="Aptos"/>
                <a:cs typeface="Times New Roman"/>
              </a:rPr>
              <a:t>Clustering in Bicycle Theft Analysis</a:t>
            </a:r>
            <a:endParaRPr lang="en-US" sz="1800" b="1">
              <a:latin typeface="Aptos"/>
              <a:ea typeface="Calibri"/>
              <a:cs typeface="Calibri"/>
            </a:endParaRPr>
          </a:p>
          <a:p>
            <a:pPr marL="0" indent="0">
              <a:buNone/>
            </a:pPr>
            <a:endParaRPr lang="en-US" sz="1800" b="1">
              <a:latin typeface="Aptos"/>
              <a:cs typeface="Times New Roman"/>
            </a:endParaRPr>
          </a:p>
          <a:p>
            <a:pPr>
              <a:buFont typeface="Wingdings"/>
              <a:buChar char="Ø"/>
            </a:pPr>
            <a:r>
              <a:rPr lang="en-US" sz="1600" b="1">
                <a:latin typeface="Aptos"/>
                <a:cs typeface="Times New Roman"/>
              </a:rPr>
              <a:t>Definition:</a:t>
            </a:r>
          </a:p>
          <a:p>
            <a:pPr lvl="1">
              <a:buFont typeface="Wingdings"/>
              <a:buChar char="ü"/>
            </a:pPr>
            <a:r>
              <a:rPr lang="en-US" sz="1400">
                <a:latin typeface="Aptos"/>
                <a:cs typeface="Times New Roman"/>
              </a:rPr>
              <a:t>Unsupervised machine learning technique that groups similar data points based on shared characteristics. </a:t>
            </a:r>
            <a:endParaRPr lang="en-US" sz="1400">
              <a:latin typeface="Aptos"/>
              <a:ea typeface="Calibri"/>
              <a:cs typeface="Calibri"/>
            </a:endParaRPr>
          </a:p>
          <a:p>
            <a:pPr lvl="1">
              <a:buFont typeface="Wingdings"/>
              <a:buChar char="ü"/>
            </a:pPr>
            <a:endParaRPr lang="en-US" sz="1400">
              <a:latin typeface="Aptos"/>
              <a:ea typeface="Calibri"/>
              <a:cs typeface="Times New Roman"/>
            </a:endParaRPr>
          </a:p>
          <a:p>
            <a:pPr>
              <a:buFont typeface="Wingdings"/>
              <a:buChar char="Ø"/>
            </a:pPr>
            <a:r>
              <a:rPr lang="en-US" sz="1600" b="1">
                <a:latin typeface="Aptos"/>
                <a:ea typeface="Calibri"/>
                <a:cs typeface="Calibri"/>
              </a:rPr>
              <a:t>Goal:</a:t>
            </a:r>
            <a:endParaRPr lang="en-US" sz="1600" b="1">
              <a:latin typeface="Aptos"/>
              <a:cs typeface="Times New Roman"/>
            </a:endParaRPr>
          </a:p>
          <a:p>
            <a:pPr lvl="1">
              <a:buFont typeface="Wingdings"/>
              <a:buChar char="ü"/>
            </a:pPr>
            <a:r>
              <a:rPr lang="en-US" sz="1400">
                <a:latin typeface="Aptos"/>
                <a:cs typeface="Times New Roman"/>
              </a:rPr>
              <a:t>Identify patterns without predefined labels. </a:t>
            </a:r>
            <a:endParaRPr lang="en-US" sz="1400">
              <a:latin typeface="Aptos"/>
              <a:ea typeface="Calibri"/>
              <a:cs typeface="Calibri"/>
            </a:endParaRPr>
          </a:p>
          <a:p>
            <a:pPr lvl="1">
              <a:buFont typeface="Wingdings"/>
              <a:buChar char="ü"/>
            </a:pPr>
            <a:endParaRPr lang="en-US" sz="1400">
              <a:latin typeface="Aptos"/>
              <a:ea typeface="Calibri"/>
              <a:cs typeface="Times New Roman"/>
            </a:endParaRPr>
          </a:p>
          <a:p>
            <a:pPr>
              <a:buFont typeface="Wingdings"/>
              <a:buChar char="Ø"/>
            </a:pPr>
            <a:r>
              <a:rPr lang="en-US" sz="1600" b="1">
                <a:latin typeface="Aptos"/>
                <a:ea typeface="Calibri"/>
                <a:cs typeface="Calibri"/>
              </a:rPr>
              <a:t>Application:</a:t>
            </a:r>
            <a:endParaRPr lang="en-US" sz="1600">
              <a:latin typeface="Aptos"/>
              <a:cs typeface="Times New Roman"/>
            </a:endParaRPr>
          </a:p>
          <a:p>
            <a:pPr lvl="1">
              <a:buFont typeface="Wingdings"/>
              <a:buChar char="ü"/>
            </a:pPr>
            <a:r>
              <a:rPr lang="en-US" sz="1400">
                <a:latin typeface="Aptos"/>
                <a:cs typeface="Times New Roman"/>
              </a:rPr>
              <a:t>Group bicycle theft incidents based on location, time, and types of stolen bicycles. </a:t>
            </a:r>
            <a:endParaRPr lang="en-US" sz="1400">
              <a:latin typeface="Aptos"/>
              <a:ea typeface="Calibri"/>
              <a:cs typeface="Calibri"/>
            </a:endParaRPr>
          </a:p>
        </p:txBody>
      </p:sp>
    </p:spTree>
    <p:extLst>
      <p:ext uri="{BB962C8B-B14F-4D97-AF65-F5344CB8AC3E}">
        <p14:creationId xmlns:p14="http://schemas.microsoft.com/office/powerpoint/2010/main" val="39538392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6689A-FE9B-D2A4-245E-968B928DEE4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EAB9EF71-E142-48DE-69CB-01FFA61B79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8646AB14-F679-EA40-9C43-AFAA20C27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ACEE2AD-C6AF-A70F-CAE9-B3A4894F1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3BE2F935-BDAD-0600-2749-5FFFC34A9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8523A5AC-773B-9CF0-E036-9F043FE6DB95}"/>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Selected (Clustering)</a:t>
            </a:r>
          </a:p>
        </p:txBody>
      </p:sp>
      <p:sp>
        <p:nvSpPr>
          <p:cNvPr id="3" name="Content Placeholder 2">
            <a:extLst>
              <a:ext uri="{FF2B5EF4-FFF2-40B4-BE49-F238E27FC236}">
                <a16:creationId xmlns:a16="http://schemas.microsoft.com/office/drawing/2014/main" id="{048DBE9D-7217-6282-B703-9E1C73ECB0A5}"/>
              </a:ext>
            </a:extLst>
          </p:cNvPr>
          <p:cNvSpPr>
            <a:spLocks noGrp="1"/>
          </p:cNvSpPr>
          <p:nvPr>
            <p:ph idx="1"/>
          </p:nvPr>
        </p:nvSpPr>
        <p:spPr>
          <a:xfrm>
            <a:off x="704334" y="1610743"/>
            <a:ext cx="7764200" cy="563951"/>
          </a:xfrm>
        </p:spPr>
        <p:txBody>
          <a:bodyPr vert="horz" lIns="91440" tIns="45720" rIns="91440" bIns="45720" rtlCol="0" anchor="t">
            <a:normAutofit/>
          </a:bodyPr>
          <a:lstStyle/>
          <a:p>
            <a:pPr marL="0" indent="0">
              <a:buNone/>
            </a:pPr>
            <a:r>
              <a:rPr lang="en-CA" sz="1600" b="1">
                <a:latin typeface="Aptos"/>
              </a:rPr>
              <a:t>Relevant data selected for the Clustering:</a:t>
            </a:r>
            <a:endParaRPr lang="en-US" sz="1600" b="1">
              <a:latin typeface="Aptos"/>
              <a:ea typeface="Calibri"/>
              <a:cs typeface="Calibri"/>
            </a:endParaRPr>
          </a:p>
          <a:p>
            <a:pPr marL="0" indent="0">
              <a:buNone/>
            </a:pPr>
            <a:endParaRPr lang="en-CA" sz="1700"/>
          </a:p>
          <a:p>
            <a:pPr marL="0" indent="0">
              <a:buNone/>
            </a:pPr>
            <a:endParaRPr lang="en-CA" sz="1700"/>
          </a:p>
        </p:txBody>
      </p:sp>
      <p:graphicFrame>
        <p:nvGraphicFramePr>
          <p:cNvPr id="5" name="Table 4">
            <a:extLst>
              <a:ext uri="{FF2B5EF4-FFF2-40B4-BE49-F238E27FC236}">
                <a16:creationId xmlns:a16="http://schemas.microsoft.com/office/drawing/2014/main" id="{EAD6DCAA-6B35-B40E-A4F9-93DFE065891A}"/>
              </a:ext>
            </a:extLst>
          </p:cNvPr>
          <p:cNvGraphicFramePr>
            <a:graphicFrameLocks noGrp="1"/>
          </p:cNvGraphicFramePr>
          <p:nvPr>
            <p:extLst>
              <p:ext uri="{D42A27DB-BD31-4B8C-83A1-F6EECF244321}">
                <p14:modId xmlns:p14="http://schemas.microsoft.com/office/powerpoint/2010/main" val="3790721453"/>
              </p:ext>
            </p:extLst>
          </p:nvPr>
        </p:nvGraphicFramePr>
        <p:xfrm>
          <a:off x="657226" y="2308124"/>
          <a:ext cx="7764199" cy="4135626"/>
        </p:xfrm>
        <a:graphic>
          <a:graphicData uri="http://schemas.openxmlformats.org/drawingml/2006/table">
            <a:tbl>
              <a:tblPr firstRow="1" bandRow="1">
                <a:tableStyleId>{5C22544A-7EE6-4342-B048-85BDC9FD1C3A}</a:tableStyleId>
              </a:tblPr>
              <a:tblGrid>
                <a:gridCol w="2252698">
                  <a:extLst>
                    <a:ext uri="{9D8B030D-6E8A-4147-A177-3AD203B41FA5}">
                      <a16:colId xmlns:a16="http://schemas.microsoft.com/office/drawing/2014/main" val="4012305098"/>
                    </a:ext>
                  </a:extLst>
                </a:gridCol>
                <a:gridCol w="4118381">
                  <a:extLst>
                    <a:ext uri="{9D8B030D-6E8A-4147-A177-3AD203B41FA5}">
                      <a16:colId xmlns:a16="http://schemas.microsoft.com/office/drawing/2014/main" val="4053218497"/>
                    </a:ext>
                  </a:extLst>
                </a:gridCol>
                <a:gridCol w="1393120">
                  <a:extLst>
                    <a:ext uri="{9D8B030D-6E8A-4147-A177-3AD203B41FA5}">
                      <a16:colId xmlns:a16="http://schemas.microsoft.com/office/drawing/2014/main" val="910517411"/>
                    </a:ext>
                  </a:extLst>
                </a:gridCol>
              </a:tblGrid>
              <a:tr h="303923">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Relevance</a:t>
                      </a:r>
                    </a:p>
                  </a:txBody>
                  <a:tcPr marL="74364" marR="74364" marT="37182" marB="37182"/>
                </a:tc>
                <a:extLst>
                  <a:ext uri="{0D108BD9-81ED-4DB2-BD59-A6C34878D82A}">
                    <a16:rowId xmlns:a16="http://schemas.microsoft.com/office/drawing/2014/main" val="2819037219"/>
                  </a:ext>
                </a:extLst>
              </a:tr>
              <a:tr h="343139">
                <a:tc>
                  <a:txBody>
                    <a:bodyPr/>
                    <a:lstStyle/>
                    <a:p>
                      <a:pPr lvl="0">
                        <a:buNone/>
                      </a:pPr>
                      <a:r>
                        <a:rPr lang="en-US" sz="1200" b="0" i="0" u="none" strike="noStrike" noProof="0">
                          <a:solidFill>
                            <a:srgbClr val="000000"/>
                          </a:solidFill>
                          <a:latin typeface="Times New Roman"/>
                        </a:rPr>
                        <a:t>OCC_YEAR</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Useful for detecting long-term trends</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426409075"/>
                  </a:ext>
                </a:extLst>
              </a:tr>
              <a:tr h="343139">
                <a:tc>
                  <a:txBody>
                    <a:bodyPr/>
                    <a:lstStyle/>
                    <a:p>
                      <a:pPr lvl="0">
                        <a:buNone/>
                      </a:pPr>
                      <a:r>
                        <a:rPr lang="en-US" sz="1200" b="0" i="0" u="none" strike="noStrike" noProof="0">
                          <a:solidFill>
                            <a:srgbClr val="000000"/>
                          </a:solidFill>
                          <a:latin typeface="Times New Roman"/>
                        </a:rPr>
                        <a:t>OCC_MONTH</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Captures seasonal trends</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891385519"/>
                  </a:ext>
                </a:extLst>
              </a:tr>
              <a:tr h="343139">
                <a:tc>
                  <a:txBody>
                    <a:bodyPr/>
                    <a:lstStyle/>
                    <a:p>
                      <a:pPr lvl="0">
                        <a:buNone/>
                      </a:pPr>
                      <a:r>
                        <a:rPr lang="en-US" sz="1200" b="0" i="0" u="none" strike="noStrike" noProof="0">
                          <a:solidFill>
                            <a:srgbClr val="000000"/>
                          </a:solidFill>
                          <a:latin typeface="Times New Roman"/>
                        </a:rPr>
                        <a:t>OCC_DOW</a:t>
                      </a:r>
                      <a:endParaRPr lang="en-US"/>
                    </a:p>
                  </a:txBody>
                  <a:tcPr marL="74364" marR="74364" marT="37182" marB="37182"/>
                </a:tc>
                <a:tc>
                  <a:txBody>
                    <a:bodyPr/>
                    <a:lstStyle/>
                    <a:p>
                      <a:pPr lvl="0">
                        <a:buNone/>
                      </a:pPr>
                      <a:r>
                        <a:rPr lang="en-US" sz="1200" b="0" i="0" u="none" strike="noStrike" noProof="0">
                          <a:solidFill>
                            <a:srgbClr val="000000"/>
                          </a:solidFill>
                          <a:latin typeface="Times New Roman"/>
                        </a:rPr>
                        <a:t>Helps identify day of the week theft occurred</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296954587"/>
                  </a:ext>
                </a:extLst>
              </a:tr>
              <a:tr h="343139">
                <a:tc>
                  <a:txBody>
                    <a:bodyPr/>
                    <a:lstStyle/>
                    <a:p>
                      <a:pPr lvl="0">
                        <a:buNone/>
                      </a:pPr>
                      <a:r>
                        <a:rPr lang="en-US" sz="1200" b="0" i="0" u="none" strike="noStrike" noProof="0">
                          <a:solidFill>
                            <a:srgbClr val="000000"/>
                          </a:solidFill>
                          <a:latin typeface="Times New Roman"/>
                        </a:rPr>
                        <a:t>OCC_DAY</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Helps identify daily trends</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118010167"/>
                  </a:ext>
                </a:extLst>
              </a:tr>
              <a:tr h="343139">
                <a:tc>
                  <a:txBody>
                    <a:bodyPr/>
                    <a:lstStyle/>
                    <a:p>
                      <a:pPr lvl="0">
                        <a:buNone/>
                      </a:pPr>
                      <a:r>
                        <a:rPr lang="en-US" sz="1200" b="0" i="0" u="none" strike="noStrike" noProof="0">
                          <a:solidFill>
                            <a:srgbClr val="000000"/>
                          </a:solidFill>
                          <a:latin typeface="Times New Roman"/>
                        </a:rPr>
                        <a:t>OCC_DOY</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Helps track yearly theft patterns</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644363679"/>
                  </a:ext>
                </a:extLst>
              </a:tr>
              <a:tr h="343139">
                <a:tc>
                  <a:txBody>
                    <a:bodyPr/>
                    <a:lstStyle/>
                    <a:p>
                      <a:pPr lvl="0">
                        <a:buNone/>
                      </a:pPr>
                      <a:r>
                        <a:rPr lang="en-US" sz="1200" b="0" i="0" u="none" strike="noStrike" noProof="0">
                          <a:solidFill>
                            <a:srgbClr val="000000"/>
                          </a:solidFill>
                          <a:latin typeface="Times New Roman"/>
                        </a:rPr>
                        <a:t>OCC_HOUR</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Critical for spotting peak theft times</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809767358"/>
                  </a:ext>
                </a:extLst>
              </a:tr>
              <a:tr h="400313">
                <a:tc>
                  <a:txBody>
                    <a:bodyPr/>
                    <a:lstStyle/>
                    <a:p>
                      <a:pPr lvl="0">
                        <a:buNone/>
                      </a:pPr>
                      <a:r>
                        <a:rPr lang="en-US" sz="1200" b="0" i="0" u="none" strike="noStrike" noProof="0">
                          <a:solidFill>
                            <a:srgbClr val="000000"/>
                          </a:solidFill>
                          <a:latin typeface="Times New Roman"/>
                        </a:rPr>
                        <a:t>DIVISION</a:t>
                      </a:r>
                      <a:endParaRPr lang="en-CA" sz="1200" b="0" i="0" u="none" strike="noStrike" noProof="0">
                        <a:solidFill>
                          <a:srgbClr val="000000"/>
                        </a:solidFill>
                        <a:latin typeface="Times New Roman"/>
                      </a:endParaRPr>
                    </a:p>
                  </a:txBody>
                  <a:tcPr marL="74364" marR="74364" marT="37182" marB="37182"/>
                </a:tc>
                <a:tc>
                  <a:txBody>
                    <a:bodyPr/>
                    <a:lstStyle/>
                    <a:p>
                      <a:pPr lvl="0" algn="l">
                        <a:lnSpc>
                          <a:spcPct val="100000"/>
                        </a:lnSpc>
                        <a:spcBef>
                          <a:spcPts val="0"/>
                        </a:spcBef>
                        <a:spcAft>
                          <a:spcPts val="0"/>
                        </a:spcAft>
                        <a:buNone/>
                      </a:pPr>
                      <a:r>
                        <a:rPr lang="en-US" sz="1200" b="0" i="0" u="none" strike="noStrike" noProof="0">
                          <a:latin typeface="Times New Roman"/>
                        </a:rPr>
                        <a:t>Helps identify the division where the theft occurred</a:t>
                      </a:r>
                      <a:endParaRPr lang="en-US" sz="1200" b="0" i="0" u="none" strike="noStrike" noProof="0" err="1">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1971785325"/>
                  </a:ext>
                </a:extLst>
              </a:tr>
              <a:tr h="343139">
                <a:tc>
                  <a:txBody>
                    <a:bodyPr/>
                    <a:lstStyle/>
                    <a:p>
                      <a:pPr lvl="0">
                        <a:buNone/>
                      </a:pPr>
                      <a:r>
                        <a:rPr lang="en-US" sz="1200" b="0" i="0" u="none" strike="noStrike" noProof="0">
                          <a:solidFill>
                            <a:srgbClr val="000000"/>
                          </a:solidFill>
                          <a:latin typeface="Times New Roman"/>
                        </a:rPr>
                        <a:t>PREMISES_TYPE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Helps understand the theft context</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3027984104"/>
                  </a:ext>
                </a:extLst>
              </a:tr>
              <a:tr h="343139">
                <a:tc>
                  <a:txBody>
                    <a:bodyPr/>
                    <a:lstStyle/>
                    <a:p>
                      <a:pPr lvl="0">
                        <a:buNone/>
                      </a:pPr>
                      <a:r>
                        <a:rPr lang="en-US" sz="1200" b="0" i="0" u="none" strike="noStrike" noProof="0">
                          <a:solidFill>
                            <a:srgbClr val="000000"/>
                          </a:solidFill>
                          <a:latin typeface="Times New Roman"/>
                        </a:rPr>
                        <a:t>BIKE_TYPE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Helps identify the bike type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3397411999"/>
                  </a:ext>
                </a:extLst>
              </a:tr>
              <a:tr h="343139">
                <a:tc>
                  <a:txBody>
                    <a:bodyPr/>
                    <a:lstStyle/>
                    <a:p>
                      <a:pPr lvl="0">
                        <a:buNone/>
                      </a:pPr>
                      <a:r>
                        <a:rPr lang="en-US" sz="1200" b="0" i="0" u="none" strike="noStrike" noProof="0">
                          <a:solidFill>
                            <a:srgbClr val="000000"/>
                          </a:solidFill>
                          <a:latin typeface="Times New Roman"/>
                        </a:rPr>
                        <a:t>BIKE_SPEED</a:t>
                      </a:r>
                    </a:p>
                  </a:txBody>
                  <a:tcPr marL="74364" marR="74364" marT="37182" marB="37182"/>
                </a:tc>
                <a:tc>
                  <a:txBody>
                    <a:bodyPr/>
                    <a:lstStyle/>
                    <a:p>
                      <a:pPr lvl="0">
                        <a:buNone/>
                      </a:pPr>
                      <a:r>
                        <a:rPr lang="en-US" sz="1200" b="0" i="0" u="none" strike="noStrike" noProof="0">
                          <a:solidFill>
                            <a:srgbClr val="000000"/>
                          </a:solidFill>
                          <a:latin typeface="Times New Roman"/>
                        </a:rPr>
                        <a:t>Helps to identify speed of the bicycle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1740085989"/>
                  </a:ext>
                </a:extLst>
              </a:tr>
              <a:tr h="343139">
                <a:tc>
                  <a:txBody>
                    <a:bodyPr/>
                    <a:lstStyle/>
                    <a:p>
                      <a:pPr lvl="0">
                        <a:buNone/>
                      </a:pPr>
                      <a:r>
                        <a:rPr lang="en-US" sz="1200" b="0" i="0" u="none" strike="noStrike" noProof="0">
                          <a:solidFill>
                            <a:srgbClr val="000000"/>
                          </a:solidFill>
                          <a:latin typeface="Times New Roman"/>
                        </a:rPr>
                        <a:t>BIKE_COST_CLASS</a:t>
                      </a:r>
                    </a:p>
                  </a:txBody>
                  <a:tcPr marL="74364" marR="74364" marT="37182" marB="37182"/>
                </a:tc>
                <a:tc>
                  <a:txBody>
                    <a:bodyPr/>
                    <a:lstStyle/>
                    <a:p>
                      <a:pPr lvl="0">
                        <a:buNone/>
                      </a:pPr>
                      <a:r>
                        <a:rPr lang="en-US" sz="1200" b="0" i="0" u="none" strike="noStrike" noProof="0">
                          <a:solidFill>
                            <a:srgbClr val="000000"/>
                          </a:solidFill>
                          <a:latin typeface="Times New Roman"/>
                        </a:rPr>
                        <a:t> Class label changed to regular</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330754219"/>
                  </a:ext>
                </a:extLst>
              </a:tr>
            </a:tbl>
          </a:graphicData>
        </a:graphic>
      </p:graphicFrame>
    </p:spTree>
    <p:extLst>
      <p:ext uri="{BB962C8B-B14F-4D97-AF65-F5344CB8AC3E}">
        <p14:creationId xmlns:p14="http://schemas.microsoft.com/office/powerpoint/2010/main" val="18251520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745902-E961-B732-A925-84366E5AAE60}"/>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39197E1-0246-8AE7-60C4-F9455ECDCD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621FBFB6-3DA5-977D-C4CF-B8C1598C2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1A7AF4D7-16D5-5D63-D340-EF35E4979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9055605F-D13C-574E-C519-B01BB7508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38E6AF30-AA82-57ED-AF72-54394D8E552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Constructed (Clustering)</a:t>
            </a:r>
          </a:p>
        </p:txBody>
      </p:sp>
      <p:sp>
        <p:nvSpPr>
          <p:cNvPr id="3" name="Content Placeholder 2">
            <a:extLst>
              <a:ext uri="{FF2B5EF4-FFF2-40B4-BE49-F238E27FC236}">
                <a16:creationId xmlns:a16="http://schemas.microsoft.com/office/drawing/2014/main" id="{719D0172-14FD-E8BD-F0C7-BA113C53F683}"/>
              </a:ext>
            </a:extLst>
          </p:cNvPr>
          <p:cNvSpPr>
            <a:spLocks noGrp="1"/>
          </p:cNvSpPr>
          <p:nvPr>
            <p:ph idx="1"/>
          </p:nvPr>
        </p:nvSpPr>
        <p:spPr>
          <a:xfrm>
            <a:off x="663330" y="1610743"/>
            <a:ext cx="7856459" cy="1681323"/>
          </a:xfrm>
        </p:spPr>
        <p:txBody>
          <a:bodyPr vert="horz" lIns="91440" tIns="45720" rIns="91440" bIns="45720" rtlCol="0" anchor="t">
            <a:normAutofit/>
          </a:bodyPr>
          <a:lstStyle/>
          <a:p>
            <a:pPr>
              <a:buFont typeface="Wingdings"/>
              <a:buChar char="Ø"/>
            </a:pPr>
            <a:r>
              <a:rPr lang="en-CA" sz="2400">
                <a:latin typeface="Aptos"/>
              </a:rPr>
              <a:t>No new attribute were created. </a:t>
            </a:r>
            <a:endParaRPr lang="en-CA" sz="2400">
              <a:latin typeface="Aptos"/>
              <a:cs typeface="Segoe UI"/>
            </a:endParaRPr>
          </a:p>
          <a:p>
            <a:pPr>
              <a:buFont typeface="Wingdings"/>
              <a:buChar char="Ø"/>
            </a:pPr>
            <a:endParaRPr lang="en-CA" sz="2400">
              <a:latin typeface="Aptos"/>
            </a:endParaRPr>
          </a:p>
          <a:p>
            <a:pPr>
              <a:buFont typeface="Wingdings"/>
              <a:buChar char="Ø"/>
            </a:pPr>
            <a:r>
              <a:rPr lang="en-CA" sz="2400">
                <a:latin typeface="Aptos"/>
                <a:cs typeface="Times New Roman"/>
              </a:rPr>
              <a:t>No integrating of data was done.</a:t>
            </a:r>
          </a:p>
          <a:p>
            <a:pPr>
              <a:buFont typeface="Wingdings"/>
              <a:buChar char="Ø"/>
            </a:pPr>
            <a:endParaRPr lang="en-CA" sz="1700">
              <a:ea typeface="Calibri"/>
              <a:cs typeface="Calibri"/>
            </a:endParaRPr>
          </a:p>
          <a:p>
            <a:pPr marL="0" indent="0">
              <a:buNone/>
            </a:pPr>
            <a:endParaRPr lang="en-CA" sz="1700">
              <a:ea typeface="Calibri"/>
              <a:cs typeface="Calibri"/>
            </a:endParaRPr>
          </a:p>
        </p:txBody>
      </p:sp>
    </p:spTree>
    <p:extLst>
      <p:ext uri="{BB962C8B-B14F-4D97-AF65-F5344CB8AC3E}">
        <p14:creationId xmlns:p14="http://schemas.microsoft.com/office/powerpoint/2010/main" val="28953500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7AF2C5-5934-F7CA-BD7C-4A0F1131D99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F40298DE-D8B8-6245-4193-7A538BF3A1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4D4A52AA-02C2-AD8C-8673-713FB1727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138AF62-3AB8-FA56-0735-68234E6C44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B077BA89-2976-0313-2259-3655CA5C05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A20B90C4-3DA0-2F8F-AC15-C531FC587B3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Formatted (Clustering)</a:t>
            </a:r>
          </a:p>
        </p:txBody>
      </p:sp>
      <p:sp>
        <p:nvSpPr>
          <p:cNvPr id="3" name="Content Placeholder 2">
            <a:extLst>
              <a:ext uri="{FF2B5EF4-FFF2-40B4-BE49-F238E27FC236}">
                <a16:creationId xmlns:a16="http://schemas.microsoft.com/office/drawing/2014/main" id="{C6EC86F7-C5FB-1D81-8057-CA74C308AC6C}"/>
              </a:ext>
            </a:extLst>
          </p:cNvPr>
          <p:cNvSpPr>
            <a:spLocks noGrp="1"/>
          </p:cNvSpPr>
          <p:nvPr>
            <p:ph idx="1"/>
          </p:nvPr>
        </p:nvSpPr>
        <p:spPr>
          <a:xfrm>
            <a:off x="654883" y="2007632"/>
            <a:ext cx="7851164" cy="4090581"/>
          </a:xfrm>
        </p:spPr>
        <p:txBody>
          <a:bodyPr vert="horz" lIns="91440" tIns="45720" rIns="91440" bIns="45720" rtlCol="0" anchor="t">
            <a:noAutofit/>
          </a:bodyPr>
          <a:lstStyle/>
          <a:p>
            <a:pPr>
              <a:buFont typeface="Wingdings"/>
              <a:buChar char="Ø"/>
            </a:pPr>
            <a:r>
              <a:rPr lang="en-US" sz="1600" b="1">
                <a:latin typeface="Aptos"/>
                <a:cs typeface="Times New Roman"/>
              </a:rPr>
              <a:t>Set Attribute:</a:t>
            </a:r>
            <a:endParaRPr lang="en-US" sz="1600" b="1">
              <a:latin typeface="Aptos"/>
              <a:ea typeface="Calibri"/>
              <a:cs typeface="Calibri"/>
            </a:endParaRPr>
          </a:p>
          <a:p>
            <a:pPr lvl="1">
              <a:buFont typeface="Wingdings"/>
              <a:buChar char="ü"/>
            </a:pPr>
            <a:r>
              <a:rPr lang="en-US" sz="1400">
                <a:latin typeface="Aptos"/>
                <a:cs typeface="Times New Roman"/>
              </a:rPr>
              <a:t>BIKE_COST_CLASS set to Regular.</a:t>
            </a:r>
            <a:endParaRPr lang="en-US" sz="1400">
              <a:latin typeface="Aptos"/>
              <a:ea typeface="Calibri"/>
              <a:cs typeface="Calibri"/>
            </a:endParaRPr>
          </a:p>
          <a:p>
            <a:pPr>
              <a:buFont typeface="Wingdings"/>
              <a:buChar char="Ø"/>
            </a:pPr>
            <a:endParaRPr lang="en-US" sz="1400">
              <a:latin typeface="Aptos"/>
              <a:cs typeface="Times New Roman"/>
            </a:endParaRPr>
          </a:p>
          <a:p>
            <a:pPr>
              <a:buFont typeface="Wingdings"/>
              <a:buChar char="Ø"/>
            </a:pPr>
            <a:r>
              <a:rPr lang="en-US" sz="1600" b="1">
                <a:latin typeface="Aptos"/>
                <a:cs typeface="Times New Roman"/>
              </a:rPr>
              <a:t>Selected Relevant Attributes:</a:t>
            </a:r>
          </a:p>
          <a:p>
            <a:pPr lvl="1">
              <a:buFont typeface="Wingdings"/>
              <a:buChar char="ü"/>
            </a:pPr>
            <a:r>
              <a:rPr lang="en-US" sz="1400">
                <a:latin typeface="Aptos"/>
                <a:cs typeface="Times New Roman"/>
              </a:rPr>
              <a:t>OCC_YEAR, OCC_MONTH, OCC_DOW, OCC_DAY, OCC_DOY, OCC_HOUR, DIVISION, BIKE_TYPE, BIKE_SPEED, BIKE_COST_CLASS and PREMISES_TYPE. </a:t>
            </a:r>
            <a:endParaRPr lang="en-US" sz="1400">
              <a:latin typeface="Aptos"/>
              <a:ea typeface="Calibri"/>
              <a:cs typeface="Calibri"/>
            </a:endParaRPr>
          </a:p>
          <a:p>
            <a:pPr>
              <a:buFont typeface="Wingdings"/>
              <a:buChar char="Ø"/>
            </a:pPr>
            <a:endParaRPr lang="en-US" sz="1400">
              <a:latin typeface="Aptos"/>
              <a:cs typeface="Times New Roman"/>
            </a:endParaRPr>
          </a:p>
          <a:p>
            <a:pPr>
              <a:buFont typeface="Wingdings"/>
              <a:buChar char="Ø"/>
            </a:pPr>
            <a:r>
              <a:rPr lang="en-CA" sz="1600" b="1">
                <a:latin typeface="Aptos"/>
                <a:cs typeface="Times New Roman"/>
              </a:rPr>
              <a:t>Normalization:</a:t>
            </a:r>
          </a:p>
          <a:p>
            <a:pPr lvl="1">
              <a:buFont typeface="Wingdings"/>
              <a:buChar char="ü"/>
            </a:pPr>
            <a:r>
              <a:rPr lang="en-US" sz="1400">
                <a:latin typeface="Aptos"/>
                <a:cs typeface="Times New Roman"/>
              </a:rPr>
              <a:t>Applied Z-transformation to numerical attributes: BIKE_SPEED, OCC_DAY, OCC_DOY, OCC_HOUR, and OCC_YEAR.</a:t>
            </a:r>
            <a:endParaRPr lang="en-US" sz="1400">
              <a:latin typeface="Aptos"/>
              <a:ea typeface="Calibri"/>
              <a:cs typeface="Calibri"/>
            </a:endParaRPr>
          </a:p>
          <a:p>
            <a:pPr>
              <a:buFont typeface="Wingdings"/>
              <a:buChar char="Ø"/>
            </a:pPr>
            <a:endParaRPr lang="en-US" sz="1400">
              <a:latin typeface="Aptos"/>
              <a:cs typeface="Times New Roman"/>
            </a:endParaRPr>
          </a:p>
          <a:p>
            <a:pPr>
              <a:buFont typeface="Wingdings"/>
              <a:buChar char="Ø"/>
            </a:pPr>
            <a:r>
              <a:rPr lang="en-US" sz="1600" b="1">
                <a:latin typeface="Aptos"/>
                <a:cs typeface="Times New Roman"/>
              </a:rPr>
              <a:t>Categorical Variables Conversion:</a:t>
            </a:r>
            <a:endParaRPr lang="en-CA" sz="1600">
              <a:latin typeface="Aptos"/>
              <a:ea typeface="Calibri"/>
              <a:cs typeface="Calibri"/>
            </a:endParaRPr>
          </a:p>
          <a:p>
            <a:pPr lvl="1">
              <a:buFont typeface="Wingdings"/>
              <a:buChar char="ü"/>
            </a:pPr>
            <a:r>
              <a:rPr lang="en-US" sz="1400">
                <a:latin typeface="Aptos"/>
                <a:cs typeface="Times New Roman"/>
              </a:rPr>
              <a:t>Converted DIVISION, LOCATION_TYPE, OCC_MONTH, PREMISES_TYPE, BIKE_TYPE, and OCC_DOW to numerical values for clustering.</a:t>
            </a:r>
            <a:endParaRPr lang="en-CA" sz="1400">
              <a:latin typeface="Aptos"/>
              <a:ea typeface="Calibri"/>
              <a:cs typeface="Calibri"/>
            </a:endParaRPr>
          </a:p>
          <a:p>
            <a:pPr>
              <a:buFont typeface="Wingdings"/>
              <a:buChar char="Ø"/>
            </a:pPr>
            <a:endParaRPr lang="en-US" sz="1400">
              <a:latin typeface="Aptos"/>
              <a:cs typeface="Times New Roman"/>
            </a:endParaRPr>
          </a:p>
        </p:txBody>
      </p:sp>
    </p:spTree>
    <p:extLst>
      <p:ext uri="{BB962C8B-B14F-4D97-AF65-F5344CB8AC3E}">
        <p14:creationId xmlns:p14="http://schemas.microsoft.com/office/powerpoint/2010/main" val="21363569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9F8BDA-9165-C2F2-0D95-9A1E0C8DC01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AB0A1EC-F95F-EEA2-F7A1-91581BCE41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271E10B4-D54F-6372-771E-AB1DB4285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C8E2378A-E484-3606-4D63-2E5E54105A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EE2B33FD-85DF-B0C4-962D-7085A36E2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84EA9A45-D6AA-5606-46BE-C98EF2D660E8}"/>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Modelling (Clustering)</a:t>
            </a:r>
          </a:p>
        </p:txBody>
      </p:sp>
      <p:sp>
        <p:nvSpPr>
          <p:cNvPr id="3" name="Content Placeholder 2">
            <a:extLst>
              <a:ext uri="{FF2B5EF4-FFF2-40B4-BE49-F238E27FC236}">
                <a16:creationId xmlns:a16="http://schemas.microsoft.com/office/drawing/2014/main" id="{995D4D76-5FA9-8ACD-3937-50B805E25743}"/>
              </a:ext>
            </a:extLst>
          </p:cNvPr>
          <p:cNvSpPr>
            <a:spLocks noGrp="1"/>
          </p:cNvSpPr>
          <p:nvPr>
            <p:ph idx="1"/>
          </p:nvPr>
        </p:nvSpPr>
        <p:spPr>
          <a:xfrm>
            <a:off x="752036" y="2034396"/>
            <a:ext cx="7862375" cy="3838837"/>
          </a:xfrm>
        </p:spPr>
        <p:txBody>
          <a:bodyPr vert="horz" lIns="91440" tIns="45720" rIns="91440" bIns="45720" rtlCol="0" anchor="t">
            <a:normAutofit/>
          </a:bodyPr>
          <a:lstStyle/>
          <a:p>
            <a:pPr marL="0" indent="0">
              <a:buNone/>
            </a:pPr>
            <a:endParaRPr lang="en-CA" sz="2000">
              <a:solidFill>
                <a:srgbClr val="0F4761"/>
              </a:solidFill>
              <a:latin typeface="Aptos"/>
            </a:endParaRPr>
          </a:p>
          <a:p>
            <a:pPr>
              <a:buFont typeface="Wingdings"/>
              <a:buChar char="Ø"/>
            </a:pPr>
            <a:r>
              <a:rPr lang="en-CA" sz="1800" b="1">
                <a:latin typeface="Aptos"/>
                <a:cs typeface="Times New Roman"/>
              </a:rPr>
              <a:t>Algorithm:</a:t>
            </a:r>
            <a:endParaRPr lang="en-US" sz="1800" b="1">
              <a:latin typeface="Aptos"/>
              <a:cs typeface="Times New Roman"/>
            </a:endParaRPr>
          </a:p>
          <a:p>
            <a:pPr lvl="1">
              <a:buFont typeface="Wingdings"/>
              <a:buChar char="ü"/>
            </a:pPr>
            <a:r>
              <a:rPr lang="en-CA" sz="1600">
                <a:latin typeface="Aptos"/>
                <a:cs typeface="Times New Roman"/>
              </a:rPr>
              <a:t>K- Clustering - an unsupervised machine learning algorithm that groups data into k clusters based on feature similarity. </a:t>
            </a:r>
            <a:endParaRPr lang="en-US" sz="1600">
              <a:latin typeface="Aptos"/>
              <a:cs typeface="Times New Roman"/>
            </a:endParaRPr>
          </a:p>
          <a:p>
            <a:pPr lvl="1">
              <a:buFont typeface="Wingdings"/>
              <a:buChar char="ü"/>
            </a:pPr>
            <a:endParaRPr lang="en-CA" sz="1200">
              <a:latin typeface="Aptos"/>
              <a:cs typeface="Times New Roman"/>
            </a:endParaRPr>
          </a:p>
          <a:p>
            <a:pPr>
              <a:buFont typeface="Wingdings"/>
              <a:buChar char="Ø"/>
            </a:pPr>
            <a:r>
              <a:rPr lang="en-CA" sz="1800" b="1">
                <a:latin typeface="Aptos"/>
                <a:cs typeface="Times New Roman"/>
              </a:rPr>
              <a:t>Use Case:</a:t>
            </a:r>
          </a:p>
          <a:p>
            <a:pPr lvl="1">
              <a:buFont typeface="Wingdings"/>
              <a:buChar char="ü"/>
            </a:pPr>
            <a:r>
              <a:rPr lang="en-CA" sz="1600">
                <a:latin typeface="Aptos"/>
                <a:cs typeface="Times New Roman"/>
              </a:rPr>
              <a:t>Identifies theft trends such as common locations, times, and high-risk bicycle types. </a:t>
            </a:r>
            <a:endParaRPr lang="en-US" sz="1600">
              <a:latin typeface="Aptos"/>
              <a:cs typeface="Times New Roman"/>
            </a:endParaRPr>
          </a:p>
          <a:p>
            <a:pPr lvl="1">
              <a:buFont typeface="Wingdings"/>
              <a:buChar char="ü"/>
            </a:pPr>
            <a:endParaRPr lang="en-CA" sz="1200">
              <a:latin typeface="Aptos"/>
              <a:cs typeface="Times New Roman"/>
            </a:endParaRPr>
          </a:p>
          <a:p>
            <a:pPr>
              <a:buFont typeface="Wingdings"/>
              <a:buChar char="Ø"/>
            </a:pPr>
            <a:r>
              <a:rPr lang="en-CA" sz="1800" b="1">
                <a:latin typeface="Aptos"/>
                <a:cs typeface="Times New Roman"/>
              </a:rPr>
              <a:t>Optimal Cluster Selection:</a:t>
            </a:r>
            <a:endParaRPr lang="en-US" sz="1800" b="1">
              <a:latin typeface="Aptos"/>
              <a:cs typeface="Times New Roman"/>
            </a:endParaRPr>
          </a:p>
          <a:p>
            <a:pPr lvl="1">
              <a:buFont typeface="Wingdings"/>
              <a:buChar char="ü"/>
            </a:pPr>
            <a:r>
              <a:rPr lang="en-CA" sz="1600">
                <a:latin typeface="Aptos"/>
                <a:cs typeface="Times New Roman"/>
              </a:rPr>
              <a:t>Elbow Method used to determine the best k. </a:t>
            </a:r>
            <a:endParaRPr lang="en-US" sz="1600">
              <a:latin typeface="Aptos"/>
              <a:cs typeface="Times New Roman"/>
            </a:endParaRPr>
          </a:p>
          <a:p>
            <a:pPr lvl="1">
              <a:buFont typeface="Wingdings"/>
              <a:buChar char="ü"/>
            </a:pPr>
            <a:r>
              <a:rPr lang="en-CA" sz="1600">
                <a:latin typeface="Aptos"/>
                <a:cs typeface="Times New Roman"/>
              </a:rPr>
              <a:t>The elbow point (plot of sum of squared distances) indicates the optimal number of clusters.</a:t>
            </a:r>
            <a:endParaRPr lang="en-US" sz="1600">
              <a:latin typeface="Aptos"/>
              <a:cs typeface="Times New Roman"/>
            </a:endParaRPr>
          </a:p>
          <a:p>
            <a:pPr>
              <a:buFont typeface="Wingdings"/>
              <a:buChar char="Ø"/>
            </a:pPr>
            <a:endParaRPr lang="en-US" sz="2000">
              <a:latin typeface="Aptos"/>
              <a:ea typeface="Calibri"/>
              <a:cs typeface="Calibri"/>
            </a:endParaRPr>
          </a:p>
        </p:txBody>
      </p:sp>
    </p:spTree>
    <p:extLst>
      <p:ext uri="{BB962C8B-B14F-4D97-AF65-F5344CB8AC3E}">
        <p14:creationId xmlns:p14="http://schemas.microsoft.com/office/powerpoint/2010/main" val="5708069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1048E9-F315-9158-8793-E92236595C8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FC1DD547-01AF-A2A1-43E1-3A5491DB4D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E6AF9080-E237-044D-1DCF-9FA588187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8BEE08DB-DAFD-52BF-50D4-AE8FCDED0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52F018D2-667E-4E5B-B7F7-6D1681837A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2A79703C-E0C5-7418-1A84-C7A4366A7325}"/>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Generate Test Design (Clustering)  </a:t>
            </a:r>
          </a:p>
        </p:txBody>
      </p:sp>
      <p:sp>
        <p:nvSpPr>
          <p:cNvPr id="3" name="Content Placeholder 2">
            <a:extLst>
              <a:ext uri="{FF2B5EF4-FFF2-40B4-BE49-F238E27FC236}">
                <a16:creationId xmlns:a16="http://schemas.microsoft.com/office/drawing/2014/main" id="{5C1BB344-62BD-DBC5-DBFC-74D651FF52DC}"/>
              </a:ext>
            </a:extLst>
          </p:cNvPr>
          <p:cNvSpPr>
            <a:spLocks noGrp="1"/>
          </p:cNvSpPr>
          <p:nvPr>
            <p:ph idx="1"/>
          </p:nvPr>
        </p:nvSpPr>
        <p:spPr>
          <a:xfrm>
            <a:off x="657225" y="1974942"/>
            <a:ext cx="7547703" cy="4006758"/>
          </a:xfrm>
        </p:spPr>
        <p:txBody>
          <a:bodyPr vert="horz" lIns="91440" tIns="45720" rIns="91440" bIns="45720" rtlCol="0" anchor="t">
            <a:normAutofit/>
          </a:bodyPr>
          <a:lstStyle/>
          <a:p>
            <a:pPr marL="0" indent="0">
              <a:buNone/>
            </a:pPr>
            <a:endParaRPr lang="en-CA" sz="1400">
              <a:solidFill>
                <a:srgbClr val="0F4761"/>
              </a:solidFill>
              <a:latin typeface="Aptos"/>
            </a:endParaRPr>
          </a:p>
          <a:p>
            <a:pPr>
              <a:buFont typeface="Wingdings"/>
              <a:buChar char="Ø"/>
            </a:pPr>
            <a:r>
              <a:rPr lang="en-CA" sz="1800" b="1">
                <a:latin typeface="Aptos"/>
                <a:cs typeface="Times New Roman"/>
              </a:rPr>
              <a:t>Approach:</a:t>
            </a:r>
          </a:p>
          <a:p>
            <a:pPr lvl="1">
              <a:buFont typeface="Wingdings"/>
              <a:buChar char="ü"/>
            </a:pPr>
            <a:r>
              <a:rPr lang="en-CA" sz="1600">
                <a:latin typeface="Aptos"/>
                <a:cs typeface="Times New Roman"/>
              </a:rPr>
              <a:t>Implemented a loop-based clustering in RapidMiner to evaluate different k values.</a:t>
            </a:r>
          </a:p>
          <a:p>
            <a:pPr lvl="1">
              <a:buFont typeface="Wingdings"/>
              <a:buChar char="ü"/>
            </a:pPr>
            <a:endParaRPr lang="en-CA" sz="1600">
              <a:latin typeface="Aptos"/>
              <a:cs typeface="Times New Roman"/>
            </a:endParaRPr>
          </a:p>
          <a:p>
            <a:pPr>
              <a:buFont typeface="Wingdings"/>
              <a:buChar char="Ø"/>
            </a:pPr>
            <a:r>
              <a:rPr lang="en-CA" sz="1800" b="1">
                <a:latin typeface="Aptos"/>
                <a:cs typeface="Times New Roman"/>
              </a:rPr>
              <a:t>Process:</a:t>
            </a:r>
          </a:p>
          <a:p>
            <a:pPr lvl="1">
              <a:buFont typeface="Wingdings"/>
              <a:buChar char="ü"/>
            </a:pPr>
            <a:r>
              <a:rPr lang="en-CA" sz="1600">
                <a:latin typeface="Aptos"/>
                <a:cs typeface="Times New Roman"/>
              </a:rPr>
              <a:t>Iterated k values from 2 to 10.</a:t>
            </a:r>
            <a:endParaRPr lang="en-US" sz="1600">
              <a:latin typeface="Aptos"/>
              <a:cs typeface="Times New Roman"/>
            </a:endParaRPr>
          </a:p>
          <a:p>
            <a:pPr lvl="1">
              <a:buFont typeface="Wingdings"/>
              <a:buChar char="ü"/>
            </a:pPr>
            <a:r>
              <a:rPr lang="en-CA" sz="1600">
                <a:latin typeface="Aptos"/>
                <a:cs typeface="Times New Roman"/>
              </a:rPr>
              <a:t>Tracked within-cluster sum of squares for each k.</a:t>
            </a:r>
            <a:endParaRPr lang="en-US" sz="1600">
              <a:latin typeface="Aptos"/>
              <a:cs typeface="Times New Roman"/>
            </a:endParaRPr>
          </a:p>
          <a:p>
            <a:pPr lvl="1">
              <a:buFont typeface="Wingdings"/>
              <a:buChar char="ü"/>
            </a:pPr>
            <a:r>
              <a:rPr lang="en-CA" sz="1600">
                <a:latin typeface="Aptos"/>
                <a:cs typeface="Times New Roman"/>
              </a:rPr>
              <a:t>Recorded average within-cluster distance and logged results.</a:t>
            </a:r>
          </a:p>
          <a:p>
            <a:pPr marL="457200" lvl="1" indent="0">
              <a:buNone/>
            </a:pPr>
            <a:endParaRPr lang="en-CA" sz="1600">
              <a:latin typeface="Aptos"/>
              <a:cs typeface="Times New Roman"/>
            </a:endParaRPr>
          </a:p>
          <a:p>
            <a:pPr>
              <a:buFont typeface="Wingdings"/>
              <a:buChar char="Ø"/>
            </a:pPr>
            <a:r>
              <a:rPr lang="en-CA" sz="1800" b="1">
                <a:latin typeface="Aptos"/>
                <a:cs typeface="Times New Roman"/>
              </a:rPr>
              <a:t>Goal:</a:t>
            </a:r>
          </a:p>
          <a:p>
            <a:pPr lvl="1">
              <a:buFont typeface="Wingdings"/>
              <a:buChar char="ü"/>
            </a:pPr>
            <a:r>
              <a:rPr lang="en-CA" sz="1600">
                <a:latin typeface="Aptos"/>
                <a:cs typeface="Times New Roman"/>
              </a:rPr>
              <a:t>Visualized results to determine the elbow point and optimal k.</a:t>
            </a:r>
            <a:endParaRPr lang="en-US" sz="1600">
              <a:latin typeface="Aptos"/>
            </a:endParaRPr>
          </a:p>
        </p:txBody>
      </p:sp>
    </p:spTree>
    <p:extLst>
      <p:ext uri="{BB962C8B-B14F-4D97-AF65-F5344CB8AC3E}">
        <p14:creationId xmlns:p14="http://schemas.microsoft.com/office/powerpoint/2010/main" val="13912783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5BE6C6-34FE-6038-3AA6-2951123FE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B86DF-990F-1ECB-FA64-2D8D174E6B07}"/>
              </a:ext>
            </a:extLst>
          </p:cNvPr>
          <p:cNvSpPr>
            <a:spLocks noGrp="1"/>
          </p:cNvSpPr>
          <p:nvPr>
            <p:ph type="title"/>
          </p:nvPr>
        </p:nvSpPr>
        <p:spPr>
          <a:xfrm>
            <a:off x="411240" y="304069"/>
            <a:ext cx="8314873" cy="781317"/>
          </a:xfrm>
        </p:spPr>
        <p:txBody>
          <a:bodyPr anchor="b">
            <a:normAutofit/>
          </a:bodyPr>
          <a:lstStyle/>
          <a:p>
            <a:r>
              <a:rPr lang="en-CA" sz="2800"/>
              <a:t>Build Model (Clustering)</a:t>
            </a:r>
          </a:p>
        </p:txBody>
      </p:sp>
      <p:sp>
        <p:nvSpPr>
          <p:cNvPr id="3" name="Content Placeholder 2">
            <a:extLst>
              <a:ext uri="{FF2B5EF4-FFF2-40B4-BE49-F238E27FC236}">
                <a16:creationId xmlns:a16="http://schemas.microsoft.com/office/drawing/2014/main" id="{8FD4714C-A921-B9A7-ABBE-4C585BD54734}"/>
              </a:ext>
            </a:extLst>
          </p:cNvPr>
          <p:cNvSpPr>
            <a:spLocks noGrp="1"/>
          </p:cNvSpPr>
          <p:nvPr>
            <p:ph idx="1"/>
          </p:nvPr>
        </p:nvSpPr>
        <p:spPr>
          <a:xfrm>
            <a:off x="277882" y="1595427"/>
            <a:ext cx="8416115" cy="1953208"/>
          </a:xfrm>
        </p:spPr>
        <p:txBody>
          <a:bodyPr vert="horz" lIns="91440" tIns="45720" rIns="91440" bIns="45720" rtlCol="0" anchor="t">
            <a:noAutofit/>
          </a:bodyPr>
          <a:lstStyle/>
          <a:p>
            <a:pPr>
              <a:buFont typeface="Wingdings"/>
              <a:buChar char="Ø"/>
            </a:pPr>
            <a:r>
              <a:rPr lang="en-CA" sz="1800" b="1">
                <a:latin typeface="Aptos"/>
                <a:cs typeface="Times New Roman"/>
              </a:rPr>
              <a:t>Steps:</a:t>
            </a:r>
          </a:p>
          <a:p>
            <a:pPr lvl="1">
              <a:buFont typeface="Wingdings"/>
              <a:buChar char="ü"/>
            </a:pPr>
            <a:r>
              <a:rPr lang="en-CA" sz="1600">
                <a:latin typeface="Aptos"/>
                <a:cs typeface="Times New Roman"/>
              </a:rPr>
              <a:t>Standardized relevant numerical attributes for unbiased clustering.</a:t>
            </a:r>
            <a:endParaRPr lang="en-US" sz="1600">
              <a:latin typeface="Aptos"/>
              <a:cs typeface="Times New Roman"/>
            </a:endParaRPr>
          </a:p>
          <a:p>
            <a:pPr lvl="1">
              <a:buFont typeface="Wingdings"/>
              <a:buChar char="ü"/>
            </a:pPr>
            <a:r>
              <a:rPr lang="en-CA" sz="1600">
                <a:latin typeface="Aptos"/>
                <a:cs typeface="Times New Roman"/>
              </a:rPr>
              <a:t>Ran K-Means algorithm within a loop to evaluate performance across different k values.</a:t>
            </a:r>
            <a:endParaRPr lang="en-US" sz="1600">
              <a:latin typeface="Aptos"/>
              <a:cs typeface="Times New Roman"/>
            </a:endParaRPr>
          </a:p>
          <a:p>
            <a:pPr lvl="1">
              <a:buFont typeface="Wingdings"/>
              <a:buChar char="ü"/>
            </a:pPr>
            <a:r>
              <a:rPr lang="en-CA" sz="1600">
                <a:latin typeface="Aptos"/>
                <a:cs typeface="Times New Roman"/>
              </a:rPr>
              <a:t>Used performance metrics such as average within-cluster distance to assess clustering quality. </a:t>
            </a:r>
            <a:endParaRPr lang="en-US" sz="1600">
              <a:latin typeface="Aptos"/>
              <a:cs typeface="Times New Roman"/>
            </a:endParaRPr>
          </a:p>
          <a:p>
            <a:pPr>
              <a:buFont typeface="Wingdings"/>
              <a:buChar char="Ø"/>
            </a:pPr>
            <a:endParaRPr lang="en-US" sz="1700">
              <a:ea typeface="Calibri"/>
              <a:cs typeface="Calibri"/>
            </a:endParaRPr>
          </a:p>
        </p:txBody>
      </p:sp>
      <p:grpSp>
        <p:nvGrpSpPr>
          <p:cNvPr id="24" name="Group 23">
            <a:extLst>
              <a:ext uri="{FF2B5EF4-FFF2-40B4-BE49-F238E27FC236}">
                <a16:creationId xmlns:a16="http://schemas.microsoft.com/office/drawing/2014/main" id="{12A1446F-4799-B6AE-4EB5-D0B8FA25C1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737460"/>
            <a:ext cx="9144000" cy="123364"/>
            <a:chOff x="1" y="6737460"/>
            <a:chExt cx="12192000" cy="123364"/>
          </a:xfrm>
        </p:grpSpPr>
        <p:sp>
          <p:nvSpPr>
            <p:cNvPr id="25" name="Rectangle 24">
              <a:extLst>
                <a:ext uri="{FF2B5EF4-FFF2-40B4-BE49-F238E27FC236}">
                  <a16:creationId xmlns:a16="http://schemas.microsoft.com/office/drawing/2014/main" id="{82C236C8-0420-4CAE-D794-2F3A62A31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a:extLst>
                <a:ext uri="{FF2B5EF4-FFF2-40B4-BE49-F238E27FC236}">
                  <a16:creationId xmlns:a16="http://schemas.microsoft.com/office/drawing/2014/main" id="{E5EA4450-FDE6-DADF-A21A-2F21852AD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6" name="Picture 5" descr="Picture 927878429, Picture">
            <a:extLst>
              <a:ext uri="{FF2B5EF4-FFF2-40B4-BE49-F238E27FC236}">
                <a16:creationId xmlns:a16="http://schemas.microsoft.com/office/drawing/2014/main" id="{8E3366B0-9DEA-9270-1D6A-C37980353E6A}"/>
              </a:ext>
            </a:extLst>
          </p:cNvPr>
          <p:cNvPicPr>
            <a:picLocks noChangeAspect="1"/>
          </p:cNvPicPr>
          <p:nvPr/>
        </p:nvPicPr>
        <p:blipFill>
          <a:blip r:embed="rId2"/>
          <a:stretch>
            <a:fillRect/>
          </a:stretch>
        </p:blipFill>
        <p:spPr>
          <a:xfrm>
            <a:off x="278296" y="4016031"/>
            <a:ext cx="8169966" cy="2085975"/>
          </a:xfrm>
          <a:prstGeom prst="rect">
            <a:avLst/>
          </a:prstGeom>
        </p:spPr>
      </p:pic>
    </p:spTree>
    <p:extLst>
      <p:ext uri="{BB962C8B-B14F-4D97-AF65-F5344CB8AC3E}">
        <p14:creationId xmlns:p14="http://schemas.microsoft.com/office/powerpoint/2010/main" val="41517494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09F365-BB70-A741-98D7-3179F599F7F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8BA5480-49A6-AD48-B9B4-F062930B4E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0B4E0294-AA43-764E-66E7-F9B6BA879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23B0F0B2-2D87-86F5-3F42-DDDC1ECF8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0EA83864-23CC-C3EC-FF37-AEE21F463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F100168C-9EE5-C18C-EAAB-80C8DAB8E8FF}"/>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Access Model/Interpretation (Clustering)</a:t>
            </a:r>
          </a:p>
        </p:txBody>
      </p:sp>
      <p:sp>
        <p:nvSpPr>
          <p:cNvPr id="3" name="Content Placeholder 2">
            <a:extLst>
              <a:ext uri="{FF2B5EF4-FFF2-40B4-BE49-F238E27FC236}">
                <a16:creationId xmlns:a16="http://schemas.microsoft.com/office/drawing/2014/main" id="{8FC6CB98-DC0B-370C-6960-A66F2D301418}"/>
              </a:ext>
            </a:extLst>
          </p:cNvPr>
          <p:cNvSpPr>
            <a:spLocks noGrp="1"/>
          </p:cNvSpPr>
          <p:nvPr>
            <p:ph idx="1"/>
          </p:nvPr>
        </p:nvSpPr>
        <p:spPr>
          <a:xfrm>
            <a:off x="532093" y="1629881"/>
            <a:ext cx="8077736" cy="340213"/>
          </a:xfrm>
        </p:spPr>
        <p:txBody>
          <a:bodyPr vert="horz" lIns="91440" tIns="45720" rIns="91440" bIns="45720" rtlCol="0" anchor="t">
            <a:noAutofit/>
          </a:bodyPr>
          <a:lstStyle/>
          <a:p>
            <a:pPr marL="0" indent="0">
              <a:buNone/>
            </a:pPr>
            <a:r>
              <a:rPr lang="en-CA" sz="1800" b="1">
                <a:latin typeface="Aptos"/>
                <a:cs typeface="Times New Roman"/>
              </a:rPr>
              <a:t>Clustering Analysis and Optimal K</a:t>
            </a:r>
          </a:p>
          <a:p>
            <a:pPr marL="0" indent="0">
              <a:buNone/>
            </a:pPr>
            <a:endParaRPr lang="en-CA" sz="1800" b="1">
              <a:latin typeface="Aptos"/>
              <a:cs typeface="Times New Roman"/>
            </a:endParaRPr>
          </a:p>
        </p:txBody>
      </p:sp>
      <p:pic>
        <p:nvPicPr>
          <p:cNvPr id="4" name="Picture 3" descr="Picture 152408962, Picture">
            <a:extLst>
              <a:ext uri="{FF2B5EF4-FFF2-40B4-BE49-F238E27FC236}">
                <a16:creationId xmlns:a16="http://schemas.microsoft.com/office/drawing/2014/main" id="{430DAA83-E232-AC96-D074-471963ED8DC1}"/>
              </a:ext>
            </a:extLst>
          </p:cNvPr>
          <p:cNvPicPr>
            <a:picLocks noChangeAspect="1"/>
          </p:cNvPicPr>
          <p:nvPr/>
        </p:nvPicPr>
        <p:blipFill>
          <a:blip r:embed="rId2"/>
          <a:stretch>
            <a:fillRect/>
          </a:stretch>
        </p:blipFill>
        <p:spPr>
          <a:xfrm>
            <a:off x="530849" y="2141868"/>
            <a:ext cx="5471790" cy="2365087"/>
          </a:xfrm>
          <a:prstGeom prst="rect">
            <a:avLst/>
          </a:prstGeom>
        </p:spPr>
      </p:pic>
      <p:sp>
        <p:nvSpPr>
          <p:cNvPr id="5" name="TextBox 4">
            <a:extLst>
              <a:ext uri="{FF2B5EF4-FFF2-40B4-BE49-F238E27FC236}">
                <a16:creationId xmlns:a16="http://schemas.microsoft.com/office/drawing/2014/main" id="{28CEFEE3-020A-55A5-FE20-8C4001F6248F}"/>
              </a:ext>
            </a:extLst>
          </p:cNvPr>
          <p:cNvSpPr txBox="1"/>
          <p:nvPr/>
        </p:nvSpPr>
        <p:spPr>
          <a:xfrm>
            <a:off x="457108" y="4671025"/>
            <a:ext cx="5858819"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latin typeface="Times New Roman"/>
            </a:endParaRPr>
          </a:p>
          <a:p>
            <a:pPr marL="285750" indent="-285750">
              <a:buFont typeface="Wingdings"/>
              <a:buChar char="Ø"/>
            </a:pPr>
            <a:r>
              <a:rPr lang="en-US" sz="1600">
                <a:latin typeface="Aptos"/>
              </a:rPr>
              <a:t>The optimal number of clusters (K) was determined using the </a:t>
            </a:r>
            <a:r>
              <a:rPr lang="en-US" sz="1600" b="1">
                <a:latin typeface="Aptos"/>
              </a:rPr>
              <a:t>Elbow Method</a:t>
            </a:r>
            <a:r>
              <a:rPr lang="en-US" sz="1600">
                <a:latin typeface="Aptos"/>
              </a:rPr>
              <a:t>, where the elbow point was found at </a:t>
            </a:r>
            <a:r>
              <a:rPr lang="en-US" sz="1600" b="1">
                <a:latin typeface="Aptos"/>
              </a:rPr>
              <a:t>K=8</a:t>
            </a:r>
            <a:r>
              <a:rPr lang="en-US" sz="1600">
                <a:latin typeface="Aptos"/>
              </a:rPr>
              <a:t> by plotting K against the average within-cluster distance. </a:t>
            </a:r>
            <a:endParaRPr lang="en-US" sz="1600">
              <a:latin typeface="Aptos"/>
              <a:ea typeface="Calibri"/>
              <a:cs typeface="Calibri"/>
            </a:endParaRPr>
          </a:p>
          <a:p>
            <a:pPr marL="285750" indent="-285750">
              <a:buFont typeface="Wingdings"/>
              <a:buChar char="Ø"/>
            </a:pPr>
            <a:br>
              <a:rPr lang="en-US" sz="1600">
                <a:latin typeface="Aptos"/>
              </a:rPr>
            </a:br>
            <a:r>
              <a:rPr lang="en-US" sz="1600">
                <a:latin typeface="Aptos"/>
              </a:rPr>
              <a:t>The </a:t>
            </a:r>
            <a:r>
              <a:rPr lang="en-US" sz="1600" b="1">
                <a:latin typeface="Aptos"/>
              </a:rPr>
              <a:t>Clustering (best K)</a:t>
            </a:r>
            <a:r>
              <a:rPr lang="en-US" sz="1600">
                <a:latin typeface="Aptos"/>
              </a:rPr>
              <a:t> operator was applied to generate 8 clusters, providing the most suitable segmentation of the data.</a:t>
            </a:r>
            <a:endParaRPr lang="en-US" sz="1600">
              <a:latin typeface="Aptos"/>
              <a:ea typeface="Calibri"/>
              <a:cs typeface="Calibri"/>
            </a:endParaRPr>
          </a:p>
        </p:txBody>
      </p:sp>
      <p:pic>
        <p:nvPicPr>
          <p:cNvPr id="6" name="Picture 5" descr="Picture 2098138064, Picture">
            <a:extLst>
              <a:ext uri="{FF2B5EF4-FFF2-40B4-BE49-F238E27FC236}">
                <a16:creationId xmlns:a16="http://schemas.microsoft.com/office/drawing/2014/main" id="{F23F1114-0F0D-D519-D526-A147CF451568}"/>
              </a:ext>
            </a:extLst>
          </p:cNvPr>
          <p:cNvPicPr>
            <a:picLocks noChangeAspect="1"/>
          </p:cNvPicPr>
          <p:nvPr/>
        </p:nvPicPr>
        <p:blipFill>
          <a:blip r:embed="rId3"/>
          <a:stretch>
            <a:fillRect/>
          </a:stretch>
        </p:blipFill>
        <p:spPr>
          <a:xfrm>
            <a:off x="6547729" y="4593042"/>
            <a:ext cx="2328242" cy="1830872"/>
          </a:xfrm>
          <a:prstGeom prst="rect">
            <a:avLst/>
          </a:prstGeom>
        </p:spPr>
      </p:pic>
    </p:spTree>
    <p:extLst>
      <p:ext uri="{BB962C8B-B14F-4D97-AF65-F5344CB8AC3E}">
        <p14:creationId xmlns:p14="http://schemas.microsoft.com/office/powerpoint/2010/main" val="5973163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C4E27B-AC34-D143-5181-92CBF2FF3CA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38545A8-267A-E131-5B9C-8016FEC126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BA30078F-C31B-149A-500B-FD91B7D51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98333855-8D9A-968B-875C-F42B6BE73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9B79349F-704B-6643-FFF8-20E80E2B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CAE7EC03-FFE2-F7C1-6FA2-36314BE7B8EA}"/>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Discussion of Results (Clustering)</a:t>
            </a:r>
          </a:p>
        </p:txBody>
      </p:sp>
      <p:sp>
        <p:nvSpPr>
          <p:cNvPr id="3" name="Content Placeholder 2">
            <a:extLst>
              <a:ext uri="{FF2B5EF4-FFF2-40B4-BE49-F238E27FC236}">
                <a16:creationId xmlns:a16="http://schemas.microsoft.com/office/drawing/2014/main" id="{3FE0A5AB-2A1C-99D0-1FBB-10AA596A3B3D}"/>
              </a:ext>
            </a:extLst>
          </p:cNvPr>
          <p:cNvSpPr>
            <a:spLocks noGrp="1"/>
          </p:cNvSpPr>
          <p:nvPr>
            <p:ph idx="1"/>
          </p:nvPr>
        </p:nvSpPr>
        <p:spPr>
          <a:xfrm>
            <a:off x="657225" y="1711777"/>
            <a:ext cx="7869015" cy="4667488"/>
          </a:xfrm>
        </p:spPr>
        <p:txBody>
          <a:bodyPr vert="horz" lIns="91440" tIns="45720" rIns="91440" bIns="45720" rtlCol="0" anchor="t">
            <a:noAutofit/>
          </a:bodyPr>
          <a:lstStyle/>
          <a:p>
            <a:pPr marL="0" indent="0">
              <a:buNone/>
            </a:pPr>
            <a:r>
              <a:rPr lang="en-US" sz="1800" b="1">
                <a:latin typeface="Aptos"/>
                <a:cs typeface="Times New Roman"/>
              </a:rPr>
              <a:t>Outlier Detection and  Clustering Patterns:</a:t>
            </a:r>
          </a:p>
          <a:p>
            <a:pPr marL="0" indent="0">
              <a:buNone/>
            </a:pPr>
            <a:endParaRPr lang="en-US" sz="1400" b="1">
              <a:latin typeface="Aptos"/>
              <a:cs typeface="Times New Roman"/>
            </a:endParaRPr>
          </a:p>
          <a:p>
            <a:pPr>
              <a:buFont typeface="Wingdings"/>
              <a:buChar char="Ø"/>
            </a:pPr>
            <a:r>
              <a:rPr lang="en-US" sz="1600" b="1">
                <a:latin typeface="Aptos"/>
                <a:cs typeface="Times New Roman"/>
              </a:rPr>
              <a:t>Low-Density Cluster - Cluster 7:</a:t>
            </a:r>
          </a:p>
          <a:p>
            <a:pPr lvl="1">
              <a:buFont typeface="Wingdings"/>
              <a:buChar char="ü"/>
            </a:pPr>
            <a:r>
              <a:rPr lang="en-US" sz="1400">
                <a:latin typeface="Aptos"/>
                <a:cs typeface="Times New Roman"/>
              </a:rPr>
              <a:t>Contains only 2 items, identifying rare anomalies.</a:t>
            </a:r>
          </a:p>
          <a:p>
            <a:pPr lvl="1">
              <a:buFont typeface="Wingdings"/>
              <a:buChar char="ü"/>
            </a:pPr>
            <a:r>
              <a:rPr lang="en-US" sz="1400">
                <a:latin typeface="Aptos"/>
                <a:cs typeface="Times New Roman"/>
              </a:rPr>
              <a:t>Includes unusual locations, time periods, or bicycle types.</a:t>
            </a:r>
          </a:p>
          <a:p>
            <a:pPr lvl="1">
              <a:buFont typeface="Wingdings"/>
              <a:buChar char="ü"/>
            </a:pPr>
            <a:r>
              <a:rPr lang="en-US" sz="1400">
                <a:latin typeface="Aptos"/>
                <a:cs typeface="Times New Roman"/>
              </a:rPr>
              <a:t>Confirmed as outlier through clustering with k = 7 and k = 9.</a:t>
            </a:r>
          </a:p>
          <a:p>
            <a:pPr marL="457200" lvl="1" indent="0">
              <a:buNone/>
            </a:pPr>
            <a:endParaRPr lang="en-US" sz="1400">
              <a:latin typeface="Aptos"/>
              <a:cs typeface="Times New Roman"/>
            </a:endParaRPr>
          </a:p>
          <a:p>
            <a:pPr>
              <a:buFont typeface="Wingdings"/>
              <a:buChar char="Ø"/>
            </a:pPr>
            <a:r>
              <a:rPr lang="en-US" sz="1600" b="1">
                <a:latin typeface="Aptos"/>
                <a:cs typeface="Times New Roman"/>
              </a:rPr>
              <a:t>Second Least Populated Cluster – Cluster 1:</a:t>
            </a:r>
          </a:p>
          <a:p>
            <a:pPr lvl="1">
              <a:buFont typeface="Wingdings"/>
              <a:buChar char="ü"/>
            </a:pPr>
            <a:r>
              <a:rPr lang="en-US" sz="1400">
                <a:latin typeface="Aptos"/>
                <a:cs typeface="Times New Roman"/>
              </a:rPr>
              <a:t>Next smallest cluster in best model (k=8), further examined for anomalies.</a:t>
            </a:r>
          </a:p>
          <a:p>
            <a:pPr>
              <a:buFont typeface="Wingdings"/>
              <a:buChar char="Ø"/>
            </a:pPr>
            <a:endParaRPr lang="en-US" sz="1400">
              <a:latin typeface="Aptos"/>
              <a:cs typeface="Times New Roman"/>
            </a:endParaRPr>
          </a:p>
          <a:p>
            <a:pPr>
              <a:buFont typeface="Wingdings"/>
              <a:buChar char="Ø"/>
            </a:pPr>
            <a:r>
              <a:rPr lang="en-US" sz="1600" b="1">
                <a:latin typeface="Aptos"/>
                <a:cs typeface="Times New Roman"/>
              </a:rPr>
              <a:t>High-Density Cluster – Cluster 5 (Common Pattern):</a:t>
            </a:r>
          </a:p>
          <a:p>
            <a:pPr lvl="1">
              <a:buFont typeface="Wingdings"/>
              <a:buChar char="ü"/>
            </a:pPr>
            <a:r>
              <a:rPr lang="en-US" sz="1400">
                <a:latin typeface="Aptos"/>
                <a:cs typeface="Times New Roman"/>
              </a:rPr>
              <a:t>Represents the most frequent theft occurrences.</a:t>
            </a:r>
          </a:p>
          <a:p>
            <a:pPr lvl="1">
              <a:buFont typeface="Wingdings"/>
              <a:buChar char="ü"/>
            </a:pPr>
            <a:r>
              <a:rPr lang="en-US" sz="1400">
                <a:latin typeface="Aptos"/>
                <a:cs typeface="Times New Roman"/>
              </a:rPr>
              <a:t>Identifies high-risk locations, times, and common theft methods.</a:t>
            </a:r>
          </a:p>
          <a:p>
            <a:pPr lvl="1">
              <a:buFont typeface="Wingdings"/>
              <a:buChar char="ü"/>
            </a:pPr>
            <a:r>
              <a:rPr lang="en-US" sz="1400">
                <a:latin typeface="Aptos"/>
                <a:cs typeface="Times New Roman"/>
              </a:rPr>
              <a:t>Key of understanding theft patterns and improving preventive measures.</a:t>
            </a:r>
          </a:p>
          <a:p>
            <a:pPr>
              <a:buFont typeface="Wingdings"/>
              <a:buChar char="Ø"/>
            </a:pPr>
            <a:endParaRPr lang="en-US" sz="1400" b="1">
              <a:latin typeface="Aptos"/>
              <a:cs typeface="Times New Roman"/>
            </a:endParaRPr>
          </a:p>
        </p:txBody>
      </p:sp>
    </p:spTree>
    <p:extLst>
      <p:ext uri="{BB962C8B-B14F-4D97-AF65-F5344CB8AC3E}">
        <p14:creationId xmlns:p14="http://schemas.microsoft.com/office/powerpoint/2010/main" val="24233621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318D6D-D60A-C763-119C-29829B46A16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E707C3C1-032A-0092-3432-EBFAEDD7A5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2E5AA509-8599-E5D5-298D-2C879AEB4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A62FE5F0-6D55-B55B-E44A-B4A96CEF1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FD09F1A4-48F7-651F-309E-9B687259E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2F65877B-3F67-13CB-E589-470BA7245407}"/>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Evaluation of Results (Clustering)</a:t>
            </a:r>
          </a:p>
        </p:txBody>
      </p:sp>
      <p:sp>
        <p:nvSpPr>
          <p:cNvPr id="3" name="Content Placeholder 2">
            <a:extLst>
              <a:ext uri="{FF2B5EF4-FFF2-40B4-BE49-F238E27FC236}">
                <a16:creationId xmlns:a16="http://schemas.microsoft.com/office/drawing/2014/main" id="{B5C3B368-D8F2-1B85-5373-7A7179A68057}"/>
              </a:ext>
            </a:extLst>
          </p:cNvPr>
          <p:cNvSpPr>
            <a:spLocks noGrp="1"/>
          </p:cNvSpPr>
          <p:nvPr>
            <p:ph idx="1"/>
          </p:nvPr>
        </p:nvSpPr>
        <p:spPr>
          <a:xfrm>
            <a:off x="281012" y="1715987"/>
            <a:ext cx="7858125" cy="537230"/>
          </a:xfrm>
        </p:spPr>
        <p:txBody>
          <a:bodyPr vert="horz" lIns="91440" tIns="45720" rIns="91440" bIns="45720" rtlCol="0" anchor="t">
            <a:normAutofit/>
          </a:bodyPr>
          <a:lstStyle/>
          <a:p>
            <a:pPr marL="0" indent="0">
              <a:buNone/>
            </a:pPr>
            <a:r>
              <a:rPr lang="en-CA" sz="2000" b="1">
                <a:latin typeface="Aptos"/>
                <a:cs typeface="Times New Roman"/>
              </a:rPr>
              <a:t>Cluster 7 – Low Density Cluster</a:t>
            </a:r>
            <a:endParaRPr lang="en-US" sz="2000">
              <a:latin typeface="Aptos"/>
              <a:cs typeface="Times New Roman"/>
            </a:endParaRPr>
          </a:p>
        </p:txBody>
      </p:sp>
      <p:sp>
        <p:nvSpPr>
          <p:cNvPr id="9" name="TextBox 8">
            <a:extLst>
              <a:ext uri="{FF2B5EF4-FFF2-40B4-BE49-F238E27FC236}">
                <a16:creationId xmlns:a16="http://schemas.microsoft.com/office/drawing/2014/main" id="{CE2E8610-9449-6DB4-0910-3473C23FC0C8}"/>
              </a:ext>
            </a:extLst>
          </p:cNvPr>
          <p:cNvSpPr txBox="1"/>
          <p:nvPr/>
        </p:nvSpPr>
        <p:spPr>
          <a:xfrm>
            <a:off x="384313" y="3420433"/>
            <a:ext cx="8351947" cy="2772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1875"/>
              </a:lnSpc>
              <a:buFont typeface="Wingdings"/>
              <a:buChar char="Ø"/>
            </a:pPr>
            <a:r>
              <a:rPr lang="en-US" sz="1600" b="1">
                <a:latin typeface="Aptos"/>
                <a:cs typeface="Times New Roman"/>
              </a:rPr>
              <a:t>Characteristics:</a:t>
            </a:r>
          </a:p>
          <a:p>
            <a:pPr marL="742950" lvl="1" indent="-285750">
              <a:lnSpc>
                <a:spcPts val="1875"/>
              </a:lnSpc>
              <a:buFont typeface="Wingdings"/>
              <a:buChar char="ü"/>
            </a:pPr>
            <a:r>
              <a:rPr lang="en-US" sz="1400">
                <a:latin typeface="Aptos"/>
                <a:cs typeface="Times New Roman"/>
              </a:rPr>
              <a:t>Represents outlier incidents from the years 1983 and 1975, outside the primary timeframe of the dataset (2014-2024). </a:t>
            </a:r>
            <a:endParaRPr lang="en-US" sz="1400">
              <a:latin typeface="Aptos"/>
              <a:ea typeface="Calibri"/>
              <a:cs typeface="Calibri"/>
            </a:endParaRPr>
          </a:p>
          <a:p>
            <a:pPr marL="742950" lvl="1" indent="-285750">
              <a:lnSpc>
                <a:spcPts val="1875"/>
              </a:lnSpc>
              <a:buFont typeface="Wingdings"/>
              <a:buChar char="ü"/>
            </a:pPr>
            <a:r>
              <a:rPr lang="en-US" sz="1400">
                <a:latin typeface="Aptos"/>
                <a:cs typeface="Times New Roman"/>
              </a:rPr>
              <a:t>Low-density cluster, indicating rare occurrences.</a:t>
            </a:r>
          </a:p>
          <a:p>
            <a:pPr marL="742950" lvl="1" indent="-285750">
              <a:lnSpc>
                <a:spcPts val="1875"/>
              </a:lnSpc>
              <a:buFont typeface="Wingdings"/>
              <a:buChar char="ü"/>
            </a:pPr>
            <a:endParaRPr lang="en-US" sz="1400">
              <a:latin typeface="Aptos"/>
              <a:cs typeface="Times New Roman"/>
            </a:endParaRPr>
          </a:p>
          <a:p>
            <a:pPr marL="285750" indent="-285750">
              <a:lnSpc>
                <a:spcPts val="1875"/>
              </a:lnSpc>
              <a:buFont typeface="Wingdings"/>
              <a:buChar char="Ø"/>
            </a:pPr>
            <a:r>
              <a:rPr lang="en-US" sz="1600" b="1">
                <a:latin typeface="Aptos"/>
                <a:cs typeface="Times New Roman"/>
              </a:rPr>
              <a:t>Insights:</a:t>
            </a:r>
          </a:p>
          <a:p>
            <a:pPr marL="742950" lvl="1" indent="-285750">
              <a:lnSpc>
                <a:spcPts val="1875"/>
              </a:lnSpc>
              <a:buFont typeface="Wingdings"/>
              <a:buChar char="ü"/>
            </a:pPr>
            <a:r>
              <a:rPr lang="en-US" sz="1400">
                <a:latin typeface="Aptos"/>
                <a:cs typeface="Times New Roman"/>
              </a:rPr>
              <a:t>The inclusion of older thefts (1970s and 1980s) may distort trends in recent years. </a:t>
            </a:r>
            <a:endParaRPr lang="en-US" sz="1400">
              <a:latin typeface="Aptos"/>
              <a:ea typeface="Calibri"/>
              <a:cs typeface="Calibri"/>
            </a:endParaRPr>
          </a:p>
          <a:p>
            <a:pPr marL="742950" lvl="1" indent="-285750">
              <a:lnSpc>
                <a:spcPts val="1875"/>
              </a:lnSpc>
              <a:buFont typeface="Wingdings"/>
              <a:buChar char="ü"/>
            </a:pPr>
            <a:r>
              <a:rPr lang="en-US" sz="1400">
                <a:latin typeface="Aptos"/>
                <a:cs typeface="Times New Roman"/>
              </a:rPr>
              <a:t>These outlier data points are anomalies and don't reflect current theft patterns.</a:t>
            </a:r>
            <a:endParaRPr lang="en-US" sz="1400">
              <a:latin typeface="Aptos"/>
              <a:ea typeface="Calibri"/>
              <a:cs typeface="Times New Roman"/>
            </a:endParaRPr>
          </a:p>
          <a:p>
            <a:pPr lvl="1">
              <a:lnSpc>
                <a:spcPts val="1875"/>
              </a:lnSpc>
            </a:pPr>
            <a:endParaRPr lang="en-US" sz="1400">
              <a:latin typeface="Aptos"/>
              <a:cs typeface="Times New Roman"/>
            </a:endParaRPr>
          </a:p>
          <a:p>
            <a:pPr marL="285750" indent="-285750">
              <a:lnSpc>
                <a:spcPts val="1875"/>
              </a:lnSpc>
              <a:buFont typeface="Wingdings"/>
              <a:buChar char="Ø"/>
            </a:pPr>
            <a:r>
              <a:rPr lang="en-US" sz="1600" b="1">
                <a:latin typeface="Aptos"/>
                <a:cs typeface="Times New Roman"/>
              </a:rPr>
              <a:t>Implication:</a:t>
            </a:r>
            <a:endParaRPr lang="en-US" sz="1600" b="1">
              <a:latin typeface="Aptos"/>
              <a:ea typeface="Calibri"/>
              <a:cs typeface="Calibri"/>
            </a:endParaRPr>
          </a:p>
          <a:p>
            <a:pPr marL="742950" lvl="1" indent="-285750">
              <a:lnSpc>
                <a:spcPts val="1875"/>
              </a:lnSpc>
              <a:buFont typeface="Wingdings"/>
              <a:buChar char="ü"/>
            </a:pPr>
            <a:r>
              <a:rPr lang="en-US" sz="1400">
                <a:latin typeface="Aptos"/>
                <a:cs typeface="Times New Roman"/>
              </a:rPr>
              <a:t>The rare o</a:t>
            </a:r>
            <a:r>
              <a:rPr lang="en-US" sz="1600">
                <a:latin typeface="Aptos"/>
                <a:cs typeface="Times New Roman"/>
              </a:rPr>
              <a:t>ccurrence of these incidents makes them stand out from more recent data.</a:t>
            </a:r>
            <a:endParaRPr lang="en-US">
              <a:ea typeface="Calibri"/>
              <a:cs typeface="Calibri"/>
            </a:endParaRPr>
          </a:p>
        </p:txBody>
      </p:sp>
      <p:pic>
        <p:nvPicPr>
          <p:cNvPr id="11" name="Picture 10" descr="Picture 715721730, Picture">
            <a:extLst>
              <a:ext uri="{FF2B5EF4-FFF2-40B4-BE49-F238E27FC236}">
                <a16:creationId xmlns:a16="http://schemas.microsoft.com/office/drawing/2014/main" id="{4B6E71F0-6BCD-B80F-A856-55C4EFCFCBC2}"/>
              </a:ext>
            </a:extLst>
          </p:cNvPr>
          <p:cNvPicPr>
            <a:picLocks noChangeAspect="1"/>
          </p:cNvPicPr>
          <p:nvPr/>
        </p:nvPicPr>
        <p:blipFill>
          <a:blip r:embed="rId2"/>
          <a:stretch>
            <a:fillRect/>
          </a:stretch>
        </p:blipFill>
        <p:spPr>
          <a:xfrm>
            <a:off x="382341" y="2261248"/>
            <a:ext cx="8354391" cy="923844"/>
          </a:xfrm>
          <a:prstGeom prst="rect">
            <a:avLst/>
          </a:prstGeom>
        </p:spPr>
      </p:pic>
    </p:spTree>
    <p:extLst>
      <p:ext uri="{BB962C8B-B14F-4D97-AF65-F5344CB8AC3E}">
        <p14:creationId xmlns:p14="http://schemas.microsoft.com/office/powerpoint/2010/main" val="36418100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970B1C-7D92-43FE-1749-F106CD2485D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A55E4C0-969E-1727-72A2-2BF3A04F65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C2DD7F2F-162E-3FED-83A9-DB7BD93D6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00C029AF-A8D4-FB66-78B2-7C871159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3EC2FB0-CA70-5860-9EBB-2E071C80FB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079AA81A-A373-79C2-FD87-A0DE21E4E6D7}"/>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Evaluation of Results (Clustering)</a:t>
            </a:r>
          </a:p>
        </p:txBody>
      </p:sp>
      <p:sp>
        <p:nvSpPr>
          <p:cNvPr id="10" name="TextBox 9">
            <a:extLst>
              <a:ext uri="{FF2B5EF4-FFF2-40B4-BE49-F238E27FC236}">
                <a16:creationId xmlns:a16="http://schemas.microsoft.com/office/drawing/2014/main" id="{4FDAEC6A-7CE9-2488-B387-0105B2796E75}"/>
              </a:ext>
            </a:extLst>
          </p:cNvPr>
          <p:cNvSpPr txBox="1"/>
          <p:nvPr/>
        </p:nvSpPr>
        <p:spPr>
          <a:xfrm>
            <a:off x="362226" y="1869661"/>
            <a:ext cx="7917069" cy="3461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ts val="1875"/>
              </a:lnSpc>
              <a:buFont typeface="Wingdings"/>
              <a:buChar char="Ø"/>
            </a:pPr>
            <a:r>
              <a:rPr lang="en-US" sz="2000" b="1">
                <a:latin typeface="Aptos"/>
                <a:cs typeface="Times New Roman"/>
              </a:rPr>
              <a:t>Cluster 1 – Second Least-Populated Cluster</a:t>
            </a:r>
            <a:endParaRPr lang="en-US" sz="2000">
              <a:latin typeface="Aptos"/>
              <a:cs typeface="Times New Roman"/>
            </a:endParaRPr>
          </a:p>
        </p:txBody>
      </p:sp>
      <p:pic>
        <p:nvPicPr>
          <p:cNvPr id="12" name="Picture 11" descr="Picture 200452059, Picture">
            <a:extLst>
              <a:ext uri="{FF2B5EF4-FFF2-40B4-BE49-F238E27FC236}">
                <a16:creationId xmlns:a16="http://schemas.microsoft.com/office/drawing/2014/main" id="{81FA5B8E-90E1-4EB8-20B7-70598A0BDBDD}"/>
              </a:ext>
            </a:extLst>
          </p:cNvPr>
          <p:cNvPicPr>
            <a:picLocks noChangeAspect="1"/>
          </p:cNvPicPr>
          <p:nvPr/>
        </p:nvPicPr>
        <p:blipFill>
          <a:blip r:embed="rId2"/>
          <a:stretch>
            <a:fillRect/>
          </a:stretch>
        </p:blipFill>
        <p:spPr>
          <a:xfrm>
            <a:off x="11044" y="2392873"/>
            <a:ext cx="8613913" cy="1293689"/>
          </a:xfrm>
          <a:prstGeom prst="rect">
            <a:avLst/>
          </a:prstGeom>
        </p:spPr>
      </p:pic>
      <p:sp>
        <p:nvSpPr>
          <p:cNvPr id="6" name="TextBox 5">
            <a:extLst>
              <a:ext uri="{FF2B5EF4-FFF2-40B4-BE49-F238E27FC236}">
                <a16:creationId xmlns:a16="http://schemas.microsoft.com/office/drawing/2014/main" id="{1A1A514C-BAB3-6FB0-BD4A-F271B5510CBD}"/>
              </a:ext>
            </a:extLst>
          </p:cNvPr>
          <p:cNvSpPr txBox="1"/>
          <p:nvPr/>
        </p:nvSpPr>
        <p:spPr>
          <a:xfrm>
            <a:off x="362226" y="4475922"/>
            <a:ext cx="8264937"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1600" b="1">
                <a:latin typeface="Aptos"/>
                <a:ea typeface="Calibri"/>
                <a:cs typeface="Calibri"/>
              </a:rPr>
              <a:t>Characteristics:</a:t>
            </a:r>
          </a:p>
          <a:p>
            <a:pPr marL="742950" lvl="1" indent="-285750">
              <a:buFont typeface="Wingdings"/>
              <a:buChar char="ü"/>
            </a:pPr>
            <a:r>
              <a:rPr lang="en-US" sz="1400">
                <a:latin typeface="Aptos"/>
              </a:rPr>
              <a:t>Represents thefts in January and February.</a:t>
            </a:r>
            <a:endParaRPr lang="en-US" sz="1400">
              <a:latin typeface="Aptos"/>
              <a:ea typeface="Calibri"/>
              <a:cs typeface="Calibri"/>
            </a:endParaRPr>
          </a:p>
          <a:p>
            <a:pPr marL="742950" lvl="1" indent="-285750">
              <a:buFont typeface="Wingdings"/>
              <a:buChar char="ü"/>
            </a:pPr>
            <a:endParaRPr lang="en-US" sz="1400">
              <a:latin typeface="Aptos"/>
            </a:endParaRPr>
          </a:p>
          <a:p>
            <a:pPr marL="285750" indent="-285750">
              <a:buFont typeface="Wingdings"/>
              <a:buChar char="Ø"/>
            </a:pPr>
            <a:r>
              <a:rPr lang="en-US" sz="1600" b="1">
                <a:latin typeface="Aptos"/>
              </a:rPr>
              <a:t>Insights:</a:t>
            </a:r>
          </a:p>
          <a:p>
            <a:pPr marL="742950" lvl="1" indent="-285750">
              <a:buFont typeface="Wingdings"/>
              <a:buChar char="ü"/>
            </a:pPr>
            <a:r>
              <a:rPr lang="en-US" sz="1400">
                <a:latin typeface="Aptos"/>
              </a:rPr>
              <a:t>Low frequency of thefts during winter months suggests colder weather and reduced bike usage.</a:t>
            </a:r>
            <a:endParaRPr lang="en-US" sz="1400">
              <a:latin typeface="Aptos"/>
              <a:ea typeface="Calibri"/>
              <a:cs typeface="Calibri"/>
            </a:endParaRPr>
          </a:p>
          <a:p>
            <a:pPr marL="742950" lvl="1" indent="-285750">
              <a:buFont typeface="Wingdings"/>
              <a:buChar char="ü"/>
            </a:pPr>
            <a:endParaRPr lang="en-US" sz="1400">
              <a:latin typeface="Aptos"/>
              <a:ea typeface="Calibri"/>
              <a:cs typeface="Calibri"/>
            </a:endParaRPr>
          </a:p>
          <a:p>
            <a:pPr marL="285750" indent="-285750">
              <a:buFont typeface="Wingdings"/>
              <a:buChar char="Ø"/>
            </a:pPr>
            <a:r>
              <a:rPr lang="en-US" sz="1600" b="1">
                <a:latin typeface="Aptos"/>
              </a:rPr>
              <a:t>Seasonal Trend:</a:t>
            </a:r>
          </a:p>
          <a:p>
            <a:pPr marL="742950" lvl="1" indent="-285750">
              <a:buFont typeface="Wingdings"/>
              <a:buChar char="ü"/>
            </a:pPr>
            <a:r>
              <a:rPr lang="en-US" sz="1400">
                <a:latin typeface="Aptos"/>
              </a:rPr>
              <a:t>Theft incidents are less common in colder months, reflecting a clear seasonal pattern.</a:t>
            </a:r>
            <a:r>
              <a:rPr lang="en-US" sz="1400">
                <a:latin typeface="Aptos"/>
                <a:cs typeface="Times New Roman"/>
              </a:rPr>
              <a:t> </a:t>
            </a:r>
            <a:endParaRPr lang="en-US" sz="1400">
              <a:latin typeface="Aptos"/>
              <a:ea typeface="Calibri"/>
              <a:cs typeface="Calibri"/>
            </a:endParaRPr>
          </a:p>
        </p:txBody>
      </p:sp>
    </p:spTree>
    <p:extLst>
      <p:ext uri="{BB962C8B-B14F-4D97-AF65-F5344CB8AC3E}">
        <p14:creationId xmlns:p14="http://schemas.microsoft.com/office/powerpoint/2010/main" val="325808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3FF6EF-A291-1C48-4D30-363AC3F0C63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0AE668C-1F49-B9E7-AC3F-D82224F5B3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B2FE73FB-C679-DDA3-6619-8F252D1F8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E7FC701-FFF4-B4A6-618A-C1AFB05D6E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4637A0BC-16E1-ACE0-CD5C-86FB6C15A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B872FC45-6752-D471-1EA9-32FC51E3DACE}"/>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Evaluation of Results (Clustering)</a:t>
            </a:r>
          </a:p>
        </p:txBody>
      </p:sp>
      <p:sp>
        <p:nvSpPr>
          <p:cNvPr id="10" name="TextBox 9">
            <a:extLst>
              <a:ext uri="{FF2B5EF4-FFF2-40B4-BE49-F238E27FC236}">
                <a16:creationId xmlns:a16="http://schemas.microsoft.com/office/drawing/2014/main" id="{E4AFF3E5-0429-0CA6-7403-998ABDE07841}"/>
              </a:ext>
            </a:extLst>
          </p:cNvPr>
          <p:cNvSpPr txBox="1"/>
          <p:nvPr/>
        </p:nvSpPr>
        <p:spPr>
          <a:xfrm>
            <a:off x="356257" y="1714476"/>
            <a:ext cx="7917069" cy="335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75"/>
              </a:lnSpc>
            </a:pPr>
            <a:r>
              <a:rPr lang="en-US" b="1">
                <a:latin typeface="Aptos"/>
                <a:cs typeface="Times New Roman"/>
              </a:rPr>
              <a:t>Cluster 5 – High Density Cluster</a:t>
            </a:r>
            <a:endParaRPr lang="en-US">
              <a:latin typeface="Aptos"/>
              <a:cs typeface="Times New Roman"/>
            </a:endParaRPr>
          </a:p>
        </p:txBody>
      </p:sp>
      <p:sp>
        <p:nvSpPr>
          <p:cNvPr id="6" name="TextBox 5">
            <a:extLst>
              <a:ext uri="{FF2B5EF4-FFF2-40B4-BE49-F238E27FC236}">
                <a16:creationId xmlns:a16="http://schemas.microsoft.com/office/drawing/2014/main" id="{78DB6138-E410-9EE7-3C26-7B9508856F42}"/>
              </a:ext>
            </a:extLst>
          </p:cNvPr>
          <p:cNvSpPr txBox="1"/>
          <p:nvPr/>
        </p:nvSpPr>
        <p:spPr>
          <a:xfrm>
            <a:off x="350735" y="3993771"/>
            <a:ext cx="827045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1600" b="1">
                <a:latin typeface="Aptos"/>
                <a:cs typeface="Times New Roman"/>
              </a:rPr>
              <a:t>Frequency of Bicycle Thefts Based on Bike Type and Month. </a:t>
            </a:r>
          </a:p>
          <a:p>
            <a:endParaRPr lang="en-CA" sz="1600" b="1">
              <a:latin typeface="Aptos"/>
              <a:cs typeface="Times New Roman"/>
            </a:endParaRPr>
          </a:p>
          <a:p>
            <a:pPr marL="285750" indent="-285750">
              <a:buFont typeface="Wingdings"/>
              <a:buChar char="Ø"/>
            </a:pPr>
            <a:r>
              <a:rPr lang="en-CA" sz="1600" b="1">
                <a:latin typeface="Aptos"/>
                <a:cs typeface="Times New Roman"/>
              </a:rPr>
              <a:t>Key Observations:</a:t>
            </a:r>
            <a:endParaRPr lang="en-CA" sz="1600" b="1">
              <a:latin typeface="Aptos"/>
              <a:ea typeface="Calibri"/>
              <a:cs typeface="Calibri"/>
            </a:endParaRPr>
          </a:p>
          <a:p>
            <a:pPr marL="285750" indent="-285750">
              <a:buFont typeface="Wingdings"/>
              <a:buChar char="Ø"/>
            </a:pPr>
            <a:endParaRPr lang="en-CA" sz="1600" b="1">
              <a:latin typeface="Aptos"/>
              <a:cs typeface="Times New Roman"/>
            </a:endParaRPr>
          </a:p>
          <a:p>
            <a:pPr marL="742950" lvl="1" indent="-285750">
              <a:buFont typeface="Wingdings"/>
              <a:buChar char="Ø"/>
            </a:pPr>
            <a:r>
              <a:rPr lang="en-CA" sz="1400" b="1">
                <a:latin typeface="Aptos"/>
                <a:cs typeface="Times New Roman"/>
              </a:rPr>
              <a:t>Mountain Bikes (MT)</a:t>
            </a:r>
            <a:r>
              <a:rPr lang="en-CA" sz="1400">
                <a:latin typeface="Aptos"/>
                <a:cs typeface="Times New Roman"/>
              </a:rPr>
              <a:t> and </a:t>
            </a:r>
            <a:r>
              <a:rPr lang="en-CA" sz="1400" b="1">
                <a:latin typeface="Aptos"/>
                <a:cs typeface="Times New Roman"/>
              </a:rPr>
              <a:t>Road Bikes (RG)</a:t>
            </a:r>
            <a:r>
              <a:rPr lang="en-CA" sz="1400">
                <a:latin typeface="Aptos"/>
                <a:cs typeface="Times New Roman"/>
              </a:rPr>
              <a:t> show the highest theft occurrences across multiple months, indicating they are more frequently stolen.</a:t>
            </a:r>
          </a:p>
          <a:p>
            <a:pPr marL="742950" lvl="1" indent="-285750">
              <a:buFont typeface="Wingdings"/>
              <a:buChar char="Ø"/>
            </a:pPr>
            <a:endParaRPr lang="en-CA" sz="1400">
              <a:latin typeface="Aptos"/>
              <a:cs typeface="Times New Roman"/>
            </a:endParaRPr>
          </a:p>
          <a:p>
            <a:pPr marL="742950" lvl="1" indent="-285750">
              <a:buFont typeface="Wingdings"/>
              <a:buChar char="Ø"/>
            </a:pPr>
            <a:r>
              <a:rPr lang="en-CA" sz="1400">
                <a:latin typeface="Aptos"/>
                <a:cs typeface="Times New Roman"/>
              </a:rPr>
              <a:t>Theft peaks in</a:t>
            </a:r>
            <a:r>
              <a:rPr lang="en-CA" sz="1400" b="1">
                <a:latin typeface="Aptos"/>
                <a:cs typeface="Times New Roman"/>
              </a:rPr>
              <a:t> July</a:t>
            </a:r>
            <a:r>
              <a:rPr lang="en-CA" sz="1400">
                <a:latin typeface="Aptos"/>
                <a:cs typeface="Times New Roman"/>
              </a:rPr>
              <a:t> and </a:t>
            </a:r>
            <a:r>
              <a:rPr lang="en-CA" sz="1400" b="1">
                <a:latin typeface="Aptos"/>
                <a:cs typeface="Times New Roman"/>
              </a:rPr>
              <a:t>August</a:t>
            </a:r>
            <a:r>
              <a:rPr lang="en-CA" sz="1400">
                <a:latin typeface="Aptos"/>
                <a:cs typeface="Times New Roman"/>
              </a:rPr>
              <a:t>, suggesting a seasonal trend linked to increased outdoor activity and bike usage during warmer months.</a:t>
            </a:r>
          </a:p>
          <a:p>
            <a:pPr marL="742950" lvl="1" indent="-285750">
              <a:buFont typeface="Wingdings"/>
              <a:buChar char="Ø"/>
            </a:pPr>
            <a:endParaRPr lang="en-CA" sz="1400">
              <a:latin typeface="Aptos"/>
              <a:cs typeface="Times New Roman"/>
            </a:endParaRPr>
          </a:p>
          <a:p>
            <a:pPr marL="742950" lvl="1" indent="-285750">
              <a:buFont typeface="Wingdings"/>
              <a:buChar char="Ø"/>
            </a:pPr>
            <a:r>
              <a:rPr lang="en-CA" sz="1400">
                <a:latin typeface="Aptos"/>
                <a:cs typeface="Times New Roman"/>
              </a:rPr>
              <a:t>Winter months (December, January, February) show lower theft rates, likely due to reduced bike usage in colder weather.</a:t>
            </a:r>
            <a:endParaRPr lang="en-US" sz="1400">
              <a:latin typeface="Aptos"/>
              <a:cs typeface="Times New Roman"/>
            </a:endParaRPr>
          </a:p>
        </p:txBody>
      </p:sp>
      <p:pic>
        <p:nvPicPr>
          <p:cNvPr id="3" name="Picture 2" descr="Picture 819700741, Picture">
            <a:extLst>
              <a:ext uri="{FF2B5EF4-FFF2-40B4-BE49-F238E27FC236}">
                <a16:creationId xmlns:a16="http://schemas.microsoft.com/office/drawing/2014/main" id="{F14FAD99-37A8-BCDC-078A-626F07D2C154}"/>
              </a:ext>
            </a:extLst>
          </p:cNvPr>
          <p:cNvPicPr>
            <a:picLocks noChangeAspect="1"/>
          </p:cNvPicPr>
          <p:nvPr/>
        </p:nvPicPr>
        <p:blipFill>
          <a:blip r:embed="rId2"/>
          <a:stretch>
            <a:fillRect/>
          </a:stretch>
        </p:blipFill>
        <p:spPr>
          <a:xfrm>
            <a:off x="358466" y="2052377"/>
            <a:ext cx="8260522" cy="1928303"/>
          </a:xfrm>
          <a:prstGeom prst="rect">
            <a:avLst/>
          </a:prstGeom>
        </p:spPr>
      </p:pic>
    </p:spTree>
    <p:extLst>
      <p:ext uri="{BB962C8B-B14F-4D97-AF65-F5344CB8AC3E}">
        <p14:creationId xmlns:p14="http://schemas.microsoft.com/office/powerpoint/2010/main" val="21482443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004482-CE09-DC8D-B952-1D104631E6A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E7EBE412-D119-AC53-3151-888EA10DA63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ADFD605B-EFEA-75A8-D32F-10A281F0B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C3F3D053-8F1D-36C2-D442-452B0BA81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366962A2-A737-5D80-D513-EB55BFDE9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F1206D56-52CE-D4EB-5D36-4853CB16BCAF}"/>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Evaluation of Results (Clustering)</a:t>
            </a:r>
          </a:p>
        </p:txBody>
      </p:sp>
      <p:sp>
        <p:nvSpPr>
          <p:cNvPr id="10" name="TextBox 9">
            <a:extLst>
              <a:ext uri="{FF2B5EF4-FFF2-40B4-BE49-F238E27FC236}">
                <a16:creationId xmlns:a16="http://schemas.microsoft.com/office/drawing/2014/main" id="{9BDABBEC-97B8-3DA3-6B67-5F3AA07F10AC}"/>
              </a:ext>
            </a:extLst>
          </p:cNvPr>
          <p:cNvSpPr txBox="1"/>
          <p:nvPr/>
        </p:nvSpPr>
        <p:spPr>
          <a:xfrm>
            <a:off x="362226" y="1714476"/>
            <a:ext cx="7917069" cy="335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75"/>
              </a:lnSpc>
            </a:pPr>
            <a:r>
              <a:rPr lang="en-US" b="1">
                <a:latin typeface="Aptos"/>
                <a:cs typeface="Times New Roman"/>
              </a:rPr>
              <a:t>Cluster 5 – High Density Cluster</a:t>
            </a:r>
            <a:endParaRPr lang="en-US">
              <a:latin typeface="Aptos"/>
              <a:cs typeface="Times New Roman"/>
            </a:endParaRPr>
          </a:p>
        </p:txBody>
      </p:sp>
      <p:sp>
        <p:nvSpPr>
          <p:cNvPr id="6" name="TextBox 5">
            <a:extLst>
              <a:ext uri="{FF2B5EF4-FFF2-40B4-BE49-F238E27FC236}">
                <a16:creationId xmlns:a16="http://schemas.microsoft.com/office/drawing/2014/main" id="{98911563-D764-19C8-9D93-41CA0E032A57}"/>
              </a:ext>
            </a:extLst>
          </p:cNvPr>
          <p:cNvSpPr txBox="1"/>
          <p:nvPr/>
        </p:nvSpPr>
        <p:spPr>
          <a:xfrm>
            <a:off x="455201" y="4527594"/>
            <a:ext cx="8236883"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1600" b="1">
                <a:latin typeface="Aptos"/>
                <a:cs typeface="Times New Roman"/>
              </a:rPr>
              <a:t>Frequency of Bicycle Thefts Based on Premises Type and Bike Cost. </a:t>
            </a:r>
            <a:endParaRPr lang="en-CA" sz="1600" b="1">
              <a:latin typeface="Aptos"/>
              <a:ea typeface="Calibri"/>
              <a:cs typeface="Times New Roman"/>
            </a:endParaRPr>
          </a:p>
          <a:p>
            <a:endParaRPr lang="en-CA" sz="1600">
              <a:latin typeface="Aptos"/>
              <a:cs typeface="Times New Roman"/>
            </a:endParaRPr>
          </a:p>
          <a:p>
            <a:pPr marL="285750" indent="-285750">
              <a:buFont typeface="Wingdings"/>
              <a:buChar char="Ø"/>
            </a:pPr>
            <a:r>
              <a:rPr lang="en-CA" sz="1600" b="1">
                <a:latin typeface="Aptos"/>
                <a:cs typeface="Times New Roman"/>
              </a:rPr>
              <a:t>Key findings:</a:t>
            </a:r>
            <a:endParaRPr lang="en-CA" sz="1600" b="1">
              <a:latin typeface="Aptos"/>
              <a:ea typeface="Calibri"/>
              <a:cs typeface="Times New Roman"/>
            </a:endParaRPr>
          </a:p>
          <a:p>
            <a:pPr marL="285750" indent="-285750">
              <a:buFont typeface="Wingdings"/>
              <a:buChar char="Ø"/>
            </a:pPr>
            <a:endParaRPr lang="en-CA" sz="1600">
              <a:latin typeface="Aptos"/>
              <a:cs typeface="Times New Roman"/>
            </a:endParaRPr>
          </a:p>
          <a:p>
            <a:pPr marL="742950" lvl="1" indent="-285750">
              <a:buFont typeface="Wingdings"/>
              <a:buChar char="ü"/>
            </a:pPr>
            <a:r>
              <a:rPr lang="en-CA" sz="1400">
                <a:latin typeface="Aptos"/>
                <a:cs typeface="Times New Roman"/>
              </a:rPr>
              <a:t>Most Thefts occur from </a:t>
            </a:r>
            <a:r>
              <a:rPr lang="en-CA" sz="1400" b="1">
                <a:latin typeface="Aptos"/>
                <a:cs typeface="Times New Roman"/>
              </a:rPr>
              <a:t>outside</a:t>
            </a:r>
            <a:r>
              <a:rPr lang="en-CA" sz="1400">
                <a:latin typeface="Aptos"/>
                <a:cs typeface="Times New Roman"/>
              </a:rPr>
              <a:t> for low, medium and high-cost bikes, followed by thefts from </a:t>
            </a:r>
            <a:r>
              <a:rPr lang="en-CA" sz="1400" b="1">
                <a:latin typeface="Aptos"/>
                <a:cs typeface="Times New Roman"/>
              </a:rPr>
              <a:t>apartments</a:t>
            </a:r>
            <a:r>
              <a:rPr lang="en-CA" sz="1400">
                <a:latin typeface="Aptos"/>
                <a:cs typeface="Times New Roman"/>
              </a:rPr>
              <a:t> and</a:t>
            </a:r>
            <a:r>
              <a:rPr lang="en-CA" sz="1400" b="1">
                <a:latin typeface="Aptos"/>
                <a:cs typeface="Times New Roman"/>
              </a:rPr>
              <a:t> houses</a:t>
            </a:r>
            <a:r>
              <a:rPr lang="en-CA" sz="1400">
                <a:latin typeface="Aptos"/>
                <a:cs typeface="Times New Roman"/>
              </a:rPr>
              <a:t>.</a:t>
            </a:r>
            <a:endParaRPr lang="en-CA" sz="1400">
              <a:latin typeface="Aptos"/>
              <a:ea typeface="Calibri"/>
              <a:cs typeface="Times New Roman"/>
            </a:endParaRPr>
          </a:p>
          <a:p>
            <a:pPr marL="742950" lvl="1" indent="-285750">
              <a:buFont typeface="Wingdings"/>
              <a:buChar char="ü"/>
            </a:pPr>
            <a:endParaRPr lang="en-CA" sz="1400">
              <a:latin typeface="Aptos"/>
              <a:cs typeface="Times New Roman"/>
            </a:endParaRPr>
          </a:p>
          <a:p>
            <a:pPr marL="742950" lvl="1" indent="-285750">
              <a:buFont typeface="Wingdings"/>
              <a:buChar char="ü"/>
            </a:pPr>
            <a:r>
              <a:rPr lang="en-CA" sz="1400">
                <a:latin typeface="Aptos"/>
                <a:cs typeface="Times New Roman"/>
              </a:rPr>
              <a:t>Transit Locations (bus/train stations) and Educational Institutions (school/universities) experience the fewest thefts across all cost categories.</a:t>
            </a:r>
          </a:p>
          <a:p>
            <a:endParaRPr lang="en-CA" sz="1600">
              <a:latin typeface="Aptos"/>
              <a:cs typeface="Times New Roman"/>
            </a:endParaRPr>
          </a:p>
        </p:txBody>
      </p:sp>
      <p:pic>
        <p:nvPicPr>
          <p:cNvPr id="4" name="Picture 3" descr="Picture 49054159, Picture">
            <a:extLst>
              <a:ext uri="{FF2B5EF4-FFF2-40B4-BE49-F238E27FC236}">
                <a16:creationId xmlns:a16="http://schemas.microsoft.com/office/drawing/2014/main" id="{CCE34095-1B70-B63B-F3A4-0A6EC3364582}"/>
              </a:ext>
            </a:extLst>
          </p:cNvPr>
          <p:cNvPicPr>
            <a:picLocks noChangeAspect="1"/>
          </p:cNvPicPr>
          <p:nvPr/>
        </p:nvPicPr>
        <p:blipFill>
          <a:blip r:embed="rId2"/>
          <a:stretch>
            <a:fillRect/>
          </a:stretch>
        </p:blipFill>
        <p:spPr>
          <a:xfrm>
            <a:off x="466089" y="2167244"/>
            <a:ext cx="6841435" cy="2340306"/>
          </a:xfrm>
          <a:prstGeom prst="rect">
            <a:avLst/>
          </a:prstGeom>
        </p:spPr>
      </p:pic>
    </p:spTree>
    <p:extLst>
      <p:ext uri="{BB962C8B-B14F-4D97-AF65-F5344CB8AC3E}">
        <p14:creationId xmlns:p14="http://schemas.microsoft.com/office/powerpoint/2010/main" val="23706056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DB71A0-C255-7344-AC0A-1AC24004D8E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034424B-81D3-DC48-424C-BEDB11E151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0D2731A7-69AF-18FE-C55C-B9DA397E80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D7874983-90BF-D5FA-CD9F-E6EB7307B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D51B465B-03B8-285F-6B3D-108F71D41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E155393F-F9A7-8E05-AF69-73DF1696BD79}"/>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Evaluation of Results (Clustering)</a:t>
            </a:r>
          </a:p>
        </p:txBody>
      </p:sp>
      <p:sp>
        <p:nvSpPr>
          <p:cNvPr id="10" name="TextBox 9">
            <a:extLst>
              <a:ext uri="{FF2B5EF4-FFF2-40B4-BE49-F238E27FC236}">
                <a16:creationId xmlns:a16="http://schemas.microsoft.com/office/drawing/2014/main" id="{4CD6B283-72B1-8B3E-A0C4-0BBCFF0C2A3D}"/>
              </a:ext>
            </a:extLst>
          </p:cNvPr>
          <p:cNvSpPr txBox="1"/>
          <p:nvPr/>
        </p:nvSpPr>
        <p:spPr>
          <a:xfrm>
            <a:off x="362226" y="1714476"/>
            <a:ext cx="7917069" cy="335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75"/>
              </a:lnSpc>
            </a:pPr>
            <a:r>
              <a:rPr lang="en-US" b="1">
                <a:latin typeface="Aptos"/>
                <a:cs typeface="Times New Roman"/>
              </a:rPr>
              <a:t>Cluster 5 – High Density Cluster</a:t>
            </a:r>
            <a:endParaRPr lang="en-US">
              <a:latin typeface="Aptos"/>
              <a:cs typeface="Times New Roman"/>
            </a:endParaRPr>
          </a:p>
        </p:txBody>
      </p:sp>
      <p:sp>
        <p:nvSpPr>
          <p:cNvPr id="6" name="TextBox 5">
            <a:extLst>
              <a:ext uri="{FF2B5EF4-FFF2-40B4-BE49-F238E27FC236}">
                <a16:creationId xmlns:a16="http://schemas.microsoft.com/office/drawing/2014/main" id="{A16BB8CB-65F6-A174-BA69-2953FAA4D8C8}"/>
              </a:ext>
            </a:extLst>
          </p:cNvPr>
          <p:cNvSpPr txBox="1"/>
          <p:nvPr/>
        </p:nvSpPr>
        <p:spPr>
          <a:xfrm>
            <a:off x="510260" y="4520255"/>
            <a:ext cx="8201071"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ptos"/>
                <a:cs typeface="Times New Roman"/>
              </a:rPr>
              <a:t>Bicycle theft occurrence by Bike Cost  (Low, Medium, High) and Police Division.</a:t>
            </a:r>
            <a:endParaRPr lang="en-US" sz="1600" b="1">
              <a:latin typeface="Aptos"/>
            </a:endParaRPr>
          </a:p>
          <a:p>
            <a:endParaRPr lang="en-CA" sz="1600">
              <a:latin typeface="Aptos"/>
              <a:cs typeface="Times New Roman"/>
            </a:endParaRPr>
          </a:p>
          <a:p>
            <a:pPr marL="285750" indent="-285750">
              <a:buFont typeface="Wingdings"/>
              <a:buChar char="Ø"/>
            </a:pPr>
            <a:r>
              <a:rPr lang="en-US" sz="1400" b="1">
                <a:latin typeface="Aptos"/>
                <a:cs typeface="Times New Roman"/>
              </a:rPr>
              <a:t>Key observations :</a:t>
            </a:r>
            <a:endParaRPr lang="en-US" sz="1400" b="1">
              <a:latin typeface="Aptos"/>
              <a:ea typeface="Calibri"/>
              <a:cs typeface="Times New Roman"/>
            </a:endParaRPr>
          </a:p>
          <a:p>
            <a:pPr marL="285750" indent="-285750">
              <a:buFont typeface="Wingdings"/>
              <a:buChar char="Ø"/>
            </a:pPr>
            <a:endParaRPr lang="en-US" sz="1400" b="1">
              <a:latin typeface="Aptos"/>
              <a:cs typeface="Times New Roman"/>
            </a:endParaRPr>
          </a:p>
          <a:p>
            <a:pPr marL="742950" lvl="1" indent="-285750">
              <a:buFont typeface="Wingdings"/>
              <a:buChar char="ü"/>
            </a:pPr>
            <a:r>
              <a:rPr lang="en-US" sz="1400">
                <a:latin typeface="Aptos"/>
                <a:cs typeface="Times New Roman"/>
              </a:rPr>
              <a:t>Divisions D51, D52, and D14 have the highest thefts occurrences across all cost categories, indicating higher theft risk in these areas.</a:t>
            </a:r>
            <a:endParaRPr lang="en-CA" sz="1400">
              <a:latin typeface="Aptos"/>
              <a:cs typeface="Times New Roman"/>
            </a:endParaRPr>
          </a:p>
          <a:p>
            <a:pPr marL="742950" lvl="1" indent="-285750">
              <a:buFont typeface="Wingdings"/>
              <a:buChar char="ü"/>
            </a:pPr>
            <a:r>
              <a:rPr lang="en-US" sz="1400">
                <a:latin typeface="Aptos"/>
                <a:cs typeface="Times New Roman"/>
              </a:rPr>
              <a:t>Low-Cost Bikes: Most frequently stolen, with D51, D52, and D14 showing the highest incidents.</a:t>
            </a:r>
            <a:endParaRPr lang="en-CA" sz="1400">
              <a:latin typeface="Aptos"/>
              <a:cs typeface="Times New Roman"/>
            </a:endParaRPr>
          </a:p>
          <a:p>
            <a:pPr marL="742950" lvl="1" indent="-285750">
              <a:buFont typeface="Wingdings"/>
              <a:buChar char="ü"/>
            </a:pPr>
            <a:r>
              <a:rPr lang="en-US" sz="1400">
                <a:latin typeface="Aptos"/>
                <a:cs typeface="Times New Roman"/>
              </a:rPr>
              <a:t>Medium-Cost Bikes: Also highly targeted, especially in D51, D52, and D14.</a:t>
            </a:r>
            <a:endParaRPr lang="en-US" sz="1400">
              <a:latin typeface="Aptos"/>
              <a:ea typeface="Calibri"/>
              <a:cs typeface="Times New Roman"/>
            </a:endParaRPr>
          </a:p>
          <a:p>
            <a:pPr marL="742950" lvl="1" indent="-285750">
              <a:buFont typeface="Wingdings"/>
              <a:buChar char="ü"/>
            </a:pPr>
            <a:r>
              <a:rPr lang="en-US" sz="1400">
                <a:latin typeface="Aptos"/>
                <a:cs typeface="Times New Roman"/>
              </a:rPr>
              <a:t>High-Cost Bikes:  Theft patterns remain consistent, with D51, D52, and D14 having the most cases.</a:t>
            </a:r>
          </a:p>
          <a:p>
            <a:endParaRPr lang="en-CA" sz="1400">
              <a:latin typeface="Aptos"/>
              <a:cs typeface="Times New Roman"/>
            </a:endParaRPr>
          </a:p>
        </p:txBody>
      </p:sp>
      <p:pic>
        <p:nvPicPr>
          <p:cNvPr id="3" name="Picture 2" descr="Picture 896167503, Picture">
            <a:extLst>
              <a:ext uri="{FF2B5EF4-FFF2-40B4-BE49-F238E27FC236}">
                <a16:creationId xmlns:a16="http://schemas.microsoft.com/office/drawing/2014/main" id="{2A9922E2-4D55-118F-783C-8AD94D583E28}"/>
              </a:ext>
            </a:extLst>
          </p:cNvPr>
          <p:cNvPicPr>
            <a:picLocks noChangeAspect="1"/>
          </p:cNvPicPr>
          <p:nvPr/>
        </p:nvPicPr>
        <p:blipFill>
          <a:blip r:embed="rId2"/>
          <a:stretch>
            <a:fillRect/>
          </a:stretch>
        </p:blipFill>
        <p:spPr>
          <a:xfrm>
            <a:off x="507870" y="2151670"/>
            <a:ext cx="7620002" cy="2260381"/>
          </a:xfrm>
          <a:prstGeom prst="rect">
            <a:avLst/>
          </a:prstGeom>
        </p:spPr>
      </p:pic>
    </p:spTree>
    <p:extLst>
      <p:ext uri="{BB962C8B-B14F-4D97-AF65-F5344CB8AC3E}">
        <p14:creationId xmlns:p14="http://schemas.microsoft.com/office/powerpoint/2010/main" val="9646641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46155E-302F-B7AB-955B-7094278F220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F7C65235-FAA8-C3A3-84C4-11C96E0FF2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7CDFDD20-0260-DD85-4D8A-303E6B663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E2C8552-24D1-1E59-4E13-F4A22F113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F0F9500A-5E55-CD8C-42D3-DEF74594D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055773A7-4C99-4FD9-B54D-3EAF7392A20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Interpret Results (Clustering)</a:t>
            </a:r>
          </a:p>
        </p:txBody>
      </p:sp>
      <p:sp>
        <p:nvSpPr>
          <p:cNvPr id="3" name="Content Placeholder 2">
            <a:extLst>
              <a:ext uri="{FF2B5EF4-FFF2-40B4-BE49-F238E27FC236}">
                <a16:creationId xmlns:a16="http://schemas.microsoft.com/office/drawing/2014/main" id="{3F10AA08-61FF-D657-88C5-BE846D65AEF8}"/>
              </a:ext>
            </a:extLst>
          </p:cNvPr>
          <p:cNvSpPr>
            <a:spLocks noGrp="1"/>
          </p:cNvSpPr>
          <p:nvPr>
            <p:ph idx="1"/>
          </p:nvPr>
        </p:nvSpPr>
        <p:spPr>
          <a:xfrm>
            <a:off x="657225" y="1882951"/>
            <a:ext cx="8338516" cy="4485270"/>
          </a:xfrm>
        </p:spPr>
        <p:txBody>
          <a:bodyPr vert="horz" lIns="91440" tIns="45720" rIns="91440" bIns="45720" rtlCol="0" anchor="t">
            <a:normAutofit/>
          </a:bodyPr>
          <a:lstStyle/>
          <a:p>
            <a:pPr marL="0" indent="0" algn="ctr">
              <a:buNone/>
            </a:pPr>
            <a:r>
              <a:rPr lang="en-US" sz="2400" b="1">
                <a:latin typeface="Aptos"/>
              </a:rPr>
              <a:t>Outliers Results</a:t>
            </a:r>
            <a:endParaRPr lang="en-US" sz="2400" b="1">
              <a:latin typeface="Aptos"/>
              <a:ea typeface="Calibri"/>
              <a:cs typeface="Calibri"/>
            </a:endParaRPr>
          </a:p>
          <a:p>
            <a:pPr marL="0" indent="0" algn="ctr">
              <a:buNone/>
            </a:pPr>
            <a:endParaRPr lang="en-US" sz="2400">
              <a:latin typeface="Aptos"/>
              <a:ea typeface="Calibri"/>
              <a:cs typeface="Calibri"/>
            </a:endParaRPr>
          </a:p>
          <a:p>
            <a:pPr>
              <a:buFont typeface="Wingdings"/>
              <a:buChar char="Ø"/>
            </a:pPr>
            <a:r>
              <a:rPr lang="en-CA" sz="1600" b="1">
                <a:latin typeface="Aptos"/>
                <a:ea typeface="Calibri"/>
                <a:cs typeface="Times New Roman"/>
              </a:rPr>
              <a:t>Theft Trends by Year </a:t>
            </a:r>
          </a:p>
          <a:p>
            <a:pPr lvl="1">
              <a:buFont typeface="Wingdings"/>
              <a:buChar char="ü"/>
            </a:pPr>
            <a:r>
              <a:rPr lang="en-US" sz="1400">
                <a:latin typeface="Aptos"/>
                <a:ea typeface="Calibri"/>
                <a:cs typeface="Times New Roman"/>
              </a:rPr>
              <a:t>The theft incidents from 1983 and 1975 are outliers in this dataset, as they fall outside the timeframe of 2014-2024. These data points do not follow the same trends as the more recent thefts, suggesting they are anomalies. </a:t>
            </a:r>
          </a:p>
          <a:p>
            <a:pPr lvl="1">
              <a:buFont typeface="Wingdings"/>
              <a:buChar char="ü"/>
            </a:pPr>
            <a:r>
              <a:rPr lang="en-US" sz="1400">
                <a:latin typeface="Aptos"/>
                <a:ea typeface="Calibri"/>
                <a:cs typeface="Times New Roman"/>
              </a:rPr>
              <a:t>The low density of this cluster highlights the rarity of these outlier incidents, which may be due outdated or incomplete data.</a:t>
            </a:r>
          </a:p>
          <a:p>
            <a:pPr>
              <a:buFont typeface="Wingdings"/>
              <a:buChar char="Ø"/>
            </a:pPr>
            <a:endParaRPr lang="en-US" sz="1400">
              <a:latin typeface="Aptos"/>
              <a:ea typeface="Calibri"/>
              <a:cs typeface="Times New Roman"/>
            </a:endParaRPr>
          </a:p>
          <a:p>
            <a:pPr>
              <a:buFont typeface="Wingdings"/>
              <a:buChar char="Ø"/>
            </a:pPr>
            <a:r>
              <a:rPr lang="en-CA" sz="1600" b="1">
                <a:latin typeface="Aptos"/>
                <a:ea typeface="Calibri"/>
                <a:cs typeface="Times New Roman"/>
              </a:rPr>
              <a:t>Theft Trends by Season </a:t>
            </a:r>
            <a:endParaRPr lang="en-CA" sz="1600">
              <a:latin typeface="Aptos"/>
              <a:ea typeface="Calibri"/>
              <a:cs typeface="Times New Roman"/>
            </a:endParaRPr>
          </a:p>
          <a:p>
            <a:pPr lvl="1">
              <a:buFont typeface="Wingdings"/>
              <a:buChar char="ü"/>
            </a:pPr>
            <a:r>
              <a:rPr lang="en-US" sz="1400">
                <a:latin typeface="Aptos"/>
                <a:ea typeface="Calibri"/>
                <a:cs typeface="Times New Roman"/>
              </a:rPr>
              <a:t>The relatively low number of thefts in January and February reflects a clear seasonal trend. </a:t>
            </a:r>
          </a:p>
          <a:p>
            <a:pPr lvl="1">
              <a:buFont typeface="Wingdings"/>
              <a:buChar char="ü"/>
            </a:pPr>
            <a:r>
              <a:rPr lang="en-US" sz="1400">
                <a:latin typeface="Aptos"/>
                <a:ea typeface="Calibri"/>
                <a:cs typeface="Times New Roman"/>
              </a:rPr>
              <a:t>The winter months show reduced theft activity, likely because fewer people are cycling in colder weather. </a:t>
            </a:r>
            <a:endParaRPr lang="en-US" sz="1400">
              <a:latin typeface="Aptos"/>
              <a:ea typeface="Calibri"/>
              <a:cs typeface="Calibri"/>
            </a:endParaRPr>
          </a:p>
          <a:p>
            <a:pPr lvl="1">
              <a:buFont typeface="Wingdings"/>
              <a:buChar char="ü"/>
            </a:pPr>
            <a:r>
              <a:rPr lang="en-US" sz="1400">
                <a:latin typeface="Aptos"/>
                <a:ea typeface="Calibri"/>
                <a:cs typeface="Times New Roman"/>
              </a:rPr>
              <a:t>This suggests that bike thefts tend to occur more frequently during warmer months when bike usage is higher.</a:t>
            </a:r>
            <a:endParaRPr lang="en-US" sz="1400">
              <a:latin typeface="Aptos"/>
              <a:ea typeface="Calibri"/>
              <a:cs typeface="Calibri"/>
            </a:endParaRPr>
          </a:p>
          <a:p>
            <a:pPr lvl="1">
              <a:buFont typeface="Wingdings"/>
              <a:buChar char="ü"/>
            </a:pPr>
            <a:endParaRPr lang="en-US" sz="2000">
              <a:latin typeface="Aptos"/>
              <a:ea typeface="Calibri"/>
              <a:cs typeface="Calibri"/>
            </a:endParaRPr>
          </a:p>
        </p:txBody>
      </p:sp>
    </p:spTree>
    <p:extLst>
      <p:ext uri="{BB962C8B-B14F-4D97-AF65-F5344CB8AC3E}">
        <p14:creationId xmlns:p14="http://schemas.microsoft.com/office/powerpoint/2010/main" val="33164582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0A73E4-5288-E695-5778-D613C41607A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C045BB5-9DF7-7F52-1906-3DBDC15660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40EA2C54-7514-D3C7-F290-8674300FC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431A0A4-CC5D-71EB-091A-3A81AF37E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2B0B1B18-8D1F-7003-3617-7A79EF523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2C2579F3-EFEA-9076-91A6-23D4EBB03404}"/>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latin typeface="Calibri"/>
                <a:ea typeface="Calibri"/>
                <a:cs typeface="Calibri"/>
              </a:rPr>
              <a:t>Interpret Results (Clustering)</a:t>
            </a:r>
            <a:endParaRPr lang="en-CA" sz="2800">
              <a:solidFill>
                <a:srgbClr val="000000"/>
              </a:solidFill>
              <a:latin typeface="Calibri"/>
              <a:ea typeface="Calibri"/>
              <a:cs typeface="Calibri"/>
            </a:endParaRPr>
          </a:p>
        </p:txBody>
      </p:sp>
      <p:sp>
        <p:nvSpPr>
          <p:cNvPr id="3" name="Content Placeholder 2">
            <a:extLst>
              <a:ext uri="{FF2B5EF4-FFF2-40B4-BE49-F238E27FC236}">
                <a16:creationId xmlns:a16="http://schemas.microsoft.com/office/drawing/2014/main" id="{3F34463E-61EA-2AC4-A238-7F3914552AF4}"/>
              </a:ext>
            </a:extLst>
          </p:cNvPr>
          <p:cNvSpPr>
            <a:spLocks noGrp="1"/>
          </p:cNvSpPr>
          <p:nvPr>
            <p:ph idx="1"/>
          </p:nvPr>
        </p:nvSpPr>
        <p:spPr>
          <a:xfrm>
            <a:off x="657225" y="1717298"/>
            <a:ext cx="7858125" cy="4838662"/>
          </a:xfrm>
        </p:spPr>
        <p:txBody>
          <a:bodyPr vert="horz" lIns="91440" tIns="45720" rIns="91440" bIns="45720" rtlCol="0" anchor="t">
            <a:normAutofit fontScale="92500" lnSpcReduction="20000"/>
          </a:bodyPr>
          <a:lstStyle/>
          <a:p>
            <a:pPr marL="0" indent="0" algn="ctr">
              <a:buNone/>
            </a:pPr>
            <a:r>
              <a:rPr lang="en-CA" sz="1800" b="1">
                <a:latin typeface="Aptos"/>
                <a:ea typeface="Calibri"/>
                <a:cs typeface="Times New Roman"/>
              </a:rPr>
              <a:t>Common Patterns - Theft Trends by Bike Type, Location, Season, Division, and Cost</a:t>
            </a:r>
            <a:endParaRPr lang="en-US" sz="1800" b="1">
              <a:latin typeface="Aptos"/>
              <a:ea typeface="Calibri"/>
              <a:cs typeface="Times New Roman"/>
            </a:endParaRPr>
          </a:p>
          <a:p>
            <a:pPr marL="0" indent="0" algn="ctr">
              <a:buNone/>
            </a:pPr>
            <a:endParaRPr lang="en-US" sz="1600" b="1">
              <a:latin typeface="Aptos"/>
              <a:ea typeface="Calibri"/>
              <a:cs typeface="Calibri"/>
            </a:endParaRPr>
          </a:p>
          <a:p>
            <a:pPr>
              <a:buFont typeface="Wingdings"/>
              <a:buChar char="Ø"/>
            </a:pPr>
            <a:r>
              <a:rPr lang="en-CA" sz="1600" b="1">
                <a:latin typeface="Aptos"/>
                <a:ea typeface="Calibri"/>
                <a:cs typeface="Times New Roman"/>
              </a:rPr>
              <a:t>Seasonal and Bike Type Trends</a:t>
            </a:r>
            <a:endParaRPr lang="en-CA" sz="1600">
              <a:latin typeface="Aptos"/>
              <a:ea typeface="Calibri"/>
              <a:cs typeface="Times New Roman"/>
            </a:endParaRPr>
          </a:p>
          <a:p>
            <a:pPr lvl="1">
              <a:buFont typeface="Wingdings"/>
              <a:buChar char="ü"/>
            </a:pPr>
            <a:r>
              <a:rPr lang="en-US" sz="1400">
                <a:latin typeface="Aptos"/>
                <a:ea typeface="Calibri"/>
                <a:cs typeface="Times New Roman"/>
              </a:rPr>
              <a:t>Bicycle thefts are influenced by both bike types and seasonal patterns. </a:t>
            </a:r>
            <a:endParaRPr lang="en-US" sz="1400">
              <a:latin typeface="Aptos"/>
              <a:ea typeface="Calibri"/>
              <a:cs typeface="Calibri"/>
            </a:endParaRPr>
          </a:p>
          <a:p>
            <a:pPr lvl="1">
              <a:buFont typeface="Wingdings"/>
              <a:buChar char="ü"/>
            </a:pPr>
            <a:r>
              <a:rPr lang="en-US" sz="1400">
                <a:latin typeface="Aptos"/>
                <a:ea typeface="Calibri"/>
                <a:cs typeface="Times New Roman"/>
              </a:rPr>
              <a:t>Mountain Bikes and Road Bikes are the most frequently stolen, with incidents peaking during the summer months (July and August). </a:t>
            </a:r>
            <a:endParaRPr lang="en-US" sz="1400">
              <a:latin typeface="Aptos"/>
              <a:ea typeface="Calibri"/>
              <a:cs typeface="Calibri"/>
            </a:endParaRPr>
          </a:p>
          <a:p>
            <a:pPr lvl="1">
              <a:buFont typeface="Wingdings"/>
              <a:buChar char="ü"/>
            </a:pPr>
            <a:r>
              <a:rPr lang="en-US" sz="1400">
                <a:latin typeface="Aptos"/>
                <a:ea typeface="Calibri"/>
                <a:cs typeface="Times New Roman"/>
              </a:rPr>
              <a:t>Higher theft rates during the summer when more bikes are in use.</a:t>
            </a:r>
            <a:endParaRPr lang="en-US" sz="1400">
              <a:latin typeface="Aptos"/>
              <a:ea typeface="Calibri"/>
              <a:cs typeface="Calibri"/>
            </a:endParaRPr>
          </a:p>
          <a:p>
            <a:pPr marL="628650" indent="-285750">
              <a:buFont typeface="Wingdings"/>
              <a:buChar char="Ø"/>
            </a:pPr>
            <a:endParaRPr lang="en-US" sz="1400">
              <a:latin typeface="Aptos"/>
              <a:ea typeface="Calibri"/>
              <a:cs typeface="Times New Roman"/>
            </a:endParaRPr>
          </a:p>
          <a:p>
            <a:pPr>
              <a:buFont typeface="Wingdings"/>
              <a:buChar char="Ø"/>
            </a:pPr>
            <a:r>
              <a:rPr lang="en-CA" sz="1600" b="1">
                <a:latin typeface="Aptos"/>
                <a:ea typeface="Calibri"/>
                <a:cs typeface="Times New Roman"/>
              </a:rPr>
              <a:t>Premises and Theft Location:</a:t>
            </a:r>
            <a:endParaRPr lang="en-US" sz="1600">
              <a:latin typeface="Aptos"/>
              <a:ea typeface="Calibri"/>
              <a:cs typeface="Calibri"/>
            </a:endParaRPr>
          </a:p>
          <a:p>
            <a:pPr lvl="1">
              <a:buFont typeface="Wingdings"/>
              <a:buChar char="ü"/>
            </a:pPr>
            <a:r>
              <a:rPr lang="en-US" sz="1400">
                <a:latin typeface="Aptos"/>
                <a:ea typeface="Calibri"/>
                <a:cs typeface="Times New Roman"/>
              </a:rPr>
              <a:t>The data shows that outside is the most common place for bicycle thefts, regardless of the cost of the bike. </a:t>
            </a:r>
            <a:endParaRPr lang="en-US" sz="1400">
              <a:latin typeface="Aptos"/>
              <a:ea typeface="Calibri"/>
              <a:cs typeface="Calibri"/>
            </a:endParaRPr>
          </a:p>
          <a:p>
            <a:pPr lvl="1">
              <a:buFont typeface="Wingdings"/>
              <a:buChar char="ü"/>
            </a:pPr>
            <a:r>
              <a:rPr lang="en-US" sz="1400">
                <a:latin typeface="Aptos"/>
                <a:ea typeface="Calibri"/>
                <a:cs typeface="Times New Roman"/>
              </a:rPr>
              <a:t>This suggests that bicycles, regardless of value, are often targeted when left outside, possibly due to lack of security measures in public areas.</a:t>
            </a:r>
            <a:endParaRPr lang="en-US" sz="1400">
              <a:latin typeface="Aptos"/>
              <a:ea typeface="Calibri"/>
              <a:cs typeface="Calibri"/>
            </a:endParaRPr>
          </a:p>
          <a:p>
            <a:pPr>
              <a:buFont typeface="Wingdings"/>
              <a:buChar char="Ø"/>
            </a:pPr>
            <a:endParaRPr lang="en-US" sz="1400">
              <a:latin typeface="Aptos"/>
              <a:ea typeface="Calibri"/>
              <a:cs typeface="Times New Roman"/>
            </a:endParaRPr>
          </a:p>
          <a:p>
            <a:pPr>
              <a:buFont typeface="Wingdings"/>
              <a:buChar char="Ø"/>
            </a:pPr>
            <a:r>
              <a:rPr lang="en-CA" sz="1600" b="1">
                <a:latin typeface="Aptos"/>
                <a:ea typeface="Calibri"/>
                <a:cs typeface="Times New Roman"/>
              </a:rPr>
              <a:t>Least frequent theft locations:</a:t>
            </a:r>
            <a:endParaRPr lang="en-US" sz="1600">
              <a:latin typeface="Aptos"/>
              <a:ea typeface="Calibri"/>
              <a:cs typeface="Times New Roman"/>
            </a:endParaRPr>
          </a:p>
          <a:p>
            <a:pPr lvl="1">
              <a:buFont typeface="Wingdings"/>
              <a:buChar char="ü"/>
            </a:pPr>
            <a:r>
              <a:rPr lang="en-CA" sz="1400">
                <a:latin typeface="Aptos"/>
                <a:ea typeface="Calibri"/>
                <a:cs typeface="Times New Roman"/>
              </a:rPr>
              <a:t>Transit location (like bus station or train stations) and educational institutions (such as school or universities) have the fewest thefts across all cost categories. </a:t>
            </a:r>
            <a:endParaRPr lang="en-US" sz="1400">
              <a:latin typeface="Aptos"/>
              <a:ea typeface="Calibri"/>
              <a:cs typeface="Times New Roman"/>
            </a:endParaRPr>
          </a:p>
          <a:p>
            <a:pPr lvl="1">
              <a:buFont typeface="Wingdings"/>
              <a:buChar char="ü"/>
            </a:pPr>
            <a:r>
              <a:rPr lang="en-CA" sz="1400">
                <a:latin typeface="Aptos"/>
                <a:ea typeface="Calibri"/>
                <a:cs typeface="Times New Roman"/>
              </a:rPr>
              <a:t>This suggests that these areas may have better security measures.</a:t>
            </a:r>
            <a:endParaRPr lang="en-US" sz="1400">
              <a:latin typeface="Aptos"/>
              <a:ea typeface="Calibri"/>
              <a:cs typeface="Times New Roman"/>
            </a:endParaRPr>
          </a:p>
          <a:p>
            <a:pPr lvl="1">
              <a:buFont typeface="Wingdings"/>
              <a:buChar char="ü"/>
            </a:pPr>
            <a:endParaRPr lang="en-CA" sz="1400">
              <a:latin typeface="Aptos"/>
              <a:ea typeface="Calibri"/>
              <a:cs typeface="Times New Roman"/>
            </a:endParaRPr>
          </a:p>
          <a:p>
            <a:pPr>
              <a:buFont typeface="Wingdings"/>
              <a:buChar char="Ø"/>
            </a:pPr>
            <a:r>
              <a:rPr lang="en-CA" sz="1600" b="1">
                <a:latin typeface="Aptos"/>
                <a:ea typeface="Calibri"/>
                <a:cs typeface="Times New Roman"/>
              </a:rPr>
              <a:t>Division trends:</a:t>
            </a:r>
            <a:endParaRPr lang="en-US" sz="1600">
              <a:latin typeface="Aptos"/>
              <a:ea typeface="Calibri"/>
              <a:cs typeface="Times New Roman"/>
            </a:endParaRPr>
          </a:p>
          <a:p>
            <a:pPr lvl="1">
              <a:buFont typeface="Wingdings"/>
              <a:buChar char="ü"/>
            </a:pPr>
            <a:r>
              <a:rPr lang="en-US" sz="1400">
                <a:latin typeface="Aptos"/>
                <a:ea typeface="Calibri"/>
                <a:cs typeface="Times New Roman"/>
              </a:rPr>
              <a:t>The most frequent bicycle thefts occur in Divisions D14, D52, and D51. </a:t>
            </a:r>
          </a:p>
          <a:p>
            <a:pPr lvl="1">
              <a:buFont typeface="Wingdings"/>
              <a:buChar char="ü"/>
            </a:pPr>
            <a:r>
              <a:rPr lang="en-US" sz="1400">
                <a:latin typeface="Aptos"/>
                <a:ea typeface="Calibri"/>
                <a:cs typeface="Times New Roman"/>
              </a:rPr>
              <a:t>These divisions appear to be high-risk areas for bicycle theft, indicating that there may be a need for increased security measures in these regions to address the elevated theft activity.</a:t>
            </a:r>
            <a:endParaRPr lang="en-US" sz="1400">
              <a:latin typeface="Aptos"/>
              <a:ea typeface="Calibri"/>
              <a:cs typeface="Calibri"/>
            </a:endParaRPr>
          </a:p>
          <a:p>
            <a:pPr lvl="1">
              <a:buFont typeface="Wingdings"/>
              <a:buChar char="ü"/>
            </a:pPr>
            <a:endParaRPr lang="en-US" sz="1400">
              <a:latin typeface="Aptos"/>
              <a:ea typeface="Calibri"/>
              <a:cs typeface="Calibri"/>
            </a:endParaRPr>
          </a:p>
        </p:txBody>
      </p:sp>
    </p:spTree>
    <p:extLst>
      <p:ext uri="{BB962C8B-B14F-4D97-AF65-F5344CB8AC3E}">
        <p14:creationId xmlns:p14="http://schemas.microsoft.com/office/powerpoint/2010/main" val="36871423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12BB05-7794-E2BF-44A8-52E28C3CD72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98CE62F2-413E-D6F9-123B-B334C44F0F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7CB82ECF-31B2-985D-D3C1-8DEA1E312A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8554740C-E68B-0061-8864-D9EDB13AE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3B728DC3-8A4D-86B3-D1B5-F0CC712D5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0A7B6678-DA6D-40CD-6931-F3B417E5A9CC}"/>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Review Process (Clustering)</a:t>
            </a:r>
          </a:p>
        </p:txBody>
      </p:sp>
      <p:sp>
        <p:nvSpPr>
          <p:cNvPr id="3" name="Content Placeholder 2">
            <a:extLst>
              <a:ext uri="{FF2B5EF4-FFF2-40B4-BE49-F238E27FC236}">
                <a16:creationId xmlns:a16="http://schemas.microsoft.com/office/drawing/2014/main" id="{ED31D757-B5A8-185A-FFB7-263E9054160C}"/>
              </a:ext>
            </a:extLst>
          </p:cNvPr>
          <p:cNvSpPr>
            <a:spLocks noGrp="1"/>
          </p:cNvSpPr>
          <p:nvPr>
            <p:ph idx="1"/>
          </p:nvPr>
        </p:nvSpPr>
        <p:spPr>
          <a:xfrm>
            <a:off x="657225" y="1794819"/>
            <a:ext cx="7858125" cy="4186881"/>
          </a:xfrm>
        </p:spPr>
        <p:txBody>
          <a:bodyPr vert="horz" lIns="91440" tIns="45720" rIns="91440" bIns="45720" rtlCol="0" anchor="t">
            <a:noAutofit/>
          </a:bodyPr>
          <a:lstStyle/>
          <a:p>
            <a:pPr>
              <a:buFont typeface="Wingdings"/>
              <a:buChar char="Ø"/>
            </a:pPr>
            <a:r>
              <a:rPr lang="en-CA" sz="1600" b="1">
                <a:latin typeface="Aptos"/>
                <a:ea typeface="Calibri"/>
                <a:cs typeface="Times New Roman"/>
              </a:rPr>
              <a:t>Clustering Methodology</a:t>
            </a:r>
            <a:endParaRPr lang="en-US" sz="1600" b="1">
              <a:latin typeface="Aptos"/>
              <a:ea typeface="Calibri"/>
              <a:cs typeface="Times New Roman"/>
            </a:endParaRPr>
          </a:p>
          <a:p>
            <a:pPr lvl="1">
              <a:buFont typeface="Wingdings"/>
              <a:buChar char="ü"/>
            </a:pPr>
            <a:r>
              <a:rPr lang="en-CA" sz="1400">
                <a:latin typeface="Aptos"/>
                <a:ea typeface="Calibri"/>
                <a:cs typeface="Times New Roman"/>
              </a:rPr>
              <a:t>Used Clustering (Loop) and Clustering (Best K) operators to determine the most suitable number of clusters. </a:t>
            </a:r>
            <a:endParaRPr lang="en-US" sz="1400">
              <a:latin typeface="Aptos"/>
              <a:ea typeface="Calibri"/>
              <a:cs typeface="Times New Roman"/>
            </a:endParaRPr>
          </a:p>
          <a:p>
            <a:pPr lvl="1">
              <a:buFont typeface="Wingdings"/>
              <a:buChar char="ü"/>
            </a:pPr>
            <a:r>
              <a:rPr lang="en-CA" sz="1400">
                <a:latin typeface="Aptos"/>
                <a:ea typeface="Calibri"/>
                <a:cs typeface="Times New Roman"/>
              </a:rPr>
              <a:t>Applied filtering and joining operations were applied.</a:t>
            </a:r>
            <a:endParaRPr lang="en-US" sz="1400">
              <a:latin typeface="Aptos"/>
              <a:ea typeface="Calibri"/>
              <a:cs typeface="Times New Roman"/>
            </a:endParaRPr>
          </a:p>
          <a:p>
            <a:pPr marL="457200" lvl="1" indent="0">
              <a:buNone/>
            </a:pPr>
            <a:endParaRPr lang="en-CA" sz="1400">
              <a:latin typeface="Aptos"/>
              <a:ea typeface="Calibri"/>
              <a:cs typeface="Times New Roman"/>
            </a:endParaRPr>
          </a:p>
          <a:p>
            <a:pPr>
              <a:buFont typeface="Wingdings"/>
              <a:buChar char="Ø"/>
            </a:pPr>
            <a:r>
              <a:rPr lang="en-CA" sz="1600" b="1">
                <a:latin typeface="Aptos"/>
                <a:ea typeface="Calibri"/>
                <a:cs typeface="Times New Roman"/>
              </a:rPr>
              <a:t>Insights:</a:t>
            </a:r>
          </a:p>
          <a:p>
            <a:pPr lvl="1">
              <a:buFont typeface="Wingdings"/>
              <a:buChar char="ü"/>
            </a:pPr>
            <a:r>
              <a:rPr lang="en-CA" sz="1400">
                <a:latin typeface="Aptos"/>
                <a:ea typeface="Calibri"/>
                <a:cs typeface="Times New Roman"/>
              </a:rPr>
              <a:t>High-density clusters: Indicate common theft trends.</a:t>
            </a:r>
          </a:p>
          <a:p>
            <a:pPr lvl="1">
              <a:buFont typeface="Wingdings"/>
              <a:buChar char="ü"/>
            </a:pPr>
            <a:r>
              <a:rPr lang="en-CA" sz="1400">
                <a:latin typeface="Aptos"/>
                <a:ea typeface="Calibri"/>
                <a:cs typeface="Times New Roman"/>
              </a:rPr>
              <a:t>low-density clusters; Highlight rare and potentially anomalous incidents.</a:t>
            </a:r>
          </a:p>
          <a:p>
            <a:pPr marL="457200" lvl="1" indent="0">
              <a:buNone/>
            </a:pPr>
            <a:endParaRPr lang="en-CA" sz="1400">
              <a:latin typeface="Aptos"/>
              <a:ea typeface="Calibri"/>
              <a:cs typeface="Times New Roman"/>
            </a:endParaRPr>
          </a:p>
          <a:p>
            <a:pPr>
              <a:buFont typeface="Wingdings"/>
              <a:buChar char="Ø"/>
            </a:pPr>
            <a:r>
              <a:rPr lang="en-CA" sz="1600" b="1">
                <a:latin typeface="Aptos"/>
                <a:ea typeface="Calibri"/>
                <a:cs typeface="Times New Roman"/>
              </a:rPr>
              <a:t>Potential Limitations</a:t>
            </a:r>
            <a:endParaRPr lang="en-US" sz="1600">
              <a:latin typeface="Aptos"/>
              <a:ea typeface="Calibri"/>
              <a:cs typeface="Times New Roman"/>
            </a:endParaRPr>
          </a:p>
          <a:p>
            <a:pPr lvl="1">
              <a:buFont typeface="Wingdings"/>
              <a:buChar char="ü"/>
            </a:pPr>
            <a:r>
              <a:rPr lang="en-CA" sz="1400">
                <a:latin typeface="Aptos"/>
                <a:ea typeface="Calibri"/>
                <a:cs typeface="Times New Roman"/>
              </a:rPr>
              <a:t>Cluster Overlap :  Some thefts may appear in multiple clusters, reducing clarity.</a:t>
            </a:r>
            <a:endParaRPr lang="en-US" sz="1400">
              <a:latin typeface="Aptos"/>
              <a:ea typeface="Calibri"/>
              <a:cs typeface="Times New Roman"/>
            </a:endParaRPr>
          </a:p>
          <a:p>
            <a:pPr lvl="1">
              <a:buFont typeface="Wingdings"/>
              <a:buChar char="ü"/>
            </a:pPr>
            <a:r>
              <a:rPr lang="en-CA" sz="1400">
                <a:latin typeface="Aptos"/>
                <a:ea typeface="Calibri"/>
                <a:cs typeface="Times New Roman"/>
              </a:rPr>
              <a:t>External Factors not included:  Weather, events, and population density not considered.</a:t>
            </a:r>
            <a:endParaRPr lang="en-US" sz="1400">
              <a:latin typeface="Aptos"/>
              <a:ea typeface="Calibri"/>
              <a:cs typeface="Times New Roman"/>
            </a:endParaRPr>
          </a:p>
          <a:p>
            <a:pPr lvl="1">
              <a:buFont typeface="Wingdings"/>
              <a:buChar char="ü"/>
            </a:pPr>
            <a:r>
              <a:rPr lang="en-CA" sz="1400">
                <a:latin typeface="Aptos"/>
                <a:ea typeface="Calibri"/>
                <a:cs typeface="Times New Roman"/>
              </a:rPr>
              <a:t>Data Bias: Missing or underreported incidents could affect cluster validity.</a:t>
            </a:r>
            <a:endParaRPr lang="en-US" sz="1400">
              <a:latin typeface="Aptos"/>
              <a:ea typeface="Calibri"/>
              <a:cs typeface="Times New Roman"/>
            </a:endParaRPr>
          </a:p>
          <a:p>
            <a:pPr>
              <a:buFont typeface="Wingdings"/>
              <a:buChar char="Ø"/>
            </a:pPr>
            <a:endParaRPr lang="en-US" sz="1400">
              <a:latin typeface="Aptos"/>
              <a:ea typeface="Calibri"/>
              <a:cs typeface="Calibri"/>
            </a:endParaRPr>
          </a:p>
        </p:txBody>
      </p:sp>
    </p:spTree>
    <p:extLst>
      <p:ext uri="{BB962C8B-B14F-4D97-AF65-F5344CB8AC3E}">
        <p14:creationId xmlns:p14="http://schemas.microsoft.com/office/powerpoint/2010/main" val="35155134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1C2392-765D-6D06-BC74-0C6DE64CE0C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49B162C-B883-770D-B434-2CA576D7E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D0C39858-C842-AD4C-E95F-2F00B4F95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B66F60F-51F0-A559-BEFB-896766E63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1CB58EAE-B3F4-FDD6-01B5-A8B36F32C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7BACC975-146C-CAB6-1D3D-1DA1669721D6}"/>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Next Steps (Clustering)</a:t>
            </a:r>
          </a:p>
        </p:txBody>
      </p:sp>
      <p:sp>
        <p:nvSpPr>
          <p:cNvPr id="3" name="Content Placeholder 2">
            <a:extLst>
              <a:ext uri="{FF2B5EF4-FFF2-40B4-BE49-F238E27FC236}">
                <a16:creationId xmlns:a16="http://schemas.microsoft.com/office/drawing/2014/main" id="{8ADEEA5D-8D69-0969-8070-DADA5BED3960}"/>
              </a:ext>
            </a:extLst>
          </p:cNvPr>
          <p:cNvSpPr>
            <a:spLocks noGrp="1"/>
          </p:cNvSpPr>
          <p:nvPr>
            <p:ph idx="1"/>
          </p:nvPr>
        </p:nvSpPr>
        <p:spPr>
          <a:xfrm>
            <a:off x="657225" y="2069378"/>
            <a:ext cx="7858125" cy="3912322"/>
          </a:xfrm>
        </p:spPr>
        <p:txBody>
          <a:bodyPr vert="horz" lIns="91440" tIns="45720" rIns="91440" bIns="45720" rtlCol="0" anchor="t">
            <a:normAutofit/>
          </a:bodyPr>
          <a:lstStyle/>
          <a:p>
            <a:pPr marL="0" indent="0">
              <a:buNone/>
            </a:pPr>
            <a:r>
              <a:rPr lang="en-CA" sz="1800" b="1">
                <a:latin typeface="Aptos"/>
                <a:cs typeface="Times New Roman"/>
              </a:rPr>
              <a:t>Next Steps  for Improving Analysis and Theft Prevention:</a:t>
            </a:r>
            <a:endParaRPr lang="en-US" sz="1800" b="1">
              <a:latin typeface="Aptos"/>
              <a:ea typeface="Calibri"/>
              <a:cs typeface="Calibri"/>
            </a:endParaRPr>
          </a:p>
          <a:p>
            <a:pPr marL="0" indent="0">
              <a:buNone/>
            </a:pPr>
            <a:endParaRPr lang="en-CA" sz="1400">
              <a:latin typeface="Aptos"/>
              <a:cs typeface="Times New Roman"/>
            </a:endParaRPr>
          </a:p>
          <a:p>
            <a:pPr marL="0" indent="0">
              <a:buNone/>
            </a:pPr>
            <a:endParaRPr lang="en-CA" sz="1400">
              <a:latin typeface="Aptos"/>
              <a:cs typeface="Times New Roman"/>
            </a:endParaRPr>
          </a:p>
          <a:p>
            <a:pPr>
              <a:buFont typeface="Wingdings"/>
              <a:buChar char="Ø"/>
            </a:pPr>
            <a:r>
              <a:rPr lang="en-CA" sz="1600" b="1">
                <a:latin typeface="Aptos"/>
                <a:cs typeface="Times New Roman"/>
              </a:rPr>
              <a:t>Incorporate External Factors:</a:t>
            </a:r>
          </a:p>
          <a:p>
            <a:pPr marL="685800" lvl="1">
              <a:buFont typeface="Wingdings"/>
              <a:buChar char="ü"/>
            </a:pPr>
            <a:r>
              <a:rPr lang="en-CA" sz="1400">
                <a:latin typeface="Aptos"/>
                <a:cs typeface="Times New Roman"/>
              </a:rPr>
              <a:t>Analyse weather conditions, public events, and population density on theft trends.</a:t>
            </a:r>
            <a:endParaRPr lang="en-CA" sz="1400">
              <a:latin typeface="Aptos"/>
              <a:ea typeface="Calibri"/>
              <a:cs typeface="Calibri"/>
            </a:endParaRPr>
          </a:p>
          <a:p>
            <a:pPr>
              <a:buFont typeface="Wingdings"/>
              <a:buChar char="Ø"/>
            </a:pPr>
            <a:endParaRPr lang="en-CA" sz="1600">
              <a:latin typeface="Aptos"/>
              <a:cs typeface="Times New Roman"/>
            </a:endParaRPr>
          </a:p>
          <a:p>
            <a:pPr>
              <a:buFont typeface="Wingdings"/>
              <a:buChar char="Ø"/>
            </a:pPr>
            <a:r>
              <a:rPr lang="en-CA" sz="1600" b="1">
                <a:latin typeface="Aptos"/>
                <a:cs typeface="Times New Roman"/>
              </a:rPr>
              <a:t>Enhance Security Policies:</a:t>
            </a:r>
            <a:endParaRPr lang="en-CA" sz="1600" b="1">
              <a:latin typeface="Aptos"/>
              <a:ea typeface="Calibri"/>
              <a:cs typeface="Calibri"/>
            </a:endParaRPr>
          </a:p>
          <a:p>
            <a:pPr lvl="1">
              <a:buFont typeface="Wingdings"/>
              <a:buChar char="ü"/>
            </a:pPr>
            <a:r>
              <a:rPr lang="en-CA" sz="1400">
                <a:latin typeface="Aptos"/>
                <a:cs typeface="Times New Roman"/>
              </a:rPr>
              <a:t>Recommend improved lighting, surveillance, and secure bike parking in high-risk areas.</a:t>
            </a:r>
            <a:endParaRPr lang="en-CA" sz="1400">
              <a:latin typeface="Aptos"/>
              <a:ea typeface="Calibri"/>
              <a:cs typeface="Calibri"/>
            </a:endParaRPr>
          </a:p>
          <a:p>
            <a:pPr marL="0" indent="0">
              <a:buNone/>
            </a:pPr>
            <a:endParaRPr lang="en-CA" sz="1600">
              <a:latin typeface="Aptos"/>
              <a:cs typeface="Times New Roman"/>
            </a:endParaRPr>
          </a:p>
          <a:p>
            <a:pPr>
              <a:buFont typeface="Wingdings"/>
              <a:buChar char="Ø"/>
            </a:pPr>
            <a:r>
              <a:rPr lang="en-CA" sz="1600" b="1">
                <a:latin typeface="Aptos"/>
                <a:cs typeface="Times New Roman"/>
              </a:rPr>
              <a:t>Predictive Modeling:</a:t>
            </a:r>
          </a:p>
          <a:p>
            <a:pPr lvl="1">
              <a:buFont typeface="Wingdings"/>
              <a:buChar char="ü"/>
            </a:pPr>
            <a:r>
              <a:rPr lang="en-CA" sz="1400">
                <a:latin typeface="Aptos"/>
                <a:cs typeface="Times New Roman"/>
              </a:rPr>
              <a:t>Implement machine learning models to predict theft risk based on historical patterns.</a:t>
            </a:r>
            <a:endParaRPr lang="en-CA" sz="1400">
              <a:latin typeface="Aptos"/>
            </a:endParaRPr>
          </a:p>
          <a:p>
            <a:pPr>
              <a:buFont typeface="Wingdings"/>
              <a:buChar char="Ø"/>
            </a:pPr>
            <a:endParaRPr lang="en-US" sz="1400">
              <a:latin typeface="Aptos"/>
              <a:ea typeface="Calibri"/>
              <a:cs typeface="Calibri"/>
            </a:endParaRPr>
          </a:p>
        </p:txBody>
      </p:sp>
    </p:spTree>
    <p:extLst>
      <p:ext uri="{BB962C8B-B14F-4D97-AF65-F5344CB8AC3E}">
        <p14:creationId xmlns:p14="http://schemas.microsoft.com/office/powerpoint/2010/main" val="41145906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1B6544-ED2E-24C2-D115-0D517E50A74F}"/>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21FDCCC3-920F-43F6-DD97-D9B9945202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9144000" cy="6894986"/>
            <a:chOff x="0" y="-7622"/>
            <a:chExt cx="12192000" cy="6894986"/>
          </a:xfrm>
        </p:grpSpPr>
        <p:sp>
          <p:nvSpPr>
            <p:cNvPr id="15" name="Rectangle 14">
              <a:extLst>
                <a:ext uri="{FF2B5EF4-FFF2-40B4-BE49-F238E27FC236}">
                  <a16:creationId xmlns:a16="http://schemas.microsoft.com/office/drawing/2014/main" id="{59990802-8CAD-3410-772E-766C38FBF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9CF0F51-7220-9933-BAEE-8EDE4FE1F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1669C9-C34A-0613-D0DF-E0B0A749F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055A15-F7E5-A04E-DAAA-5E9830907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F0F890B6-D142-AAEC-2E31-18899804A3AB}"/>
              </a:ext>
            </a:extLst>
          </p:cNvPr>
          <p:cNvSpPr>
            <a:spLocks noGrp="1"/>
          </p:cNvSpPr>
          <p:nvPr>
            <p:ph type="title"/>
          </p:nvPr>
        </p:nvSpPr>
        <p:spPr>
          <a:xfrm>
            <a:off x="2205105" y="1536180"/>
            <a:ext cx="4763676" cy="2085740"/>
          </a:xfrm>
        </p:spPr>
        <p:txBody>
          <a:bodyPr vert="horz" lIns="91440" tIns="45720" rIns="91440" bIns="45720" rtlCol="0" anchor="b">
            <a:normAutofit/>
          </a:bodyPr>
          <a:lstStyle/>
          <a:p>
            <a:pPr defTabSz="914400">
              <a:lnSpc>
                <a:spcPct val="90000"/>
              </a:lnSpc>
            </a:pPr>
            <a:r>
              <a:rPr lang="en-US" sz="3500" kern="1200">
                <a:solidFill>
                  <a:srgbClr val="FFFFFF"/>
                </a:solidFill>
                <a:latin typeface="+mj-lt"/>
                <a:ea typeface="+mj-ea"/>
                <a:cs typeface="+mj-cs"/>
              </a:rPr>
              <a:t>Outlier Detection</a:t>
            </a:r>
          </a:p>
        </p:txBody>
      </p:sp>
    </p:spTree>
    <p:extLst>
      <p:ext uri="{BB962C8B-B14F-4D97-AF65-F5344CB8AC3E}">
        <p14:creationId xmlns:p14="http://schemas.microsoft.com/office/powerpoint/2010/main" val="28876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B777B6-2CFF-D23C-9DBF-4A4F5D5B707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E850B8F0-8322-4E1A-1CF2-94DBAB41D7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1B85B957-04C6-AB39-E145-FB19BFF4D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CC03A97C-4776-4DB3-7AD7-96D2F87FDA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BEF2C2F4-53CB-0082-E01E-799B0FF91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1B43DF10-4020-F7D8-0203-9AD0965EC1B5}"/>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4.0 Data Preparation (Outlier)</a:t>
            </a:r>
          </a:p>
        </p:txBody>
      </p:sp>
      <p:sp>
        <p:nvSpPr>
          <p:cNvPr id="3" name="Content Placeholder 2">
            <a:extLst>
              <a:ext uri="{FF2B5EF4-FFF2-40B4-BE49-F238E27FC236}">
                <a16:creationId xmlns:a16="http://schemas.microsoft.com/office/drawing/2014/main" id="{77DD704E-D74D-8C22-ED0D-CE625008D578}"/>
              </a:ext>
            </a:extLst>
          </p:cNvPr>
          <p:cNvSpPr>
            <a:spLocks noGrp="1"/>
          </p:cNvSpPr>
          <p:nvPr>
            <p:ph idx="1"/>
          </p:nvPr>
        </p:nvSpPr>
        <p:spPr>
          <a:xfrm>
            <a:off x="657225" y="2308124"/>
            <a:ext cx="7855249" cy="3673576"/>
          </a:xfrm>
        </p:spPr>
        <p:txBody>
          <a:bodyPr vert="horz" lIns="91440" tIns="45720" rIns="91440" bIns="45720" rtlCol="0" anchor="t">
            <a:normAutofit/>
          </a:bodyPr>
          <a:lstStyle/>
          <a:p>
            <a:pPr marL="0" indent="0">
              <a:buNone/>
            </a:pPr>
            <a:r>
              <a:rPr lang="en-US" sz="1700">
                <a:ea typeface="Calibri"/>
                <a:cs typeface="Calibri"/>
              </a:rPr>
              <a:t>Outlier in Bicycle Theft Analysis</a:t>
            </a:r>
          </a:p>
          <a:p>
            <a:r>
              <a:rPr lang="en-US" sz="1700">
                <a:ea typeface="+mn-lt"/>
                <a:cs typeface="+mn-lt"/>
              </a:rPr>
              <a:t>Outlier detection is a crucial step in the data analysis process to identify unusual bicycle theft patterns in Toronto.</a:t>
            </a:r>
          </a:p>
          <a:p>
            <a:r>
              <a:rPr lang="en-US" sz="1700">
                <a:ea typeface="+mn-lt"/>
                <a:cs typeface="+mn-lt"/>
              </a:rPr>
              <a:t>The goal is to spot unusually high or low bicycle theft cases (based on bike cost, location, and time) that don’t follow normal patterns, helping to find risky hotspots or suspicious thefts. </a:t>
            </a:r>
          </a:p>
          <a:p>
            <a:r>
              <a:rPr lang="en-US" sz="1700">
                <a:ea typeface="+mn-lt"/>
                <a:cs typeface="+mn-lt"/>
              </a:rPr>
              <a:t>Imagine we’re tracking bikes in a city, and we find: One bike cost $120,000 while most cost $0–$1,000. It was stolen from a Commercial area. In a division where usually, no thefts happen.</a:t>
            </a:r>
          </a:p>
          <a:p>
            <a:endParaRPr lang="en-US" sz="1700">
              <a:ea typeface="Calibri"/>
              <a:cs typeface="Calibri"/>
            </a:endParaRPr>
          </a:p>
        </p:txBody>
      </p:sp>
    </p:spTree>
    <p:extLst>
      <p:ext uri="{BB962C8B-B14F-4D97-AF65-F5344CB8AC3E}">
        <p14:creationId xmlns:p14="http://schemas.microsoft.com/office/powerpoint/2010/main" val="21966811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929162-CA6E-DC73-9CCB-F2F801C74B53}"/>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C941D7F-B906-DB14-01CB-328E389382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EFE175B4-A43E-B74C-38D6-6B3B6A320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5459CDF-7B15-7C1E-8708-519F83A1DE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1F655DC5-2D40-370D-9C46-68C7698646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5F36C4DC-91FE-1538-3AC3-9E1A9EDA2C2D}"/>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Selected (Outlier)</a:t>
            </a:r>
          </a:p>
        </p:txBody>
      </p:sp>
      <p:graphicFrame>
        <p:nvGraphicFramePr>
          <p:cNvPr id="5" name="Table 4">
            <a:extLst>
              <a:ext uri="{FF2B5EF4-FFF2-40B4-BE49-F238E27FC236}">
                <a16:creationId xmlns:a16="http://schemas.microsoft.com/office/drawing/2014/main" id="{93560301-1550-2E44-0746-E3CD874B2B82}"/>
              </a:ext>
            </a:extLst>
          </p:cNvPr>
          <p:cNvGraphicFramePr>
            <a:graphicFrameLocks noGrp="1"/>
          </p:cNvGraphicFramePr>
          <p:nvPr>
            <p:extLst>
              <p:ext uri="{D42A27DB-BD31-4B8C-83A1-F6EECF244321}">
                <p14:modId xmlns:p14="http://schemas.microsoft.com/office/powerpoint/2010/main" val="969755523"/>
              </p:ext>
            </p:extLst>
          </p:nvPr>
        </p:nvGraphicFramePr>
        <p:xfrm>
          <a:off x="657226" y="2164350"/>
          <a:ext cx="7764200" cy="4151710"/>
        </p:xfrm>
        <a:graphic>
          <a:graphicData uri="http://schemas.openxmlformats.org/drawingml/2006/table">
            <a:tbl>
              <a:tblPr firstRow="1" bandRow="1">
                <a:tableStyleId>{5C22544A-7EE6-4342-B048-85BDC9FD1C3A}</a:tableStyleId>
              </a:tblPr>
              <a:tblGrid>
                <a:gridCol w="2252698">
                  <a:extLst>
                    <a:ext uri="{9D8B030D-6E8A-4147-A177-3AD203B41FA5}">
                      <a16:colId xmlns:a16="http://schemas.microsoft.com/office/drawing/2014/main" val="4012305098"/>
                    </a:ext>
                  </a:extLst>
                </a:gridCol>
                <a:gridCol w="2817098">
                  <a:extLst>
                    <a:ext uri="{9D8B030D-6E8A-4147-A177-3AD203B41FA5}">
                      <a16:colId xmlns:a16="http://schemas.microsoft.com/office/drawing/2014/main" val="4053218497"/>
                    </a:ext>
                  </a:extLst>
                </a:gridCol>
                <a:gridCol w="2694404">
                  <a:extLst>
                    <a:ext uri="{9D8B030D-6E8A-4147-A177-3AD203B41FA5}">
                      <a16:colId xmlns:a16="http://schemas.microsoft.com/office/drawing/2014/main" val="910517411"/>
                    </a:ext>
                  </a:extLst>
                </a:gridCol>
              </a:tblGrid>
              <a:tr h="327202">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Relevance</a:t>
                      </a:r>
                    </a:p>
                  </a:txBody>
                  <a:tcPr marL="74364" marR="74364" marT="37182" marB="37182"/>
                </a:tc>
                <a:extLst>
                  <a:ext uri="{0D108BD9-81ED-4DB2-BD59-A6C34878D82A}">
                    <a16:rowId xmlns:a16="http://schemas.microsoft.com/office/drawing/2014/main" val="2819037219"/>
                  </a:ext>
                </a:extLst>
              </a:tr>
              <a:tr h="371820">
                <a:tc>
                  <a:txBody>
                    <a:bodyPr/>
                    <a:lstStyle/>
                    <a:p>
                      <a:pPr lvl="0">
                        <a:buNone/>
                      </a:pPr>
                      <a:r>
                        <a:rPr lang="en-US" sz="1200" b="0" i="0" u="none" strike="noStrike" noProof="0">
                          <a:solidFill>
                            <a:srgbClr val="000000"/>
                          </a:solidFill>
                          <a:latin typeface="Times New Roman"/>
                        </a:rPr>
                        <a:t>OCC_MONTH</a:t>
                      </a:r>
                      <a:endParaRPr lang="en-US"/>
                    </a:p>
                  </a:txBody>
                  <a:tcPr marL="74364" marR="74364" marT="37182" marB="37182"/>
                </a:tc>
                <a:tc>
                  <a:txBody>
                    <a:bodyPr/>
                    <a:lstStyle/>
                    <a:p>
                      <a:pPr lvl="0">
                        <a:buNone/>
                      </a:pPr>
                      <a:r>
                        <a:rPr lang="en-US" sz="1200" b="0" i="0" u="none" strike="noStrike" noProof="0">
                          <a:solidFill>
                            <a:srgbClr val="000000"/>
                          </a:solidFill>
                          <a:latin typeface="Times New Roman"/>
                        </a:rPr>
                        <a:t>Month-level seasonality; not selected in final model</a:t>
                      </a:r>
                      <a:endParaRPr lang="en-US"/>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426409075"/>
                  </a:ext>
                </a:extLst>
              </a:tr>
              <a:tr h="371820">
                <a:tc>
                  <a:txBody>
                    <a:bodyPr/>
                    <a:lstStyle/>
                    <a:p>
                      <a:pPr lvl="0">
                        <a:buNone/>
                      </a:pPr>
                      <a:r>
                        <a:rPr lang="en-US" sz="1200" b="0" i="0" u="none" strike="noStrike" noProof="0">
                          <a:solidFill>
                            <a:srgbClr val="000000"/>
                          </a:solidFill>
                          <a:latin typeface="Times New Roman"/>
                        </a:rPr>
                        <a:t>OCC_DAY</a:t>
                      </a:r>
                      <a:endParaRPr lang="en-US"/>
                    </a:p>
                  </a:txBody>
                  <a:tcPr marL="74364" marR="74364" marT="37182" marB="37182"/>
                </a:tc>
                <a:tc>
                  <a:txBody>
                    <a:bodyPr/>
                    <a:lstStyle/>
                    <a:p>
                      <a:pPr lvl="0">
                        <a:buNone/>
                      </a:pPr>
                      <a:r>
                        <a:rPr lang="en-US" sz="1200" b="0" i="0" u="none" strike="noStrike" noProof="0">
                          <a:solidFill>
                            <a:srgbClr val="000000"/>
                          </a:solidFill>
                          <a:latin typeface="Times New Roman"/>
                        </a:rPr>
                        <a:t>Day of the month; used to find theft patterns.</a:t>
                      </a:r>
                      <a:endParaRPr lang="en-US"/>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891385519"/>
                  </a:ext>
                </a:extLst>
              </a:tr>
              <a:tr h="371820">
                <a:tc>
                  <a:txBody>
                    <a:bodyPr/>
                    <a:lstStyle/>
                    <a:p>
                      <a:pPr lvl="0">
                        <a:buNone/>
                      </a:pPr>
                      <a:r>
                        <a:rPr lang="en-US" sz="1200" b="0" i="0" u="none" strike="noStrike" noProof="0">
                          <a:solidFill>
                            <a:srgbClr val="000000"/>
                          </a:solidFill>
                          <a:latin typeface="Times New Roman"/>
                        </a:rPr>
                        <a:t>OCC_HOUR</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Hour of the day; detects peak theft timing.</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296954587"/>
                  </a:ext>
                </a:extLst>
              </a:tr>
              <a:tr h="371820">
                <a:tc>
                  <a:txBody>
                    <a:bodyPr/>
                    <a:lstStyle/>
                    <a:p>
                      <a:pPr lvl="0">
                        <a:buNone/>
                      </a:pPr>
                      <a:r>
                        <a:rPr lang="en-US" sz="1200" b="0" i="0" u="none" strike="noStrike" noProof="0">
                          <a:solidFill>
                            <a:srgbClr val="000000"/>
                          </a:solidFill>
                          <a:latin typeface="Times New Roman"/>
                        </a:rPr>
                        <a:t>DIVISION</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Used to indicate general location; not in model.</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118010167"/>
                  </a:ext>
                </a:extLst>
              </a:tr>
              <a:tr h="371820">
                <a:tc>
                  <a:txBody>
                    <a:bodyPr/>
                    <a:lstStyle/>
                    <a:p>
                      <a:pPr lvl="0">
                        <a:buNone/>
                      </a:pPr>
                      <a:r>
                        <a:rPr lang="en-US" sz="1200" b="0" i="0" u="none" strike="noStrike" noProof="0">
                          <a:solidFill>
                            <a:srgbClr val="000000"/>
                          </a:solidFill>
                          <a:latin typeface="Times New Roman"/>
                        </a:rPr>
                        <a:t>LOCATION_TYPE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Redundant due to presence of “PREMISES_TYPE”.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644363679"/>
                  </a:ext>
                </a:extLst>
              </a:tr>
              <a:tr h="371820">
                <a:tc>
                  <a:txBody>
                    <a:bodyPr/>
                    <a:lstStyle/>
                    <a:p>
                      <a:pPr lvl="0">
                        <a:buNone/>
                      </a:pPr>
                      <a:r>
                        <a:rPr lang="en-US" sz="1200" b="0" i="0" u="none" strike="noStrike" noProof="0">
                          <a:solidFill>
                            <a:srgbClr val="000000"/>
                          </a:solidFill>
                          <a:latin typeface="Times New Roman"/>
                        </a:rPr>
                        <a:t>PREMISES_TYPE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Where the theft happened, can help in analysis.</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809767358"/>
                  </a:ext>
                </a:extLst>
              </a:tr>
              <a:tr h="371820">
                <a:tc>
                  <a:txBody>
                    <a:bodyPr/>
                    <a:lstStyle/>
                    <a:p>
                      <a:pPr lvl="0">
                        <a:buNone/>
                      </a:pPr>
                      <a:r>
                        <a:rPr lang="en-US" sz="1200" b="0" i="0" u="none" strike="noStrike" noProof="0">
                          <a:solidFill>
                            <a:srgbClr val="000000"/>
                          </a:solidFill>
                          <a:latin typeface="Times New Roman"/>
                        </a:rPr>
                        <a:t>BIKE_SPEED</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Numeric speed indicator of stolen bike.</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1971785325"/>
                  </a:ext>
                </a:extLst>
              </a:tr>
              <a:tr h="371820">
                <a:tc>
                  <a:txBody>
                    <a:bodyPr/>
                    <a:lstStyle/>
                    <a:p>
                      <a:pPr lvl="0">
                        <a:buNone/>
                      </a:pPr>
                      <a:r>
                        <a:rPr lang="en-US" sz="1200" b="0" i="0" u="none" strike="noStrike" noProof="0">
                          <a:solidFill>
                            <a:srgbClr val="000000"/>
                          </a:solidFill>
                          <a:latin typeface="Times New Roman"/>
                        </a:rPr>
                        <a:t>BIKE_COST</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Original cost of the bike; included directly in model.</a:t>
                      </a:r>
                      <a:endParaRPr lang="en-US"/>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3027984104"/>
                  </a:ext>
                </a:extLst>
              </a:tr>
              <a:tr h="371820">
                <a:tc>
                  <a:txBody>
                    <a:bodyPr/>
                    <a:lstStyle/>
                    <a:p>
                      <a:pPr lvl="0">
                        <a:buNone/>
                      </a:pPr>
                      <a:r>
                        <a:rPr lang="en-US" sz="1200" b="0" i="0" u="none" strike="noStrike" noProof="0">
                          <a:solidFill>
                            <a:srgbClr val="000000"/>
                          </a:solidFill>
                          <a:latin typeface="Times New Roman"/>
                        </a:rPr>
                        <a:t>LONG_WGS84</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Longitude coordinate; used in outlier model.</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3397411999"/>
                  </a:ext>
                </a:extLst>
              </a:tr>
            </a:tbl>
          </a:graphicData>
        </a:graphic>
      </p:graphicFrame>
      <p:sp>
        <p:nvSpPr>
          <p:cNvPr id="3" name="Content Placeholder 2">
            <a:extLst>
              <a:ext uri="{FF2B5EF4-FFF2-40B4-BE49-F238E27FC236}">
                <a16:creationId xmlns:a16="http://schemas.microsoft.com/office/drawing/2014/main" id="{A6F8FD21-DB89-63C1-80D0-19FAB2A65182}"/>
              </a:ext>
            </a:extLst>
          </p:cNvPr>
          <p:cNvSpPr>
            <a:spLocks noGrp="1"/>
          </p:cNvSpPr>
          <p:nvPr>
            <p:ph idx="1"/>
          </p:nvPr>
        </p:nvSpPr>
        <p:spPr>
          <a:xfrm>
            <a:off x="704334" y="1610743"/>
            <a:ext cx="7764200" cy="563951"/>
          </a:xfrm>
        </p:spPr>
        <p:txBody>
          <a:bodyPr vert="horz" lIns="91440" tIns="45720" rIns="91440" bIns="45720" rtlCol="0" anchor="t">
            <a:normAutofit/>
          </a:bodyPr>
          <a:lstStyle/>
          <a:p>
            <a:pPr marL="0" indent="0">
              <a:buNone/>
            </a:pPr>
            <a:r>
              <a:rPr lang="en-CA" sz="1700"/>
              <a:t>The Relevant Rata selected for the Outlier:</a:t>
            </a:r>
            <a:endParaRPr lang="en-US"/>
          </a:p>
          <a:p>
            <a:pPr marL="0" indent="0">
              <a:buNone/>
            </a:pPr>
            <a:endParaRPr lang="en-CA" sz="1700"/>
          </a:p>
          <a:p>
            <a:pPr marL="0" indent="0">
              <a:buNone/>
            </a:pPr>
            <a:endParaRPr lang="en-CA" sz="1700"/>
          </a:p>
        </p:txBody>
      </p:sp>
    </p:spTree>
    <p:extLst>
      <p:ext uri="{BB962C8B-B14F-4D97-AF65-F5344CB8AC3E}">
        <p14:creationId xmlns:p14="http://schemas.microsoft.com/office/powerpoint/2010/main" val="24087848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49799E-9640-A511-9F1E-43312D50DEA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35127153-825B-F760-5363-AB6C008297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BC78E188-AE29-AC8C-E56F-4651E2B6C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21FA66D-D172-66DA-3221-10471C35ED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EB0C590B-38C2-8D28-22DD-46D86C361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2F7E5BA-7402-411C-D2F3-16EC10515CF9}"/>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Data Constructed (Outlier)</a:t>
            </a:r>
          </a:p>
        </p:txBody>
      </p:sp>
      <p:sp>
        <p:nvSpPr>
          <p:cNvPr id="3" name="Content Placeholder 2">
            <a:extLst>
              <a:ext uri="{FF2B5EF4-FFF2-40B4-BE49-F238E27FC236}">
                <a16:creationId xmlns:a16="http://schemas.microsoft.com/office/drawing/2014/main" id="{EF54E2F9-B071-4FDA-88B8-920B84CE35AC}"/>
              </a:ext>
            </a:extLst>
          </p:cNvPr>
          <p:cNvSpPr>
            <a:spLocks noGrp="1"/>
          </p:cNvSpPr>
          <p:nvPr>
            <p:ph idx="1"/>
          </p:nvPr>
        </p:nvSpPr>
        <p:spPr>
          <a:xfrm>
            <a:off x="704334" y="1610743"/>
            <a:ext cx="7764200" cy="563951"/>
          </a:xfrm>
        </p:spPr>
        <p:txBody>
          <a:bodyPr vert="horz" lIns="91440" tIns="45720" rIns="91440" bIns="45720" rtlCol="0" anchor="t">
            <a:normAutofit/>
          </a:bodyPr>
          <a:lstStyle/>
          <a:p>
            <a:r>
              <a:rPr lang="en-CA" sz="1700"/>
              <a:t>The Relevant Rata selected for the Outlier:</a:t>
            </a:r>
          </a:p>
          <a:p>
            <a:pPr marL="0" indent="0">
              <a:buNone/>
            </a:pPr>
            <a:endParaRPr lang="en-CA" sz="1700"/>
          </a:p>
          <a:p>
            <a:pPr marL="0" indent="0">
              <a:buNone/>
            </a:pPr>
            <a:endParaRPr lang="en-CA" sz="1700"/>
          </a:p>
        </p:txBody>
      </p:sp>
      <p:graphicFrame>
        <p:nvGraphicFramePr>
          <p:cNvPr id="5" name="Table 4">
            <a:extLst>
              <a:ext uri="{FF2B5EF4-FFF2-40B4-BE49-F238E27FC236}">
                <a16:creationId xmlns:a16="http://schemas.microsoft.com/office/drawing/2014/main" id="{053DA29F-B798-6600-23AF-D94299BB29B3}"/>
              </a:ext>
            </a:extLst>
          </p:cNvPr>
          <p:cNvGraphicFramePr>
            <a:graphicFrameLocks noGrp="1"/>
          </p:cNvGraphicFramePr>
          <p:nvPr>
            <p:extLst>
              <p:ext uri="{D42A27DB-BD31-4B8C-83A1-F6EECF244321}">
                <p14:modId xmlns:p14="http://schemas.microsoft.com/office/powerpoint/2010/main" val="2483699587"/>
              </p:ext>
            </p:extLst>
          </p:nvPr>
        </p:nvGraphicFramePr>
        <p:xfrm>
          <a:off x="708026" y="2287804"/>
          <a:ext cx="7764200" cy="699022"/>
        </p:xfrm>
        <a:graphic>
          <a:graphicData uri="http://schemas.openxmlformats.org/drawingml/2006/table">
            <a:tbl>
              <a:tblPr firstRow="1" bandRow="1">
                <a:tableStyleId>{5C22544A-7EE6-4342-B048-85BDC9FD1C3A}</a:tableStyleId>
              </a:tblPr>
              <a:tblGrid>
                <a:gridCol w="2252698">
                  <a:extLst>
                    <a:ext uri="{9D8B030D-6E8A-4147-A177-3AD203B41FA5}">
                      <a16:colId xmlns:a16="http://schemas.microsoft.com/office/drawing/2014/main" val="4012305098"/>
                    </a:ext>
                  </a:extLst>
                </a:gridCol>
                <a:gridCol w="2817098">
                  <a:extLst>
                    <a:ext uri="{9D8B030D-6E8A-4147-A177-3AD203B41FA5}">
                      <a16:colId xmlns:a16="http://schemas.microsoft.com/office/drawing/2014/main" val="4053218497"/>
                    </a:ext>
                  </a:extLst>
                </a:gridCol>
                <a:gridCol w="2694404">
                  <a:extLst>
                    <a:ext uri="{9D8B030D-6E8A-4147-A177-3AD203B41FA5}">
                      <a16:colId xmlns:a16="http://schemas.microsoft.com/office/drawing/2014/main" val="910517411"/>
                    </a:ext>
                  </a:extLst>
                </a:gridCol>
              </a:tblGrid>
              <a:tr h="327202">
                <a:tc>
                  <a:txBody>
                    <a:bodyPr/>
                    <a:lstStyle/>
                    <a:p>
                      <a:r>
                        <a:rPr lang="en-CA" sz="1500"/>
                        <a:t>Attribute</a:t>
                      </a:r>
                    </a:p>
                  </a:txBody>
                  <a:tcPr marL="74364" marR="74364" marT="37182" marB="37182"/>
                </a:tc>
                <a:tc>
                  <a:txBody>
                    <a:bodyPr/>
                    <a:lstStyle/>
                    <a:p>
                      <a:r>
                        <a:rPr lang="en-CA" sz="1500"/>
                        <a:t>Description</a:t>
                      </a:r>
                    </a:p>
                  </a:txBody>
                  <a:tcPr marL="74364" marR="74364" marT="37182" marB="37182"/>
                </a:tc>
                <a:tc>
                  <a:txBody>
                    <a:bodyPr/>
                    <a:lstStyle/>
                    <a:p>
                      <a:r>
                        <a:rPr lang="en-CA" sz="1500"/>
                        <a:t>Source Attribute</a:t>
                      </a:r>
                    </a:p>
                  </a:txBody>
                  <a:tcPr marL="74364" marR="74364" marT="37182" marB="37182"/>
                </a:tc>
                <a:extLst>
                  <a:ext uri="{0D108BD9-81ED-4DB2-BD59-A6C34878D82A}">
                    <a16:rowId xmlns:a16="http://schemas.microsoft.com/office/drawing/2014/main" val="2819037219"/>
                  </a:ext>
                </a:extLst>
              </a:tr>
              <a:tr h="371820">
                <a:tc>
                  <a:txBody>
                    <a:bodyPr/>
                    <a:lstStyle/>
                    <a:p>
                      <a:pPr lvl="0">
                        <a:buNone/>
                      </a:pPr>
                      <a:r>
                        <a:rPr lang="en-US" sz="1200" b="0" i="0" u="none" strike="noStrike" noProof="0">
                          <a:solidFill>
                            <a:srgbClr val="000000"/>
                          </a:solidFill>
                          <a:latin typeface="Times New Roman"/>
                        </a:rPr>
                        <a:t>LAT_WGS84</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Latitude coordinate; used in outlier model.</a:t>
                      </a:r>
                      <a:endParaRPr lang="en-CA" sz="1200" b="0" i="0" u="none" strike="noStrike" noProof="0">
                        <a:solidFill>
                          <a:srgbClr val="000000"/>
                        </a:solidFill>
                        <a:latin typeface="Times New Roman"/>
                      </a:endParaRPr>
                    </a:p>
                  </a:txBody>
                  <a:tcPr marL="74364" marR="74364" marT="37182" marB="37182"/>
                </a:tc>
                <a:tc>
                  <a:txBody>
                    <a:bodyPr/>
                    <a:lstStyle/>
                    <a:p>
                      <a:pPr lvl="0">
                        <a:buNone/>
                      </a:pPr>
                      <a:r>
                        <a:rPr lang="en-US" sz="1200" b="0" i="0" u="none" strike="noStrike" noProof="0">
                          <a:solidFill>
                            <a:srgbClr val="000000"/>
                          </a:solidFill>
                          <a:latin typeface="Times New Roman"/>
                        </a:rPr>
                        <a:t>Relevant</a:t>
                      </a:r>
                      <a:endParaRPr lang="en-CA" sz="1200" b="0" i="0" u="none" strike="noStrike" noProof="0">
                        <a:solidFill>
                          <a:srgbClr val="000000"/>
                        </a:solidFill>
                        <a:latin typeface="Times New Roman"/>
                      </a:endParaRPr>
                    </a:p>
                  </a:txBody>
                  <a:tcPr marL="74364" marR="74364" marT="37182" marB="37182"/>
                </a:tc>
                <a:extLst>
                  <a:ext uri="{0D108BD9-81ED-4DB2-BD59-A6C34878D82A}">
                    <a16:rowId xmlns:a16="http://schemas.microsoft.com/office/drawing/2014/main" val="2426409075"/>
                  </a:ext>
                </a:extLst>
              </a:tr>
            </a:tbl>
          </a:graphicData>
        </a:graphic>
      </p:graphicFrame>
    </p:spTree>
    <p:extLst>
      <p:ext uri="{BB962C8B-B14F-4D97-AF65-F5344CB8AC3E}">
        <p14:creationId xmlns:p14="http://schemas.microsoft.com/office/powerpoint/2010/main" val="22099224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ED45A4-D742-3E45-C887-F249C5D05B19}"/>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C80A644-D325-D6C4-F0FF-A35E931A3E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5BFDFF56-2611-42A0-BA4F-BBCF97C77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0066768C-1412-F15A-6CC8-D3C67A889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D6631A14-0366-7048-545D-63B8E76D8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2A54A592-A1E5-03AC-953E-10434A60EE03}"/>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mj-lt"/>
                <a:cs typeface="+mj-lt"/>
              </a:rPr>
              <a:t>Clean, Construct</a:t>
            </a:r>
            <a:r>
              <a:rPr lang="en-CA" sz="2800">
                <a:solidFill>
                  <a:srgbClr val="FFFFFF"/>
                </a:solidFill>
              </a:rPr>
              <a:t>, </a:t>
            </a:r>
            <a:r>
              <a:rPr lang="en-CA" sz="2800">
                <a:solidFill>
                  <a:srgbClr val="FFFFFF"/>
                </a:solidFill>
                <a:ea typeface="+mj-lt"/>
                <a:cs typeface="+mj-lt"/>
              </a:rPr>
              <a:t>and Integrate</a:t>
            </a:r>
            <a:r>
              <a:rPr lang="en-CA" sz="2800">
                <a:solidFill>
                  <a:srgbClr val="FFFFFF"/>
                </a:solidFill>
              </a:rPr>
              <a:t> Data For Outlier</a:t>
            </a:r>
            <a:endParaRPr lang="en-US"/>
          </a:p>
        </p:txBody>
      </p:sp>
      <p:sp>
        <p:nvSpPr>
          <p:cNvPr id="3" name="Content Placeholder 2">
            <a:extLst>
              <a:ext uri="{FF2B5EF4-FFF2-40B4-BE49-F238E27FC236}">
                <a16:creationId xmlns:a16="http://schemas.microsoft.com/office/drawing/2014/main" id="{00DDEDC6-9E6F-CA2D-DF2A-8890A3D7C45D}"/>
              </a:ext>
            </a:extLst>
          </p:cNvPr>
          <p:cNvSpPr>
            <a:spLocks noGrp="1"/>
          </p:cNvSpPr>
          <p:nvPr>
            <p:ph idx="1"/>
          </p:nvPr>
        </p:nvSpPr>
        <p:spPr>
          <a:xfrm>
            <a:off x="663694" y="1610743"/>
            <a:ext cx="8079160" cy="4942911"/>
          </a:xfrm>
        </p:spPr>
        <p:txBody>
          <a:bodyPr vert="horz" lIns="91440" tIns="45720" rIns="91440" bIns="45720" rtlCol="0" anchor="t">
            <a:normAutofit/>
          </a:bodyPr>
          <a:lstStyle/>
          <a:p>
            <a:r>
              <a:rPr lang="en-CA" sz="2000">
                <a:ea typeface="+mn-lt"/>
                <a:cs typeface="+mn-lt"/>
              </a:rPr>
              <a:t>Clean Data</a:t>
            </a:r>
            <a:r>
              <a:rPr lang="en-CA" sz="2000">
                <a:ea typeface="Calibri"/>
                <a:cs typeface="Calibri"/>
              </a:rPr>
              <a:t>:</a:t>
            </a:r>
          </a:p>
          <a:p>
            <a:pPr lvl="1"/>
            <a:r>
              <a:rPr lang="en-CA" sz="1600">
                <a:ea typeface="+mn-lt"/>
                <a:cs typeface="+mn-lt"/>
              </a:rPr>
              <a:t>Missing data in all attributes was handled by assigning "UNKNOWN” values. </a:t>
            </a:r>
            <a:endParaRPr lang="en-CA" sz="1600">
              <a:ea typeface="Calibri"/>
              <a:cs typeface="Calibri"/>
            </a:endParaRPr>
          </a:p>
          <a:p>
            <a:pPr lvl="1"/>
            <a:r>
              <a:rPr lang="en-CA" sz="1600">
                <a:ea typeface="+mn-lt"/>
                <a:cs typeface="+mn-lt"/>
              </a:rPr>
              <a:t>Duplicate records were removed from the dataset. </a:t>
            </a:r>
            <a:endParaRPr lang="en-CA" sz="1600">
              <a:ea typeface="Calibri"/>
              <a:cs typeface="Calibri"/>
            </a:endParaRPr>
          </a:p>
          <a:p>
            <a:pPr lvl="1"/>
            <a:r>
              <a:rPr lang="en-CA" sz="1600">
                <a:ea typeface="+mn-lt"/>
                <a:cs typeface="+mn-lt"/>
              </a:rPr>
              <a:t>A check was done for any value issues, ensuing data consistency. </a:t>
            </a:r>
          </a:p>
          <a:p>
            <a:r>
              <a:rPr lang="en-CA" sz="2000">
                <a:solidFill>
                  <a:srgbClr val="000000"/>
                </a:solidFill>
                <a:ea typeface="+mn-lt"/>
                <a:cs typeface="+mn-lt"/>
              </a:rPr>
              <a:t>Construct Data:</a:t>
            </a:r>
          </a:p>
          <a:p>
            <a:pPr lvl="1"/>
            <a:r>
              <a:rPr lang="en-CA" sz="1600">
                <a:solidFill>
                  <a:srgbClr val="000000"/>
                </a:solidFill>
                <a:ea typeface="+mn-lt"/>
                <a:cs typeface="+mn-lt"/>
              </a:rPr>
              <a:t>There was no requirement to derive any new attributes from the existing columns. </a:t>
            </a:r>
          </a:p>
          <a:p>
            <a:r>
              <a:rPr lang="en-CA" sz="2000">
                <a:solidFill>
                  <a:srgbClr val="000000"/>
                </a:solidFill>
                <a:ea typeface="+mn-lt"/>
                <a:cs typeface="+mn-lt"/>
              </a:rPr>
              <a:t>Integrate Data:</a:t>
            </a:r>
          </a:p>
          <a:p>
            <a:pPr lvl="1"/>
            <a:r>
              <a:rPr lang="en-CA" sz="1600">
                <a:solidFill>
                  <a:srgbClr val="000000"/>
                </a:solidFill>
                <a:ea typeface="+mn-lt"/>
                <a:cs typeface="+mn-lt"/>
              </a:rPr>
              <a:t>No integration data. </a:t>
            </a:r>
          </a:p>
          <a:p>
            <a:pPr marL="457200" lvl="1" indent="0">
              <a:buNone/>
            </a:pPr>
            <a:endParaRPr lang="en-CA" sz="1600">
              <a:solidFill>
                <a:srgbClr val="000000"/>
              </a:solidFill>
              <a:latin typeface="Calibri"/>
              <a:ea typeface="+mn-lt"/>
              <a:cs typeface="Calibri"/>
            </a:endParaRPr>
          </a:p>
        </p:txBody>
      </p:sp>
    </p:spTree>
    <p:extLst>
      <p:ext uri="{BB962C8B-B14F-4D97-AF65-F5344CB8AC3E}">
        <p14:creationId xmlns:p14="http://schemas.microsoft.com/office/powerpoint/2010/main" val="7017902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BC658-F329-B8CA-4942-5CE59C5D635F}"/>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AED4806-1353-D218-5F10-A81D4BD29D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1" name="Rectangle 10">
              <a:extLst>
                <a:ext uri="{FF2B5EF4-FFF2-40B4-BE49-F238E27FC236}">
                  <a16:creationId xmlns:a16="http://schemas.microsoft.com/office/drawing/2014/main" id="{EBDE593D-15E3-4347-5A7E-964696DAA1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4E34FF7E-2359-69CE-82B5-A2883C127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B5622AB0-6F48-8D4B-81CF-57F74551E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2CD16164-C725-1924-97E2-AFE1B8F5064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mj-lt"/>
                <a:cs typeface="+mj-lt"/>
              </a:rPr>
              <a:t>Format</a:t>
            </a:r>
            <a:r>
              <a:rPr lang="en-CA" sz="2800">
                <a:solidFill>
                  <a:srgbClr val="FFFFFF"/>
                </a:solidFill>
              </a:rPr>
              <a:t> Data For Outlier</a:t>
            </a:r>
            <a:endParaRPr lang="en-US">
              <a:ea typeface="Calibri"/>
              <a:cs typeface="Calibri"/>
            </a:endParaRPr>
          </a:p>
        </p:txBody>
      </p:sp>
      <p:sp>
        <p:nvSpPr>
          <p:cNvPr id="3" name="Content Placeholder 2">
            <a:extLst>
              <a:ext uri="{FF2B5EF4-FFF2-40B4-BE49-F238E27FC236}">
                <a16:creationId xmlns:a16="http://schemas.microsoft.com/office/drawing/2014/main" id="{D96DA670-4836-1332-56DA-1875E20C96CC}"/>
              </a:ext>
            </a:extLst>
          </p:cNvPr>
          <p:cNvSpPr>
            <a:spLocks noGrp="1"/>
          </p:cNvSpPr>
          <p:nvPr>
            <p:ph idx="1"/>
          </p:nvPr>
        </p:nvSpPr>
        <p:spPr>
          <a:xfrm>
            <a:off x="663694" y="1610743"/>
            <a:ext cx="8079160" cy="4942911"/>
          </a:xfrm>
        </p:spPr>
        <p:txBody>
          <a:bodyPr vert="horz" lIns="91440" tIns="45720" rIns="91440" bIns="45720" rtlCol="0" anchor="t">
            <a:normAutofit/>
          </a:bodyPr>
          <a:lstStyle/>
          <a:p>
            <a:r>
              <a:rPr lang="en-CA" sz="2000">
                <a:ea typeface="+mn-lt"/>
                <a:cs typeface="+mn-lt"/>
              </a:rPr>
              <a:t>Set BIKE_COST_CLASS attribute as Regular, and EVENT_UNIQUE_ID attribute was assigned accordingly. </a:t>
            </a:r>
            <a:endParaRPr lang="en-US" sz="2000">
              <a:ea typeface="+mn-lt"/>
              <a:cs typeface="+mn-lt"/>
            </a:endParaRPr>
          </a:p>
          <a:p>
            <a:r>
              <a:rPr lang="en-CA" sz="2000">
                <a:ea typeface="+mn-lt"/>
                <a:cs typeface="+mn-lt"/>
              </a:rPr>
              <a:t>Select relevant attributes for analysis: </a:t>
            </a:r>
            <a:r>
              <a:rPr lang="en-CA" sz="1600">
                <a:ea typeface="+mn-lt"/>
                <a:cs typeface="+mn-lt"/>
              </a:rPr>
              <a:t>BIKE_COST, BIKE_SPEED, DIVISION, LAT_WGS84, LOCATION_TYPE, LONG_WGS84, OCC_DAY, OCC_HOUR, OCC_MONTH, and PREMISES_TYPE.</a:t>
            </a:r>
            <a:r>
              <a:rPr lang="en-CA" sz="2000">
                <a:ea typeface="+mn-lt"/>
                <a:cs typeface="+mn-lt"/>
              </a:rPr>
              <a:t>  </a:t>
            </a:r>
          </a:p>
          <a:p>
            <a:r>
              <a:rPr lang="en-CA" sz="2000">
                <a:ea typeface="+mn-lt"/>
                <a:cs typeface="+mn-lt"/>
              </a:rPr>
              <a:t>Normalization: </a:t>
            </a:r>
            <a:r>
              <a:rPr lang="en-CA" sz="1600">
                <a:ea typeface="+mn-lt"/>
                <a:cs typeface="+mn-lt"/>
              </a:rPr>
              <a:t>Applied Z-transformation normalization to numerical attributes: BIKE_COST, BIKE_SPEED, LAT_WGS84, and LONG_WGS84. </a:t>
            </a:r>
          </a:p>
        </p:txBody>
      </p:sp>
    </p:spTree>
    <p:extLst>
      <p:ext uri="{BB962C8B-B14F-4D97-AF65-F5344CB8AC3E}">
        <p14:creationId xmlns:p14="http://schemas.microsoft.com/office/powerpoint/2010/main" val="17892494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5C1C76-EE5B-4113-FB6B-0E97E51F57C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A997044-2E75-2751-3EF3-BEAA15ABD9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129DAAF0-0686-4757-47BD-04EC3940F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C517D19E-AF4A-97D4-774C-681E4804C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7496088D-638C-D50C-3EB2-A804D66C6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13526D51-DFA2-51CE-73CE-B732404BD338}"/>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Modelling (Outlier)</a:t>
            </a:r>
          </a:p>
        </p:txBody>
      </p:sp>
      <p:sp>
        <p:nvSpPr>
          <p:cNvPr id="3" name="Content Placeholder 2">
            <a:extLst>
              <a:ext uri="{FF2B5EF4-FFF2-40B4-BE49-F238E27FC236}">
                <a16:creationId xmlns:a16="http://schemas.microsoft.com/office/drawing/2014/main" id="{84C7F170-2C6A-6392-A119-024E56D487AE}"/>
              </a:ext>
            </a:extLst>
          </p:cNvPr>
          <p:cNvSpPr>
            <a:spLocks noGrp="1"/>
          </p:cNvSpPr>
          <p:nvPr>
            <p:ph idx="1"/>
          </p:nvPr>
        </p:nvSpPr>
        <p:spPr>
          <a:xfrm>
            <a:off x="1104265" y="2287804"/>
            <a:ext cx="6966321" cy="3714216"/>
          </a:xfrm>
        </p:spPr>
        <p:txBody>
          <a:bodyPr vert="horz" lIns="91440" tIns="45720" rIns="91440" bIns="45720" rtlCol="0" anchor="t">
            <a:normAutofit/>
          </a:bodyPr>
          <a:lstStyle/>
          <a:p>
            <a:r>
              <a:rPr lang="en-US" sz="1700">
                <a:ea typeface="+mn-lt"/>
                <a:cs typeface="+mn-lt"/>
              </a:rPr>
              <a:t>Unsupervised outlier detection algorithms:</a:t>
            </a:r>
          </a:p>
          <a:p>
            <a:pPr lvl="1"/>
            <a:r>
              <a:rPr lang="en-US" sz="1600">
                <a:ea typeface="Calibri"/>
                <a:cs typeface="Calibri"/>
              </a:rPr>
              <a:t>Local Outlier Factor: </a:t>
            </a:r>
            <a:r>
              <a:rPr lang="en-US" sz="1600">
                <a:ea typeface="+mn-lt"/>
                <a:cs typeface="+mn-lt"/>
              </a:rPr>
              <a:t>Detects local anomalies by comparing a point’s density to nearby points.</a:t>
            </a:r>
          </a:p>
          <a:p>
            <a:pPr lvl="1"/>
            <a:r>
              <a:rPr lang="en-US" sz="1600">
                <a:ea typeface="Calibri"/>
                <a:cs typeface="Calibri"/>
              </a:rPr>
              <a:t>Isolation Forest: </a:t>
            </a:r>
            <a:r>
              <a:rPr lang="en-US" sz="1600">
                <a:ea typeface="+mn-lt"/>
                <a:cs typeface="+mn-lt"/>
              </a:rPr>
              <a:t>Detects outliers by isolating data points using random trees—outliers are easier to isolate.</a:t>
            </a:r>
          </a:p>
          <a:p>
            <a:r>
              <a:rPr lang="en-US" sz="1700">
                <a:ea typeface="Calibri"/>
                <a:cs typeface="Calibri"/>
              </a:rPr>
              <a:t>Use Case: </a:t>
            </a:r>
          </a:p>
          <a:p>
            <a:pPr lvl="1"/>
            <a:r>
              <a:rPr lang="en-US" sz="1300">
                <a:ea typeface="Calibri"/>
                <a:cs typeface="Calibri"/>
              </a:rPr>
              <a:t>Identifies theft trends such as Bike cost, Bike speed, and location.</a:t>
            </a:r>
          </a:p>
          <a:p>
            <a:pPr lvl="1"/>
            <a:endParaRPr lang="en-US" sz="1300">
              <a:ea typeface="Calibri"/>
              <a:cs typeface="Calibri"/>
            </a:endParaRPr>
          </a:p>
        </p:txBody>
      </p:sp>
    </p:spTree>
    <p:extLst>
      <p:ext uri="{BB962C8B-B14F-4D97-AF65-F5344CB8AC3E}">
        <p14:creationId xmlns:p14="http://schemas.microsoft.com/office/powerpoint/2010/main" val="15161190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430464-9D91-4849-80C6-1605A8581A0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3EFBA98-8A46-B6A7-3E97-35F6610B6A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63F454C0-02CA-1773-2C6F-7CB05583F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6280C8FC-5B6D-27BF-C50E-B12F8663CB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D38DAA74-2A8C-8ECB-6CAE-A7419D26A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3C34E89F-E285-4ADA-471F-7B17C04FDE9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Generate Test Design For Outlier</a:t>
            </a:r>
          </a:p>
        </p:txBody>
      </p:sp>
      <p:sp>
        <p:nvSpPr>
          <p:cNvPr id="3" name="Content Placeholder 2">
            <a:extLst>
              <a:ext uri="{FF2B5EF4-FFF2-40B4-BE49-F238E27FC236}">
                <a16:creationId xmlns:a16="http://schemas.microsoft.com/office/drawing/2014/main" id="{C9A5860C-1E05-6A93-1A07-50015CB857C9}"/>
              </a:ext>
            </a:extLst>
          </p:cNvPr>
          <p:cNvSpPr>
            <a:spLocks noGrp="1"/>
          </p:cNvSpPr>
          <p:nvPr>
            <p:ph idx="1"/>
          </p:nvPr>
        </p:nvSpPr>
        <p:spPr>
          <a:xfrm>
            <a:off x="287047" y="1713543"/>
            <a:ext cx="8578668" cy="4851694"/>
          </a:xfrm>
        </p:spPr>
        <p:txBody>
          <a:bodyPr vert="horz" lIns="91440" tIns="45720" rIns="91440" bIns="45720" rtlCol="0" anchor="t">
            <a:normAutofit/>
          </a:bodyPr>
          <a:lstStyle/>
          <a:p>
            <a:r>
              <a:rPr lang="en-US" sz="1700">
                <a:ea typeface="Calibri"/>
                <a:cs typeface="Calibri"/>
              </a:rPr>
              <a:t>LOF:</a:t>
            </a:r>
          </a:p>
          <a:p>
            <a:pPr lvl="1"/>
            <a:r>
              <a:rPr lang="en-CA" sz="1600">
                <a:latin typeface="Times New Roman"/>
                <a:ea typeface="Calibri"/>
                <a:cs typeface="Times New Roman"/>
              </a:rPr>
              <a:t>Used Detect Outlier Local Outlier Operator with Mixed Euclidean Distance for identifying anomalies by comparing the Local Density of a data point to its neighbors. Points with significantly lower density that their surroundings are classified as Outliers.</a:t>
            </a:r>
            <a:endParaRPr lang="en-US" sz="1600">
              <a:latin typeface="Times New Roman"/>
              <a:ea typeface="Calibri"/>
              <a:cs typeface="Times New Roman"/>
            </a:endParaRPr>
          </a:p>
          <a:p>
            <a:pPr lvl="1"/>
            <a:r>
              <a:rPr lang="en-CA" sz="1600">
                <a:latin typeface="Times New Roman"/>
                <a:ea typeface="Calibri"/>
                <a:cs typeface="Times New Roman"/>
              </a:rPr>
              <a:t>Generate Outlier Flag used to generate new column </a:t>
            </a:r>
            <a:r>
              <a:rPr lang="en-CA" sz="1600" err="1">
                <a:latin typeface="Times New Roman"/>
                <a:ea typeface="Calibri"/>
                <a:cs typeface="Times New Roman"/>
              </a:rPr>
              <a:t>outlier_flag</a:t>
            </a:r>
            <a:r>
              <a:rPr lang="en-CA" sz="1600">
                <a:latin typeface="Times New Roman"/>
                <a:ea typeface="Calibri"/>
                <a:cs typeface="Times New Roman"/>
              </a:rPr>
              <a:t>, and next to it change the name to </a:t>
            </a:r>
            <a:r>
              <a:rPr lang="en-CA" sz="1600" err="1">
                <a:latin typeface="Times New Roman"/>
                <a:ea typeface="Calibri"/>
                <a:cs typeface="Times New Roman"/>
              </a:rPr>
              <a:t>LOF_Outlier</a:t>
            </a:r>
            <a:r>
              <a:rPr lang="en-CA" sz="1600">
                <a:latin typeface="Times New Roman"/>
                <a:ea typeface="Calibri"/>
                <a:cs typeface="Times New Roman"/>
              </a:rPr>
              <a:t>.</a:t>
            </a:r>
            <a:endParaRPr lang="en-US" sz="1600">
              <a:latin typeface="Times New Roman"/>
              <a:ea typeface="Calibri"/>
              <a:cs typeface="Times New Roman"/>
            </a:endParaRPr>
          </a:p>
          <a:p>
            <a:pPr lvl="1"/>
            <a:r>
              <a:rPr lang="en-CA" sz="1600">
                <a:latin typeface="Times New Roman"/>
                <a:ea typeface="Calibri"/>
                <a:cs typeface="Times New Roman"/>
              </a:rPr>
              <a:t>Filter </a:t>
            </a:r>
            <a:r>
              <a:rPr lang="en-CA" sz="1600" err="1">
                <a:latin typeface="Times New Roman"/>
                <a:ea typeface="Calibri"/>
                <a:cs typeface="Times New Roman"/>
              </a:rPr>
              <a:t>LOF_Outlier</a:t>
            </a:r>
            <a:r>
              <a:rPr lang="en-CA" sz="1600">
                <a:latin typeface="Times New Roman"/>
                <a:ea typeface="Calibri"/>
                <a:cs typeface="Times New Roman"/>
              </a:rPr>
              <a:t> to analysis only </a:t>
            </a:r>
            <a:r>
              <a:rPr lang="en-CA" sz="1600" err="1">
                <a:latin typeface="Times New Roman"/>
                <a:ea typeface="Calibri"/>
                <a:cs typeface="Times New Roman"/>
              </a:rPr>
              <a:t>LOF_Outlier</a:t>
            </a:r>
            <a:r>
              <a:rPr lang="en-CA" sz="1600">
                <a:latin typeface="Times New Roman"/>
                <a:ea typeface="Calibri"/>
                <a:cs typeface="Times New Roman"/>
              </a:rPr>
              <a:t> = Outlier.</a:t>
            </a:r>
            <a:endParaRPr lang="en-US" sz="1600">
              <a:latin typeface="Times New Roman"/>
              <a:ea typeface="Calibri"/>
              <a:cs typeface="Times New Roman"/>
            </a:endParaRPr>
          </a:p>
          <a:p>
            <a:pPr lvl="1"/>
            <a:endParaRPr lang="en-CA" sz="1600">
              <a:latin typeface="Times New Roman"/>
              <a:ea typeface="Calibri"/>
              <a:cs typeface="Times New Roman"/>
            </a:endParaRPr>
          </a:p>
          <a:p>
            <a:pPr marL="457200" lvl="1" indent="0">
              <a:buNone/>
            </a:pPr>
            <a:endParaRPr lang="en-CA" sz="1600">
              <a:latin typeface="Times New Roman"/>
              <a:ea typeface="Calibri"/>
              <a:cs typeface="Times New Roman"/>
            </a:endParaRPr>
          </a:p>
          <a:p>
            <a:r>
              <a:rPr lang="en-US" sz="1700">
                <a:ea typeface="Calibri"/>
                <a:cs typeface="Calibri"/>
              </a:rPr>
              <a:t>ISF: </a:t>
            </a:r>
          </a:p>
          <a:p>
            <a:pPr lvl="1"/>
            <a:r>
              <a:rPr lang="en-CA" sz="1600">
                <a:latin typeface="Times New Roman"/>
                <a:ea typeface="Calibri"/>
                <a:cs typeface="Times New Roman"/>
              </a:rPr>
              <a:t>Used Detect Outlier Isolation Forest for identifying anomalies by randomly participating data points using decision trees; points that get isolated quickly are classified as Outliers.</a:t>
            </a:r>
            <a:endParaRPr lang="en-US" sz="1600">
              <a:latin typeface="Times New Roman"/>
              <a:ea typeface="Calibri"/>
              <a:cs typeface="Times New Roman"/>
            </a:endParaRPr>
          </a:p>
          <a:p>
            <a:pPr lvl="1"/>
            <a:r>
              <a:rPr lang="en-CA" sz="1600">
                <a:latin typeface="Times New Roman"/>
                <a:ea typeface="Calibri"/>
                <a:cs typeface="Times New Roman"/>
              </a:rPr>
              <a:t>From new columns Prediction set it as </a:t>
            </a:r>
            <a:r>
              <a:rPr lang="en-CA" sz="1600" err="1">
                <a:latin typeface="Times New Roman"/>
                <a:ea typeface="Calibri"/>
                <a:cs typeface="Times New Roman"/>
              </a:rPr>
              <a:t>ISF_Outlier</a:t>
            </a:r>
            <a:r>
              <a:rPr lang="en-CA" sz="1600">
                <a:latin typeface="Times New Roman"/>
                <a:ea typeface="Calibri"/>
                <a:cs typeface="Times New Roman"/>
              </a:rPr>
              <a:t> using formula: if (prediction &gt;= 0.60, "Outlier", "Normal").</a:t>
            </a:r>
            <a:endParaRPr lang="en-US" sz="1600">
              <a:latin typeface="Times New Roman"/>
              <a:ea typeface="Calibri"/>
              <a:cs typeface="Times New Roman"/>
            </a:endParaRPr>
          </a:p>
          <a:p>
            <a:pPr lvl="1"/>
            <a:r>
              <a:rPr lang="en-CA" sz="1600">
                <a:latin typeface="Times New Roman"/>
                <a:ea typeface="Calibri"/>
                <a:cs typeface="Times New Roman"/>
              </a:rPr>
              <a:t>Filter only </a:t>
            </a:r>
            <a:r>
              <a:rPr lang="en-CA" sz="1600" err="1">
                <a:latin typeface="Times New Roman"/>
                <a:ea typeface="Calibri"/>
                <a:cs typeface="Times New Roman"/>
              </a:rPr>
              <a:t>ISF_Outlier</a:t>
            </a:r>
            <a:r>
              <a:rPr lang="en-CA" sz="1600">
                <a:latin typeface="Times New Roman"/>
                <a:ea typeface="Calibri"/>
                <a:cs typeface="Times New Roman"/>
              </a:rPr>
              <a:t> as Outlier for analysis.</a:t>
            </a:r>
            <a:endParaRPr lang="en-US" sz="1600">
              <a:latin typeface="Times New Roman"/>
              <a:ea typeface="Calibri"/>
              <a:cs typeface="Times New Roman"/>
            </a:endParaRPr>
          </a:p>
        </p:txBody>
      </p:sp>
    </p:spTree>
    <p:extLst>
      <p:ext uri="{BB962C8B-B14F-4D97-AF65-F5344CB8AC3E}">
        <p14:creationId xmlns:p14="http://schemas.microsoft.com/office/powerpoint/2010/main" val="70812341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A093B0-CAA2-6FA8-E26C-4239C456FEB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FE82BA57-5B15-7755-7B12-84518EE688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E6119EC4-5758-6210-DCB5-004CF80D6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8F9E0FCC-C98D-36E5-6EA7-AA7AA9401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CE5DDAAA-D171-EB35-A245-F81C18255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A360E523-2134-832A-D51F-645FDF0AC2AF}"/>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a:t>
            </a:r>
            <a:r>
              <a:rPr lang="en-CA" sz="2800">
                <a:solidFill>
                  <a:srgbClr val="FFFFFF"/>
                </a:solidFill>
                <a:ea typeface="+mj-lt"/>
                <a:cs typeface="+mj-lt"/>
              </a:rPr>
              <a:t>Build model </a:t>
            </a:r>
            <a:r>
              <a:rPr lang="en-CA" sz="2800">
                <a:solidFill>
                  <a:srgbClr val="FFFFFF"/>
                </a:solidFill>
              </a:rPr>
              <a:t>For Outlier</a:t>
            </a:r>
          </a:p>
        </p:txBody>
      </p:sp>
      <p:sp>
        <p:nvSpPr>
          <p:cNvPr id="3" name="Content Placeholder 2">
            <a:extLst>
              <a:ext uri="{FF2B5EF4-FFF2-40B4-BE49-F238E27FC236}">
                <a16:creationId xmlns:a16="http://schemas.microsoft.com/office/drawing/2014/main" id="{32961788-9E1D-245E-17B4-DFC965F7B084}"/>
              </a:ext>
            </a:extLst>
          </p:cNvPr>
          <p:cNvSpPr>
            <a:spLocks noGrp="1"/>
          </p:cNvSpPr>
          <p:nvPr>
            <p:ph idx="1"/>
          </p:nvPr>
        </p:nvSpPr>
        <p:spPr>
          <a:xfrm>
            <a:off x="287047" y="1713543"/>
            <a:ext cx="8567625" cy="4851694"/>
          </a:xfrm>
        </p:spPr>
        <p:txBody>
          <a:bodyPr vert="horz" lIns="91440" tIns="45720" rIns="91440" bIns="45720" rtlCol="0" anchor="t">
            <a:normAutofit/>
          </a:bodyPr>
          <a:lstStyle/>
          <a:p>
            <a:r>
              <a:rPr lang="en-US" sz="1700" b="1">
                <a:ea typeface="+mn-lt"/>
                <a:cs typeface="+mn-lt"/>
              </a:rPr>
              <a:t>The outlier detection models were built in RapidMiner using process: </a:t>
            </a:r>
          </a:p>
          <a:p>
            <a:r>
              <a:rPr lang="en-US" sz="1700">
                <a:ea typeface="+mn-lt"/>
                <a:cs typeface="+mn-lt"/>
              </a:rPr>
              <a:t>LOF: </a:t>
            </a:r>
          </a:p>
          <a:p>
            <a:pPr lvl="1"/>
            <a:r>
              <a:rPr lang="en-CA" sz="1600">
                <a:latin typeface="Times New Roman"/>
                <a:ea typeface="Calibri"/>
                <a:cs typeface="Times New Roman"/>
              </a:rPr>
              <a:t>LOF Operator: </a:t>
            </a:r>
            <a:r>
              <a:rPr lang="en-CA" sz="1600" err="1">
                <a:latin typeface="Times New Roman"/>
                <a:ea typeface="Calibri"/>
                <a:cs typeface="Times New Roman"/>
              </a:rPr>
              <a:t>kMin</a:t>
            </a:r>
            <a:r>
              <a:rPr lang="en-CA" sz="1600">
                <a:latin typeface="Times New Roman"/>
                <a:ea typeface="Calibri"/>
                <a:cs typeface="Times New Roman"/>
              </a:rPr>
              <a:t>: 10, </a:t>
            </a:r>
            <a:r>
              <a:rPr lang="en-CA" sz="1600" err="1">
                <a:latin typeface="Times New Roman"/>
                <a:ea typeface="Calibri"/>
                <a:cs typeface="Times New Roman"/>
              </a:rPr>
              <a:t>kMax</a:t>
            </a:r>
            <a:r>
              <a:rPr lang="en-CA" sz="1600">
                <a:latin typeface="Times New Roman"/>
                <a:ea typeface="Calibri"/>
                <a:cs typeface="Times New Roman"/>
              </a:rPr>
              <a:t>: 20, </a:t>
            </a:r>
            <a:br>
              <a:rPr lang="en-CA" sz="1600">
                <a:latin typeface="Times New Roman"/>
                <a:ea typeface="Calibri"/>
                <a:cs typeface="Times New Roman"/>
              </a:rPr>
            </a:br>
            <a:r>
              <a:rPr lang="en-CA" sz="1600" err="1">
                <a:latin typeface="Times New Roman"/>
                <a:ea typeface="Calibri"/>
                <a:cs typeface="Times New Roman"/>
              </a:rPr>
              <a:t>Mesuare</a:t>
            </a:r>
            <a:r>
              <a:rPr lang="en-CA" sz="1600">
                <a:latin typeface="Times New Roman"/>
                <a:ea typeface="Calibri"/>
                <a:cs typeface="Times New Roman"/>
              </a:rPr>
              <a:t> Type: </a:t>
            </a:r>
            <a:r>
              <a:rPr lang="en-CA" sz="1600" err="1">
                <a:latin typeface="Times New Roman"/>
                <a:ea typeface="Calibri"/>
                <a:cs typeface="Times New Roman"/>
              </a:rPr>
              <a:t>MixedMesaure</a:t>
            </a:r>
            <a:r>
              <a:rPr lang="en-CA" sz="1600">
                <a:latin typeface="Times New Roman"/>
                <a:ea typeface="Calibri"/>
                <a:cs typeface="Times New Roman"/>
              </a:rPr>
              <a:t>-&gt;</a:t>
            </a:r>
            <a:r>
              <a:rPr lang="en-CA" sz="1600" err="1">
                <a:latin typeface="Times New Roman"/>
                <a:ea typeface="Calibri"/>
                <a:cs typeface="Times New Roman"/>
              </a:rPr>
              <a:t>MixedEuclideanDistance</a:t>
            </a:r>
            <a:r>
              <a:rPr lang="en-CA" sz="1600">
                <a:latin typeface="Times New Roman"/>
                <a:ea typeface="Calibri"/>
                <a:cs typeface="Times New Roman"/>
              </a:rPr>
              <a:t>.</a:t>
            </a:r>
            <a:endParaRPr lang="en-US" sz="1600">
              <a:latin typeface="Times New Roman"/>
              <a:ea typeface="Calibri"/>
              <a:cs typeface="Times New Roman"/>
            </a:endParaRPr>
          </a:p>
          <a:p>
            <a:pPr lvl="1"/>
            <a:r>
              <a:rPr lang="en-CA" sz="1600">
                <a:latin typeface="Times New Roman"/>
                <a:ea typeface="Calibri"/>
                <a:cs typeface="Times New Roman"/>
              </a:rPr>
              <a:t>Generate Outlier Flag: Manual Method, score column: outlier, threshold: 1.5</a:t>
            </a:r>
            <a:endParaRPr lang="en-US" sz="1600">
              <a:latin typeface="Times New Roman"/>
              <a:ea typeface="Calibri"/>
              <a:cs typeface="Times New Roman"/>
            </a:endParaRPr>
          </a:p>
          <a:p>
            <a:pPr lvl="1"/>
            <a:r>
              <a:rPr lang="en-CA" sz="1600">
                <a:latin typeface="Times New Roman"/>
                <a:ea typeface="Calibri"/>
                <a:cs typeface="Times New Roman"/>
              </a:rPr>
              <a:t>Rename: </a:t>
            </a:r>
            <a:r>
              <a:rPr lang="en-CA" sz="1600" err="1">
                <a:latin typeface="Times New Roman"/>
                <a:ea typeface="Calibri"/>
                <a:cs typeface="Times New Roman"/>
              </a:rPr>
              <a:t>outlier_flag</a:t>
            </a:r>
            <a:r>
              <a:rPr lang="en-CA" sz="1600">
                <a:latin typeface="Times New Roman"/>
                <a:ea typeface="Calibri"/>
                <a:cs typeface="Times New Roman"/>
              </a:rPr>
              <a:t>-&gt;</a:t>
            </a:r>
            <a:r>
              <a:rPr lang="en-CA" sz="1600" err="1">
                <a:latin typeface="Times New Roman"/>
                <a:ea typeface="Calibri"/>
                <a:cs typeface="Times New Roman"/>
              </a:rPr>
              <a:t>LOF_Outlier</a:t>
            </a:r>
            <a:endParaRPr lang="en-US" sz="1600" err="1">
              <a:latin typeface="Times New Roman"/>
              <a:ea typeface="Calibri"/>
              <a:cs typeface="Times New Roman"/>
            </a:endParaRPr>
          </a:p>
          <a:p>
            <a:pPr lvl="1"/>
            <a:r>
              <a:rPr lang="en-CA" sz="1600">
                <a:latin typeface="Times New Roman"/>
                <a:ea typeface="Calibri"/>
                <a:cs typeface="Times New Roman"/>
              </a:rPr>
              <a:t>Filter </a:t>
            </a:r>
            <a:r>
              <a:rPr lang="en-CA" sz="1600" err="1">
                <a:latin typeface="Times New Roman"/>
                <a:ea typeface="Calibri"/>
                <a:cs typeface="Times New Roman"/>
              </a:rPr>
              <a:t>LOF_Oulier</a:t>
            </a:r>
            <a:r>
              <a:rPr lang="en-CA" sz="1600">
                <a:latin typeface="Times New Roman"/>
                <a:ea typeface="Calibri"/>
                <a:cs typeface="Times New Roman"/>
              </a:rPr>
              <a:t> = Outlier</a:t>
            </a:r>
            <a:endParaRPr lang="en-US" sz="1600">
              <a:latin typeface="Times New Roman"/>
              <a:ea typeface="Calibri"/>
              <a:cs typeface="Times New Roman"/>
            </a:endParaRPr>
          </a:p>
          <a:p>
            <a:endParaRPr lang="en-US" sz="1700">
              <a:latin typeface="Calibri"/>
              <a:ea typeface="Calibri"/>
              <a:cs typeface="Calibri"/>
            </a:endParaRPr>
          </a:p>
          <a:p>
            <a:endParaRPr lang="en-US" sz="1700">
              <a:ea typeface="Calibri"/>
              <a:cs typeface="Calibri"/>
            </a:endParaRPr>
          </a:p>
        </p:txBody>
      </p:sp>
      <p:pic>
        <p:nvPicPr>
          <p:cNvPr id="5" name="Picture 4" descr="A diagram of a diagram&#10;&#10;AI-generated content may be incorrect.">
            <a:extLst>
              <a:ext uri="{FF2B5EF4-FFF2-40B4-BE49-F238E27FC236}">
                <a16:creationId xmlns:a16="http://schemas.microsoft.com/office/drawing/2014/main" id="{F44E3873-C842-CF60-AEF2-1576AAA0BD01}"/>
              </a:ext>
            </a:extLst>
          </p:cNvPr>
          <p:cNvPicPr>
            <a:picLocks noChangeAspect="1"/>
          </p:cNvPicPr>
          <p:nvPr/>
        </p:nvPicPr>
        <p:blipFill>
          <a:blip r:embed="rId2"/>
          <a:srcRect t="3257" b="169"/>
          <a:stretch/>
        </p:blipFill>
        <p:spPr>
          <a:xfrm>
            <a:off x="1148080" y="3785262"/>
            <a:ext cx="6878320" cy="3010986"/>
          </a:xfrm>
          <a:prstGeom prst="rect">
            <a:avLst/>
          </a:prstGeom>
        </p:spPr>
      </p:pic>
    </p:spTree>
    <p:extLst>
      <p:ext uri="{BB962C8B-B14F-4D97-AF65-F5344CB8AC3E}">
        <p14:creationId xmlns:p14="http://schemas.microsoft.com/office/powerpoint/2010/main" val="34891653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863F0-BF7D-BB6D-9EBE-4796EBF3DB0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2886960-2EB6-472A-C3DD-00299A5C7E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9DA69F32-3DAE-0ADD-5BA7-A60451957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136262FA-59B0-D3B1-486B-2F30734A2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42B013C9-5159-DAC7-7520-5A261BFC6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E2728B6A-1111-E940-9129-9ED73269D01E}"/>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a:t>
            </a:r>
            <a:r>
              <a:rPr lang="en-CA" sz="2800">
                <a:solidFill>
                  <a:srgbClr val="FFFFFF"/>
                </a:solidFill>
                <a:ea typeface="+mj-lt"/>
                <a:cs typeface="+mj-lt"/>
              </a:rPr>
              <a:t>Build model </a:t>
            </a:r>
            <a:r>
              <a:rPr lang="en-CA" sz="2800">
                <a:solidFill>
                  <a:srgbClr val="FFFFFF"/>
                </a:solidFill>
              </a:rPr>
              <a:t>For Outlier</a:t>
            </a:r>
          </a:p>
        </p:txBody>
      </p:sp>
      <p:sp>
        <p:nvSpPr>
          <p:cNvPr id="3" name="Content Placeholder 2">
            <a:extLst>
              <a:ext uri="{FF2B5EF4-FFF2-40B4-BE49-F238E27FC236}">
                <a16:creationId xmlns:a16="http://schemas.microsoft.com/office/drawing/2014/main" id="{224C9727-4F3A-9F18-6E26-8E69D9D63656}"/>
              </a:ext>
            </a:extLst>
          </p:cNvPr>
          <p:cNvSpPr>
            <a:spLocks noGrp="1"/>
          </p:cNvSpPr>
          <p:nvPr>
            <p:ph idx="1"/>
          </p:nvPr>
        </p:nvSpPr>
        <p:spPr>
          <a:xfrm>
            <a:off x="287047" y="1713543"/>
            <a:ext cx="8567625" cy="4851694"/>
          </a:xfrm>
        </p:spPr>
        <p:txBody>
          <a:bodyPr vert="horz" lIns="91440" tIns="45720" rIns="91440" bIns="45720" rtlCol="0" anchor="t">
            <a:normAutofit/>
          </a:bodyPr>
          <a:lstStyle/>
          <a:p>
            <a:r>
              <a:rPr lang="en-US" sz="1700" b="1">
                <a:ea typeface="+mn-lt"/>
                <a:cs typeface="+mn-lt"/>
              </a:rPr>
              <a:t>The outlier detection models were built in RapidMiner using process: </a:t>
            </a:r>
            <a:endParaRPr lang="en-US" sz="1700">
              <a:ea typeface="+mn-lt"/>
              <a:cs typeface="+mn-lt"/>
            </a:endParaRPr>
          </a:p>
          <a:p>
            <a:r>
              <a:rPr lang="en-US" sz="1700">
                <a:ea typeface="+mn-lt"/>
                <a:cs typeface="+mn-lt"/>
              </a:rPr>
              <a:t>ISF: </a:t>
            </a:r>
          </a:p>
          <a:p>
            <a:pPr lvl="1"/>
            <a:r>
              <a:rPr lang="en-CA" sz="1600">
                <a:latin typeface="Times New Roman"/>
                <a:ea typeface="Calibri"/>
                <a:cs typeface="Times New Roman"/>
              </a:rPr>
              <a:t>Detect Outlier Isolation Forest-&gt; Number of Trees: 100, Max leaf size: 1, bootstrap ratio: 0.9, and </a:t>
            </a:r>
            <a:r>
              <a:rPr lang="en-CA" sz="1600" err="1">
                <a:latin typeface="Times New Roman"/>
                <a:ea typeface="Calibri"/>
                <a:cs typeface="Times New Roman"/>
              </a:rPr>
              <a:t>socre_calculation</a:t>
            </a:r>
            <a:r>
              <a:rPr lang="en-CA" sz="1600">
                <a:latin typeface="Times New Roman"/>
                <a:ea typeface="Calibri"/>
                <a:cs typeface="Times New Roman"/>
              </a:rPr>
              <a:t>: </a:t>
            </a:r>
            <a:r>
              <a:rPr lang="en-CA" sz="1600" err="1">
                <a:latin typeface="Times New Roman"/>
                <a:ea typeface="Calibri"/>
                <a:cs typeface="Times New Roman"/>
              </a:rPr>
              <a:t>normalized_score</a:t>
            </a:r>
            <a:r>
              <a:rPr lang="en-CA" sz="1600">
                <a:latin typeface="Times New Roman"/>
                <a:ea typeface="Calibri"/>
                <a:cs typeface="Times New Roman"/>
              </a:rPr>
              <a:t>, because the more common choice and normalize the score to a range from 0 to 1, which is easier to interpret and typically gives better results when identifying outliers. </a:t>
            </a:r>
            <a:endParaRPr lang="en-US" sz="1600">
              <a:latin typeface="Times New Roman"/>
              <a:ea typeface="Calibri"/>
              <a:cs typeface="Times New Roman"/>
            </a:endParaRPr>
          </a:p>
          <a:p>
            <a:pPr lvl="1"/>
            <a:r>
              <a:rPr lang="en-CA" sz="1600">
                <a:latin typeface="Times New Roman"/>
                <a:ea typeface="Calibri"/>
                <a:cs typeface="Times New Roman"/>
              </a:rPr>
              <a:t>Used formula: if (prediction &gt;= 0.60, "Outlier", "Normal") &amp; create new columns from prediction.</a:t>
            </a:r>
            <a:endParaRPr lang="en-US" sz="1600">
              <a:latin typeface="Times New Roman"/>
              <a:ea typeface="Calibri"/>
              <a:cs typeface="Times New Roman"/>
            </a:endParaRPr>
          </a:p>
          <a:p>
            <a:pPr lvl="1"/>
            <a:r>
              <a:rPr lang="en-CA" sz="1600" err="1">
                <a:latin typeface="Times New Roman"/>
                <a:ea typeface="Calibri"/>
                <a:cs typeface="Times New Roman"/>
              </a:rPr>
              <a:t>ISF_Outlier</a:t>
            </a:r>
            <a:r>
              <a:rPr lang="en-CA" sz="1600">
                <a:latin typeface="Times New Roman"/>
                <a:ea typeface="Calibri"/>
                <a:cs typeface="Times New Roman"/>
              </a:rPr>
              <a:t> = Outlier filtered.</a:t>
            </a:r>
            <a:endParaRPr lang="en-US" sz="1600">
              <a:latin typeface="Times New Roman"/>
              <a:ea typeface="Calibri"/>
              <a:cs typeface="Times New Roman"/>
            </a:endParaRPr>
          </a:p>
          <a:p>
            <a:endParaRPr lang="en-US" sz="1700">
              <a:latin typeface="Calibri"/>
              <a:ea typeface="Calibri"/>
              <a:cs typeface="Calibri"/>
            </a:endParaRPr>
          </a:p>
          <a:p>
            <a:endParaRPr lang="en-US" sz="1700" b="1">
              <a:ea typeface="Calibri"/>
              <a:cs typeface="Calibri"/>
            </a:endParaRPr>
          </a:p>
        </p:txBody>
      </p:sp>
      <p:pic>
        <p:nvPicPr>
          <p:cNvPr id="7" name="Picture 6" descr="A diagram of a program&#10;&#10;AI-generated content may be incorrect.">
            <a:extLst>
              <a:ext uri="{FF2B5EF4-FFF2-40B4-BE49-F238E27FC236}">
                <a16:creationId xmlns:a16="http://schemas.microsoft.com/office/drawing/2014/main" id="{4AB373B3-8F35-33D1-9A8A-10FE13F0E697}"/>
              </a:ext>
            </a:extLst>
          </p:cNvPr>
          <p:cNvPicPr>
            <a:picLocks noChangeAspect="1"/>
          </p:cNvPicPr>
          <p:nvPr/>
        </p:nvPicPr>
        <p:blipFill>
          <a:blip r:embed="rId2"/>
          <a:stretch>
            <a:fillRect/>
          </a:stretch>
        </p:blipFill>
        <p:spPr>
          <a:xfrm>
            <a:off x="2221302" y="4189504"/>
            <a:ext cx="4701397" cy="2673583"/>
          </a:xfrm>
          <a:prstGeom prst="rect">
            <a:avLst/>
          </a:prstGeom>
        </p:spPr>
      </p:pic>
    </p:spTree>
    <p:extLst>
      <p:ext uri="{BB962C8B-B14F-4D97-AF65-F5344CB8AC3E}">
        <p14:creationId xmlns:p14="http://schemas.microsoft.com/office/powerpoint/2010/main" val="29119007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13DAFB-B46D-B3FC-57C7-26F132A5993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7352A24F-0C40-E1E0-3875-C67C9A8AFC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D991366F-FD56-14BF-167E-E1AABF608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47BE396D-914B-5F2F-D657-F50B39B7FC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D05919C4-91FA-8EA2-0547-FBA463AC3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BD3169E-E1C8-4918-CC69-4086E5117203}"/>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a:t>
            </a:r>
            <a:r>
              <a:rPr lang="en-CA" sz="2800">
                <a:solidFill>
                  <a:srgbClr val="FFFFFF"/>
                </a:solidFill>
                <a:ea typeface="+mj-lt"/>
                <a:cs typeface="+mj-lt"/>
              </a:rPr>
              <a:t>Build model </a:t>
            </a:r>
            <a:r>
              <a:rPr lang="en-CA" sz="2800">
                <a:solidFill>
                  <a:srgbClr val="FFFFFF"/>
                </a:solidFill>
              </a:rPr>
              <a:t>For Outlier</a:t>
            </a:r>
          </a:p>
        </p:txBody>
      </p:sp>
      <p:sp>
        <p:nvSpPr>
          <p:cNvPr id="3" name="Content Placeholder 2">
            <a:extLst>
              <a:ext uri="{FF2B5EF4-FFF2-40B4-BE49-F238E27FC236}">
                <a16:creationId xmlns:a16="http://schemas.microsoft.com/office/drawing/2014/main" id="{A288858B-5AD4-E6B7-A00C-8AFD9C2FBD92}"/>
              </a:ext>
            </a:extLst>
          </p:cNvPr>
          <p:cNvSpPr>
            <a:spLocks noGrp="1"/>
          </p:cNvSpPr>
          <p:nvPr>
            <p:ph idx="1"/>
          </p:nvPr>
        </p:nvSpPr>
        <p:spPr>
          <a:xfrm>
            <a:off x="287047" y="1713543"/>
            <a:ext cx="8567625" cy="4851694"/>
          </a:xfrm>
        </p:spPr>
        <p:txBody>
          <a:bodyPr vert="horz" lIns="91440" tIns="45720" rIns="91440" bIns="45720" rtlCol="0" anchor="t">
            <a:normAutofit/>
          </a:bodyPr>
          <a:lstStyle/>
          <a:p>
            <a:r>
              <a:rPr lang="en-US" sz="1700" b="1">
                <a:ea typeface="+mn-lt"/>
                <a:cs typeface="+mn-lt"/>
              </a:rPr>
              <a:t>The outlier detection models were built in RapidMiner using process: </a:t>
            </a:r>
            <a:endParaRPr lang="en-US" sz="1700">
              <a:ea typeface="+mn-lt"/>
              <a:cs typeface="+mn-lt"/>
            </a:endParaRPr>
          </a:p>
          <a:p>
            <a:r>
              <a:rPr lang="en-US" sz="1700">
                <a:ea typeface="+mn-lt"/>
                <a:cs typeface="+mn-lt"/>
              </a:rPr>
              <a:t>LOF + ISF: When Joining both LOF + ISF Method by id, and filtering only LOF_Outlier = Outlier and ISF_Outlier = Outlier.</a:t>
            </a:r>
          </a:p>
          <a:p>
            <a:endParaRPr lang="en-US" sz="1700">
              <a:latin typeface="Calibri"/>
              <a:ea typeface="Calibri"/>
              <a:cs typeface="Calibri"/>
            </a:endParaRPr>
          </a:p>
          <a:p>
            <a:endParaRPr lang="en-US" sz="1700" b="1">
              <a:ea typeface="Calibri"/>
              <a:cs typeface="Calibri"/>
            </a:endParaRPr>
          </a:p>
        </p:txBody>
      </p:sp>
      <p:pic>
        <p:nvPicPr>
          <p:cNvPr id="5" name="Picture 4" descr="A diagram of a filter&#10;&#10;AI-generated content may be incorrect.">
            <a:extLst>
              <a:ext uri="{FF2B5EF4-FFF2-40B4-BE49-F238E27FC236}">
                <a16:creationId xmlns:a16="http://schemas.microsoft.com/office/drawing/2014/main" id="{56D44F00-2995-0D93-7B3D-4483D98654C2}"/>
              </a:ext>
            </a:extLst>
          </p:cNvPr>
          <p:cNvPicPr>
            <a:picLocks noChangeAspect="1"/>
          </p:cNvPicPr>
          <p:nvPr/>
        </p:nvPicPr>
        <p:blipFill>
          <a:blip r:embed="rId2"/>
          <a:stretch>
            <a:fillRect/>
          </a:stretch>
        </p:blipFill>
        <p:spPr>
          <a:xfrm>
            <a:off x="284480" y="2823220"/>
            <a:ext cx="8575040" cy="3741401"/>
          </a:xfrm>
          <a:prstGeom prst="rect">
            <a:avLst/>
          </a:prstGeom>
        </p:spPr>
      </p:pic>
    </p:spTree>
    <p:extLst>
      <p:ext uri="{BB962C8B-B14F-4D97-AF65-F5344CB8AC3E}">
        <p14:creationId xmlns:p14="http://schemas.microsoft.com/office/powerpoint/2010/main" val="5119321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A2935F-67AA-973E-19F7-DC119453BA3A}"/>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47D1483-6892-AB96-B4B3-9E1BFC7D3C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FE8F25EF-8BA9-57DC-696C-5F56F6B15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958F01AA-3E26-99C1-FC7E-2816F6D38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14BEA2FA-D371-8471-7E1F-286EB0D23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49EC3F71-21F7-3F77-E9A8-099A2FC86F8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a:t>
            </a:r>
            <a:r>
              <a:rPr lang="en-CA" sz="2800">
                <a:solidFill>
                  <a:srgbClr val="FFFFFF"/>
                </a:solidFill>
                <a:ea typeface="+mj-lt"/>
                <a:cs typeface="+mj-lt"/>
              </a:rPr>
              <a:t>Access model </a:t>
            </a:r>
            <a:r>
              <a:rPr lang="en-CA" sz="2800">
                <a:solidFill>
                  <a:srgbClr val="FFFFFF"/>
                </a:solidFill>
              </a:rPr>
              <a:t>For LOF Outlier</a:t>
            </a:r>
          </a:p>
        </p:txBody>
      </p:sp>
      <p:sp>
        <p:nvSpPr>
          <p:cNvPr id="3" name="Content Placeholder 2">
            <a:extLst>
              <a:ext uri="{FF2B5EF4-FFF2-40B4-BE49-F238E27FC236}">
                <a16:creationId xmlns:a16="http://schemas.microsoft.com/office/drawing/2014/main" id="{26F16D2C-2941-DE1D-0714-79C0049825A1}"/>
              </a:ext>
            </a:extLst>
          </p:cNvPr>
          <p:cNvSpPr>
            <a:spLocks noGrp="1"/>
          </p:cNvSpPr>
          <p:nvPr>
            <p:ph idx="1"/>
          </p:nvPr>
        </p:nvSpPr>
        <p:spPr>
          <a:xfrm>
            <a:off x="287047" y="1713543"/>
            <a:ext cx="8567625" cy="4851694"/>
          </a:xfrm>
        </p:spPr>
        <p:txBody>
          <a:bodyPr vert="horz" lIns="91440" tIns="45720" rIns="91440" bIns="45720" rtlCol="0" anchor="t">
            <a:normAutofit/>
          </a:bodyPr>
          <a:lstStyle/>
          <a:p>
            <a:r>
              <a:rPr lang="en-US" sz="1700" b="1">
                <a:ea typeface="+mn-lt"/>
                <a:cs typeface="+mn-lt"/>
              </a:rPr>
              <a:t>The outlier detection models were built in RapidMiner using process: </a:t>
            </a:r>
          </a:p>
          <a:p>
            <a:r>
              <a:rPr lang="en-US" sz="1700">
                <a:ea typeface="+mn-lt"/>
                <a:cs typeface="+mn-lt"/>
              </a:rPr>
              <a:t>LOF: Could consider these as </a:t>
            </a:r>
            <a:r>
              <a:rPr lang="en-US" sz="1700" err="1">
                <a:ea typeface="+mn-lt"/>
                <a:cs typeface="+mn-lt"/>
              </a:rPr>
              <a:t>LOF_Outlier</a:t>
            </a:r>
            <a:r>
              <a:rPr lang="en-US" sz="1700">
                <a:ea typeface="+mn-lt"/>
                <a:cs typeface="+mn-lt"/>
              </a:rPr>
              <a:t> </a:t>
            </a:r>
          </a:p>
          <a:p>
            <a:endParaRPr lang="en-US" sz="1700">
              <a:latin typeface="Calibri"/>
              <a:ea typeface="Calibri"/>
              <a:cs typeface="Calibri"/>
            </a:endParaRPr>
          </a:p>
          <a:p>
            <a:endParaRPr lang="en-US" sz="1700">
              <a:latin typeface="Calibri"/>
              <a:ea typeface="Calibri"/>
              <a:cs typeface="Calibri"/>
            </a:endParaRPr>
          </a:p>
        </p:txBody>
      </p:sp>
      <p:pic>
        <p:nvPicPr>
          <p:cNvPr id="4" name="Picture 3" descr="A screen shot of a graph&#10;&#10;AI-generated content may be incorrect.">
            <a:extLst>
              <a:ext uri="{FF2B5EF4-FFF2-40B4-BE49-F238E27FC236}">
                <a16:creationId xmlns:a16="http://schemas.microsoft.com/office/drawing/2014/main" id="{4B15BAF4-E6C6-FE21-A05B-1F3A8B391260}"/>
              </a:ext>
            </a:extLst>
          </p:cNvPr>
          <p:cNvPicPr>
            <a:picLocks noChangeAspect="1"/>
          </p:cNvPicPr>
          <p:nvPr/>
        </p:nvPicPr>
        <p:blipFill>
          <a:blip r:embed="rId2"/>
          <a:stretch>
            <a:fillRect/>
          </a:stretch>
        </p:blipFill>
        <p:spPr>
          <a:xfrm>
            <a:off x="593066" y="2413926"/>
            <a:ext cx="7957868" cy="4445543"/>
          </a:xfrm>
          <a:prstGeom prst="rect">
            <a:avLst/>
          </a:prstGeom>
        </p:spPr>
      </p:pic>
    </p:spTree>
    <p:extLst>
      <p:ext uri="{BB962C8B-B14F-4D97-AF65-F5344CB8AC3E}">
        <p14:creationId xmlns:p14="http://schemas.microsoft.com/office/powerpoint/2010/main" val="42214121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A1FBB3-C516-D93F-1C10-66F0A78BD96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3683F75-6AEB-AA59-E5D0-C2E338C89D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8A2801AB-163F-1199-EB57-0D66A2D882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F204088E-7D59-210A-41FB-A054A6388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48E7CC85-03B0-B2CC-F887-558EA596A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F1EA41A9-68D1-092A-4560-59674EACDD4F}"/>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5.0 </a:t>
            </a:r>
            <a:r>
              <a:rPr lang="en-CA" sz="2800">
                <a:solidFill>
                  <a:srgbClr val="FFFFFF"/>
                </a:solidFill>
                <a:ea typeface="+mj-lt"/>
                <a:cs typeface="+mj-lt"/>
              </a:rPr>
              <a:t>Access model </a:t>
            </a:r>
            <a:r>
              <a:rPr lang="en-CA" sz="2800">
                <a:solidFill>
                  <a:srgbClr val="FFFFFF"/>
                </a:solidFill>
              </a:rPr>
              <a:t>For ISF Outlier</a:t>
            </a:r>
          </a:p>
        </p:txBody>
      </p:sp>
      <p:sp>
        <p:nvSpPr>
          <p:cNvPr id="3" name="Content Placeholder 2">
            <a:extLst>
              <a:ext uri="{FF2B5EF4-FFF2-40B4-BE49-F238E27FC236}">
                <a16:creationId xmlns:a16="http://schemas.microsoft.com/office/drawing/2014/main" id="{51740AE8-11C2-611B-E31F-3227695C466A}"/>
              </a:ext>
            </a:extLst>
          </p:cNvPr>
          <p:cNvSpPr>
            <a:spLocks noGrp="1"/>
          </p:cNvSpPr>
          <p:nvPr>
            <p:ph idx="1"/>
          </p:nvPr>
        </p:nvSpPr>
        <p:spPr>
          <a:xfrm>
            <a:off x="287047" y="1713543"/>
            <a:ext cx="8567625" cy="4851694"/>
          </a:xfrm>
        </p:spPr>
        <p:txBody>
          <a:bodyPr vert="horz" lIns="91440" tIns="45720" rIns="91440" bIns="45720" rtlCol="0" anchor="t">
            <a:normAutofit/>
          </a:bodyPr>
          <a:lstStyle/>
          <a:p>
            <a:r>
              <a:rPr lang="en-US" sz="1700" b="1">
                <a:ea typeface="+mn-lt"/>
                <a:cs typeface="+mn-lt"/>
              </a:rPr>
              <a:t>The outlier detection models were built in RapidMiner using process: </a:t>
            </a:r>
            <a:endParaRPr lang="en-US" sz="1700">
              <a:ea typeface="+mn-lt"/>
              <a:cs typeface="+mn-lt"/>
            </a:endParaRPr>
          </a:p>
          <a:p>
            <a:r>
              <a:rPr lang="en-US" sz="1700">
                <a:ea typeface="+mn-lt"/>
                <a:cs typeface="+mn-lt"/>
              </a:rPr>
              <a:t>ISF: Could consider as Outlier</a:t>
            </a:r>
          </a:p>
          <a:p>
            <a:endParaRPr lang="en-US" sz="1700">
              <a:latin typeface="Calibri"/>
              <a:ea typeface="Calibri"/>
              <a:cs typeface="Calibri"/>
            </a:endParaRPr>
          </a:p>
          <a:p>
            <a:endParaRPr lang="en-US" sz="1700" b="1">
              <a:ea typeface="Calibri"/>
              <a:cs typeface="Calibri"/>
            </a:endParaRPr>
          </a:p>
        </p:txBody>
      </p:sp>
      <p:pic>
        <p:nvPicPr>
          <p:cNvPr id="4" name="Picture 3">
            <a:extLst>
              <a:ext uri="{FF2B5EF4-FFF2-40B4-BE49-F238E27FC236}">
                <a16:creationId xmlns:a16="http://schemas.microsoft.com/office/drawing/2014/main" id="{75E9430B-2532-492A-7E7C-73EE7DA071FE}"/>
              </a:ext>
            </a:extLst>
          </p:cNvPr>
          <p:cNvPicPr>
            <a:picLocks noChangeAspect="1"/>
          </p:cNvPicPr>
          <p:nvPr/>
        </p:nvPicPr>
        <p:blipFill>
          <a:blip r:embed="rId2"/>
          <a:stretch>
            <a:fillRect/>
          </a:stretch>
        </p:blipFill>
        <p:spPr>
          <a:xfrm>
            <a:off x="625415" y="2341962"/>
            <a:ext cx="7925519" cy="4513991"/>
          </a:xfrm>
          <a:prstGeom prst="rect">
            <a:avLst/>
          </a:prstGeom>
        </p:spPr>
      </p:pic>
    </p:spTree>
    <p:extLst>
      <p:ext uri="{BB962C8B-B14F-4D97-AF65-F5344CB8AC3E}">
        <p14:creationId xmlns:p14="http://schemas.microsoft.com/office/powerpoint/2010/main" val="26224480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5677AE-925B-D187-EB16-9559C152F9F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EA2AA8B-1FDD-AFBD-A572-B0913D2ADD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98DE99A5-C3F3-11BC-0356-A7E2D87D3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F455C2B9-7CD5-3E22-34BA-A26665278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CB23B7C8-7451-F6FA-C05E-60F438B8FD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3411888E-FEC4-B56E-5669-52A836342D11}"/>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Discussion of Results for Outlier</a:t>
            </a:r>
          </a:p>
        </p:txBody>
      </p:sp>
      <p:sp>
        <p:nvSpPr>
          <p:cNvPr id="3" name="Content Placeholder 2">
            <a:extLst>
              <a:ext uri="{FF2B5EF4-FFF2-40B4-BE49-F238E27FC236}">
                <a16:creationId xmlns:a16="http://schemas.microsoft.com/office/drawing/2014/main" id="{42BF981F-3D38-F8BC-3E2D-F6CFC35435F9}"/>
              </a:ext>
            </a:extLst>
          </p:cNvPr>
          <p:cNvSpPr>
            <a:spLocks noGrp="1"/>
          </p:cNvSpPr>
          <p:nvPr>
            <p:ph idx="1"/>
          </p:nvPr>
        </p:nvSpPr>
        <p:spPr>
          <a:xfrm>
            <a:off x="657225" y="1861084"/>
            <a:ext cx="7779121" cy="4587976"/>
          </a:xfrm>
        </p:spPr>
        <p:txBody>
          <a:bodyPr vert="horz" lIns="91440" tIns="45720" rIns="91440" bIns="45720" rtlCol="0" anchor="t">
            <a:normAutofit/>
          </a:bodyPr>
          <a:lstStyle/>
          <a:p>
            <a:r>
              <a:rPr lang="en-US" sz="1700">
                <a:ea typeface="+mn-lt"/>
                <a:cs typeface="+mn-lt"/>
              </a:rPr>
              <a:t>More is not always better. Sometimes too many = too sensitive (false positives), too few = missed anomalies.</a:t>
            </a:r>
            <a:endParaRPr lang="en-US" sz="1700">
              <a:ea typeface="Calibri"/>
              <a:cs typeface="Calibri"/>
            </a:endParaRPr>
          </a:p>
          <a:p>
            <a:r>
              <a:rPr lang="en-US" sz="1700">
                <a:ea typeface="Calibri"/>
                <a:cs typeface="Calibri"/>
              </a:rPr>
              <a:t>Outlier Detection in LOF:</a:t>
            </a:r>
            <a:endParaRPr lang="en-US"/>
          </a:p>
          <a:p>
            <a:pPr lvl="1"/>
            <a:r>
              <a:rPr lang="en-US" sz="1600">
                <a:ea typeface="Calibri"/>
                <a:cs typeface="Calibri"/>
              </a:rPr>
              <a:t>Local Outlier Factor:</a:t>
            </a:r>
          </a:p>
          <a:p>
            <a:pPr lvl="2">
              <a:buFont typeface="Wingdings"/>
              <a:buChar char="§"/>
            </a:pPr>
            <a:r>
              <a:rPr lang="en-US" sz="1200">
                <a:ea typeface="Calibri"/>
                <a:cs typeface="Calibri"/>
              </a:rPr>
              <a:t>Trying with Default Values</a:t>
            </a:r>
          </a:p>
          <a:p>
            <a:pPr lvl="1"/>
            <a:r>
              <a:rPr lang="en-US" sz="1600">
                <a:ea typeface="Calibri"/>
                <a:cs typeface="Calibri"/>
              </a:rPr>
              <a:t>Generate Outlier Flag:</a:t>
            </a:r>
          </a:p>
          <a:p>
            <a:pPr lvl="2">
              <a:buFont typeface="Wingdings,Sans-Serif"/>
              <a:buChar char="§"/>
            </a:pPr>
            <a:r>
              <a:rPr lang="en-US" sz="1200">
                <a:ea typeface="Calibri"/>
                <a:cs typeface="Calibri"/>
              </a:rPr>
              <a:t>Threshold: 0.5 = 10000</a:t>
            </a:r>
          </a:p>
          <a:p>
            <a:pPr lvl="2">
              <a:buFont typeface="Wingdings"/>
              <a:buChar char="§"/>
            </a:pPr>
            <a:r>
              <a:rPr lang="en-US" sz="1200">
                <a:ea typeface="Calibri"/>
                <a:cs typeface="Calibri"/>
              </a:rPr>
              <a:t>Threshold: 1.0 = 8824 </a:t>
            </a:r>
          </a:p>
          <a:p>
            <a:pPr lvl="2"/>
            <a:r>
              <a:rPr lang="en-US" sz="1200">
                <a:ea typeface="Calibri"/>
                <a:cs typeface="Calibri"/>
              </a:rPr>
              <a:t>1.1 = 2970 (Observation as Threshold high, low number of perfect outlier example.)</a:t>
            </a:r>
          </a:p>
          <a:p>
            <a:pPr lvl="2">
              <a:buFont typeface="Wingdings"/>
              <a:buChar char="§"/>
            </a:pPr>
            <a:r>
              <a:rPr lang="en-US" sz="1200">
                <a:ea typeface="Calibri"/>
                <a:cs typeface="Calibri"/>
              </a:rPr>
              <a:t>1.2 = 1199, 1.3 = 586, 1.4 = 303, 1.5 = 140</a:t>
            </a:r>
          </a:p>
          <a:p>
            <a:r>
              <a:rPr lang="en-US" sz="1700">
                <a:ea typeface="Calibri"/>
                <a:cs typeface="Calibri"/>
              </a:rPr>
              <a:t>Isolation Forest: </a:t>
            </a:r>
          </a:p>
          <a:p>
            <a:pPr lvl="1"/>
            <a:r>
              <a:rPr lang="en-US" sz="1300">
                <a:ea typeface="Calibri"/>
                <a:cs typeface="Calibri"/>
              </a:rPr>
              <a:t>Tried different versions for number of trees, max leaf size, and boostrap like 100, [200, 300], 1, [2,3], 0.6, [0.75, 0.8, 0.9, 1.0], best combination was 100, 2, 0.8, respectively.</a:t>
            </a:r>
          </a:p>
          <a:p>
            <a:pPr lvl="1"/>
            <a:r>
              <a:rPr lang="en-US" sz="1300">
                <a:ea typeface="Calibri"/>
                <a:cs typeface="Calibri"/>
              </a:rPr>
              <a:t>Set prediction above 0.6 as Outlier, as near to 0 normal and near to 1 Outlier</a:t>
            </a:r>
          </a:p>
          <a:p>
            <a:pPr lvl="1"/>
            <a:endParaRPr lang="en-US" sz="1300">
              <a:ea typeface="Calibri"/>
              <a:cs typeface="Calibri"/>
            </a:endParaRPr>
          </a:p>
        </p:txBody>
      </p:sp>
    </p:spTree>
    <p:extLst>
      <p:ext uri="{BB962C8B-B14F-4D97-AF65-F5344CB8AC3E}">
        <p14:creationId xmlns:p14="http://schemas.microsoft.com/office/powerpoint/2010/main" val="9464238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482709-B030-D67F-5433-899271F8D63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9472235-30D4-01D9-73BC-F41999C3FF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3F083544-C000-DB19-E528-AE1C9CDC8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C42A4789-E862-7669-8667-CC3BF4A02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0D36F8D0-5BF7-B348-3763-028C11BB7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712CCC19-5540-627B-863A-1322BE3BB533}"/>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for Outlier</a:t>
            </a:r>
          </a:p>
        </p:txBody>
      </p:sp>
      <p:sp>
        <p:nvSpPr>
          <p:cNvPr id="3" name="Content Placeholder 2">
            <a:extLst>
              <a:ext uri="{FF2B5EF4-FFF2-40B4-BE49-F238E27FC236}">
                <a16:creationId xmlns:a16="http://schemas.microsoft.com/office/drawing/2014/main" id="{08D1D09A-5622-8968-E38C-48C9CAD3B457}"/>
              </a:ext>
            </a:extLst>
          </p:cNvPr>
          <p:cNvSpPr>
            <a:spLocks noGrp="1"/>
          </p:cNvSpPr>
          <p:nvPr>
            <p:ph idx="1"/>
          </p:nvPr>
        </p:nvSpPr>
        <p:spPr>
          <a:xfrm>
            <a:off x="657225" y="1861084"/>
            <a:ext cx="7779121" cy="4587976"/>
          </a:xfrm>
        </p:spPr>
        <p:txBody>
          <a:bodyPr vert="horz" lIns="91440" tIns="45720" rIns="91440" bIns="45720" rtlCol="0" anchor="t">
            <a:normAutofit/>
          </a:bodyPr>
          <a:lstStyle/>
          <a:p>
            <a:r>
              <a:rPr lang="en-US" sz="1700">
                <a:ea typeface="Calibri"/>
                <a:cs typeface="Calibri"/>
              </a:rPr>
              <a:t>Outlier Detection in LOF:</a:t>
            </a: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r>
              <a:rPr lang="en-US" sz="1700">
                <a:ea typeface="+mn-lt"/>
                <a:cs typeface="+mn-lt"/>
              </a:rPr>
              <a:t>IF BIKE_COST &gt; 6 then Expensive bike </a:t>
            </a:r>
            <a:endParaRPr lang="en-US" sz="1700">
              <a:ea typeface="Calibri"/>
              <a:cs typeface="Calibri"/>
            </a:endParaRPr>
          </a:p>
          <a:p>
            <a:r>
              <a:rPr lang="en-US" sz="1700">
                <a:ea typeface="+mn-lt"/>
                <a:cs typeface="+mn-lt"/>
              </a:rPr>
              <a:t>IF BIKE_SPEED &gt; 6 then Very fast bike</a:t>
            </a:r>
            <a:endParaRPr lang="en-US"/>
          </a:p>
          <a:p>
            <a:r>
              <a:rPr lang="en-US" sz="1700">
                <a:ea typeface="+mn-lt"/>
                <a:cs typeface="+mn-lt"/>
              </a:rPr>
              <a:t>IF BIKE_SPEED &lt; 0 then Strange/slow speed</a:t>
            </a:r>
            <a:endParaRPr lang="en-US"/>
          </a:p>
          <a:p>
            <a:r>
              <a:rPr lang="en-US" sz="1700">
                <a:ea typeface="+mn-lt"/>
                <a:cs typeface="+mn-lt"/>
              </a:rPr>
              <a:t>IF OCC_HOUR &lt; -1 then Late-night-time.</a:t>
            </a:r>
            <a:endParaRPr lang="en-US"/>
          </a:p>
        </p:txBody>
      </p:sp>
      <p:pic>
        <p:nvPicPr>
          <p:cNvPr id="4" name="Picture 3" descr="A screenshot of a table&#10;&#10;AI-generated content may be incorrect.">
            <a:extLst>
              <a:ext uri="{FF2B5EF4-FFF2-40B4-BE49-F238E27FC236}">
                <a16:creationId xmlns:a16="http://schemas.microsoft.com/office/drawing/2014/main" id="{17D1FBD4-9D8B-063A-676E-017227E77C77}"/>
              </a:ext>
            </a:extLst>
          </p:cNvPr>
          <p:cNvPicPr>
            <a:picLocks noChangeAspect="1"/>
          </p:cNvPicPr>
          <p:nvPr/>
        </p:nvPicPr>
        <p:blipFill>
          <a:blip r:embed="rId2"/>
          <a:stretch>
            <a:fillRect/>
          </a:stretch>
        </p:blipFill>
        <p:spPr>
          <a:xfrm>
            <a:off x="0" y="2396674"/>
            <a:ext cx="9144000" cy="1263576"/>
          </a:xfrm>
          <a:prstGeom prst="rect">
            <a:avLst/>
          </a:prstGeom>
        </p:spPr>
      </p:pic>
    </p:spTree>
    <p:extLst>
      <p:ext uri="{BB962C8B-B14F-4D97-AF65-F5344CB8AC3E}">
        <p14:creationId xmlns:p14="http://schemas.microsoft.com/office/powerpoint/2010/main" val="35456419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BDB0B4-5965-7C26-1F8B-A982E8B953C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3F01164-D93D-5CED-B5D1-6D366E09A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CB65687D-12D2-274F-0D42-2BF7C1CB0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1FFEBDAC-D7E5-E788-5F0E-99AC2EBE8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BB53367D-ADFF-6BC6-56A5-6BD43EF171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D0971A7E-238F-147B-5271-B86B6121DBD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for Outlier</a:t>
            </a:r>
            <a:endParaRPr lang="en-CA" sz="2800">
              <a:solidFill>
                <a:srgbClr val="000000"/>
              </a:solidFill>
              <a:ea typeface="Calibri"/>
              <a:cs typeface="Calibri"/>
            </a:endParaRPr>
          </a:p>
        </p:txBody>
      </p:sp>
      <p:sp>
        <p:nvSpPr>
          <p:cNvPr id="3" name="Content Placeholder 2">
            <a:extLst>
              <a:ext uri="{FF2B5EF4-FFF2-40B4-BE49-F238E27FC236}">
                <a16:creationId xmlns:a16="http://schemas.microsoft.com/office/drawing/2014/main" id="{0049FEAE-D5EA-760E-3E49-9521231A5DF6}"/>
              </a:ext>
            </a:extLst>
          </p:cNvPr>
          <p:cNvSpPr>
            <a:spLocks noGrp="1"/>
          </p:cNvSpPr>
          <p:nvPr>
            <p:ph idx="1"/>
          </p:nvPr>
        </p:nvSpPr>
        <p:spPr>
          <a:xfrm>
            <a:off x="657225" y="1861084"/>
            <a:ext cx="7779121" cy="4587976"/>
          </a:xfrm>
        </p:spPr>
        <p:txBody>
          <a:bodyPr vert="horz" lIns="91440" tIns="45720" rIns="91440" bIns="45720" rtlCol="0" anchor="t">
            <a:normAutofit/>
          </a:bodyPr>
          <a:lstStyle/>
          <a:p>
            <a:r>
              <a:rPr lang="en-US" sz="1700">
                <a:ea typeface="Calibri"/>
                <a:cs typeface="Calibri"/>
              </a:rPr>
              <a:t>Outlier Detection in ISF:</a:t>
            </a: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r>
              <a:rPr lang="en-US" sz="1700">
                <a:ea typeface="+mn-lt"/>
                <a:cs typeface="+mn-lt"/>
              </a:rPr>
              <a:t>IF BIKE_SPEED &gt; 6 then Very fast bike</a:t>
            </a:r>
            <a:endParaRPr lang="en-US" sz="1700">
              <a:ea typeface="Calibri"/>
              <a:cs typeface="Calibri"/>
            </a:endParaRPr>
          </a:p>
          <a:p>
            <a:r>
              <a:rPr lang="en-US" sz="1700">
                <a:ea typeface="+mn-lt"/>
                <a:cs typeface="+mn-lt"/>
              </a:rPr>
              <a:t>IF BIKE_SPEED &lt; 0 then Odd speed</a:t>
            </a:r>
            <a:endParaRPr lang="en-US"/>
          </a:p>
          <a:p>
            <a:r>
              <a:rPr lang="en-US" sz="1700">
                <a:ea typeface="+mn-lt"/>
                <a:cs typeface="+mn-lt"/>
              </a:rPr>
              <a:t>IF BIKE_COST &gt; 6 then Expensive bike</a:t>
            </a:r>
            <a:endParaRPr lang="en-US"/>
          </a:p>
          <a:p>
            <a:r>
              <a:rPr lang="en-US" sz="1700">
                <a:ea typeface="+mn-lt"/>
                <a:cs typeface="+mn-lt"/>
              </a:rPr>
              <a:t>IF OCC_HOUR &lt; -1 then Late night-time</a:t>
            </a:r>
            <a:endParaRPr lang="en-US" sz="1700">
              <a:ea typeface="Calibri"/>
              <a:cs typeface="Calibri"/>
            </a:endParaRPr>
          </a:p>
          <a:p>
            <a:r>
              <a:rPr lang="en-US" sz="1700">
                <a:ea typeface="+mn-lt"/>
                <a:cs typeface="+mn-lt"/>
              </a:rPr>
              <a:t>IF LAT_WGS84 &gt; 2 or &lt; -1 then Unusual location</a:t>
            </a:r>
            <a:endParaRPr lang="en-US"/>
          </a:p>
        </p:txBody>
      </p:sp>
      <p:pic>
        <p:nvPicPr>
          <p:cNvPr id="6" name="Picture 5" descr="A screenshot of a graph&#10;&#10;AI-generated content may be incorrect.">
            <a:extLst>
              <a:ext uri="{FF2B5EF4-FFF2-40B4-BE49-F238E27FC236}">
                <a16:creationId xmlns:a16="http://schemas.microsoft.com/office/drawing/2014/main" id="{51DACC5F-FA5F-345B-EF8E-1C73B1C1DD23}"/>
              </a:ext>
            </a:extLst>
          </p:cNvPr>
          <p:cNvPicPr>
            <a:picLocks noChangeAspect="1"/>
          </p:cNvPicPr>
          <p:nvPr/>
        </p:nvPicPr>
        <p:blipFill>
          <a:blip r:embed="rId2"/>
          <a:stretch>
            <a:fillRect/>
          </a:stretch>
        </p:blipFill>
        <p:spPr>
          <a:xfrm>
            <a:off x="0" y="2300539"/>
            <a:ext cx="9144000" cy="1261241"/>
          </a:xfrm>
          <a:prstGeom prst="rect">
            <a:avLst/>
          </a:prstGeom>
        </p:spPr>
      </p:pic>
    </p:spTree>
    <p:extLst>
      <p:ext uri="{BB962C8B-B14F-4D97-AF65-F5344CB8AC3E}">
        <p14:creationId xmlns:p14="http://schemas.microsoft.com/office/powerpoint/2010/main" val="16568345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CF9B8F-44F9-BF67-0D9F-234A665B5ED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0744FB9-6E4C-A3CC-4007-211AE446DC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B075E04F-6D83-80D9-4C7C-87C0292D4E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4490AD69-4F37-8B66-C737-0CE2C471B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2CCC7195-EE37-402E-9F58-1957B52F0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F36DD114-8519-428F-A17D-E64EECFB8032}"/>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Evaluation of Results for Outlier</a:t>
            </a:r>
            <a:endParaRPr lang="en-CA" sz="2800">
              <a:solidFill>
                <a:srgbClr val="000000"/>
              </a:solidFill>
              <a:ea typeface="Calibri"/>
              <a:cs typeface="Calibri"/>
            </a:endParaRPr>
          </a:p>
        </p:txBody>
      </p:sp>
      <p:sp>
        <p:nvSpPr>
          <p:cNvPr id="3" name="Content Placeholder 2">
            <a:extLst>
              <a:ext uri="{FF2B5EF4-FFF2-40B4-BE49-F238E27FC236}">
                <a16:creationId xmlns:a16="http://schemas.microsoft.com/office/drawing/2014/main" id="{FE8D48E3-0342-DB94-4800-3E2F50A4AEEA}"/>
              </a:ext>
            </a:extLst>
          </p:cNvPr>
          <p:cNvSpPr>
            <a:spLocks noGrp="1"/>
          </p:cNvSpPr>
          <p:nvPr>
            <p:ph idx="1"/>
          </p:nvPr>
        </p:nvSpPr>
        <p:spPr>
          <a:xfrm>
            <a:off x="657225" y="1861084"/>
            <a:ext cx="7779121" cy="4587976"/>
          </a:xfrm>
        </p:spPr>
        <p:txBody>
          <a:bodyPr vert="horz" lIns="91440" tIns="45720" rIns="91440" bIns="45720" rtlCol="0" anchor="t">
            <a:normAutofit/>
          </a:bodyPr>
          <a:lstStyle/>
          <a:p>
            <a:r>
              <a:rPr lang="en-US" sz="1700">
                <a:ea typeface="Calibri"/>
                <a:cs typeface="Calibri"/>
              </a:rPr>
              <a:t>Outlier Detection in LOF + ISF:</a:t>
            </a: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Calibri"/>
              <a:cs typeface="Calibri"/>
            </a:endParaRPr>
          </a:p>
          <a:p>
            <a:endParaRPr lang="en-US" sz="1700">
              <a:ea typeface="+mn-lt"/>
              <a:cs typeface="+mn-lt"/>
            </a:endParaRPr>
          </a:p>
          <a:p>
            <a:r>
              <a:rPr lang="en-US" sz="1700">
                <a:ea typeface="+mn-lt"/>
                <a:cs typeface="+mn-lt"/>
              </a:rPr>
              <a:t>IF BIKE_SPEED &gt; 6 then Very fast bike</a:t>
            </a:r>
            <a:endParaRPr lang="en-US">
              <a:ea typeface="+mn-lt"/>
              <a:cs typeface="+mn-lt"/>
            </a:endParaRPr>
          </a:p>
          <a:p>
            <a:r>
              <a:rPr lang="en-US" sz="1600">
                <a:ea typeface="+mn-lt"/>
                <a:cs typeface="+mn-lt"/>
              </a:rPr>
              <a:t>High BIKE_COST (e.g., 23.035, 7.237) then expensive bikes</a:t>
            </a:r>
          </a:p>
          <a:p>
            <a:r>
              <a:rPr lang="en-US" sz="1600">
                <a:ea typeface="+mn-lt"/>
                <a:cs typeface="+mn-lt"/>
              </a:rPr>
              <a:t>Very High BIKE_SPEED (e.g., 8.177) then  fast bikes</a:t>
            </a:r>
          </a:p>
          <a:p>
            <a:r>
              <a:rPr lang="en-US" sz="1600">
                <a:ea typeface="+mn-lt"/>
                <a:cs typeface="+mn-lt"/>
              </a:rPr>
              <a:t>Unusual OCC_HOUR (e.g., -1.894, -1.586) then  thefts at night or early morning</a:t>
            </a:r>
          </a:p>
          <a:p>
            <a:r>
              <a:rPr lang="en-US" sz="1600">
                <a:ea typeface="+mn-lt"/>
                <a:cs typeface="+mn-lt"/>
              </a:rPr>
              <a:t>Rare Locations (e.g., LAT_WGS84 = 2.755, 2.913) then uncommon areas</a:t>
            </a:r>
            <a:endParaRPr lang="en-US" sz="1600">
              <a:ea typeface="Calibri"/>
              <a:cs typeface="Calibri"/>
            </a:endParaRPr>
          </a:p>
        </p:txBody>
      </p:sp>
      <p:pic>
        <p:nvPicPr>
          <p:cNvPr id="5" name="Picture 4" descr="A white table with black text&#10;&#10;AI-generated content may be incorrect.">
            <a:extLst>
              <a:ext uri="{FF2B5EF4-FFF2-40B4-BE49-F238E27FC236}">
                <a16:creationId xmlns:a16="http://schemas.microsoft.com/office/drawing/2014/main" id="{948173ED-BB3E-190D-0444-A10790788F41}"/>
              </a:ext>
            </a:extLst>
          </p:cNvPr>
          <p:cNvPicPr>
            <a:picLocks noChangeAspect="1"/>
          </p:cNvPicPr>
          <p:nvPr/>
        </p:nvPicPr>
        <p:blipFill>
          <a:blip r:embed="rId2"/>
          <a:stretch>
            <a:fillRect/>
          </a:stretch>
        </p:blipFill>
        <p:spPr>
          <a:xfrm>
            <a:off x="0" y="2391739"/>
            <a:ext cx="9144000" cy="1556935"/>
          </a:xfrm>
          <a:prstGeom prst="rect">
            <a:avLst/>
          </a:prstGeom>
        </p:spPr>
      </p:pic>
    </p:spTree>
    <p:extLst>
      <p:ext uri="{BB962C8B-B14F-4D97-AF65-F5344CB8AC3E}">
        <p14:creationId xmlns:p14="http://schemas.microsoft.com/office/powerpoint/2010/main" val="2328515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574DB3-3C87-5F0B-21F3-73A3EC0A9CF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FDD3A4C8-9A98-1B8A-0CD7-02B42DDDC2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8947AA88-906A-05A2-4BC7-ED6B548B0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8D4BAB36-F670-567C-D89F-DD97F5A9A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D131E6E3-914B-6BA2-00EA-3F63BCB277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875CBFB5-527D-4786-8658-E1222961C4C6}"/>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rPr>
              <a:t>Evaluation</a:t>
            </a:r>
            <a:r>
              <a:rPr lang="en-CA" sz="2800">
                <a:solidFill>
                  <a:srgbClr val="FFFFFF"/>
                </a:solidFill>
                <a:ea typeface="+mj-lt"/>
                <a:cs typeface="+mj-lt"/>
              </a:rPr>
              <a:t> of</a:t>
            </a:r>
            <a:r>
              <a:rPr lang="en-CA" sz="2800">
                <a:solidFill>
                  <a:srgbClr val="FFFFFF"/>
                </a:solidFill>
              </a:rPr>
              <a:t> Results for Outlier</a:t>
            </a:r>
            <a:endParaRPr lang="en-CA" sz="2800">
              <a:solidFill>
                <a:srgbClr val="000000"/>
              </a:solidFill>
            </a:endParaRPr>
          </a:p>
        </p:txBody>
      </p:sp>
      <p:sp>
        <p:nvSpPr>
          <p:cNvPr id="3" name="Content Placeholder 2">
            <a:extLst>
              <a:ext uri="{FF2B5EF4-FFF2-40B4-BE49-F238E27FC236}">
                <a16:creationId xmlns:a16="http://schemas.microsoft.com/office/drawing/2014/main" id="{9930B7C0-FBD4-FE62-68C8-C5C73B870AFE}"/>
              </a:ext>
            </a:extLst>
          </p:cNvPr>
          <p:cNvSpPr>
            <a:spLocks noGrp="1"/>
          </p:cNvSpPr>
          <p:nvPr>
            <p:ph idx="1"/>
          </p:nvPr>
        </p:nvSpPr>
        <p:spPr>
          <a:xfrm>
            <a:off x="287047" y="1713543"/>
            <a:ext cx="8567625" cy="4851694"/>
          </a:xfrm>
        </p:spPr>
        <p:txBody>
          <a:bodyPr vert="horz" lIns="91440" tIns="45720" rIns="91440" bIns="45720" rtlCol="0" anchor="t">
            <a:normAutofit/>
          </a:bodyPr>
          <a:lstStyle/>
          <a:p>
            <a:r>
              <a:rPr lang="en-US" sz="1700" b="1">
                <a:ea typeface="+mn-lt"/>
                <a:cs typeface="+mn-lt"/>
              </a:rPr>
              <a:t>The outlier detection models' result output: </a:t>
            </a:r>
            <a:endParaRPr lang="en-US" sz="1700">
              <a:ea typeface="+mn-lt"/>
              <a:cs typeface="+mn-lt"/>
            </a:endParaRPr>
          </a:p>
          <a:p>
            <a:r>
              <a:rPr lang="en-US" sz="1700">
                <a:ea typeface="+mn-lt"/>
                <a:cs typeface="+mn-lt"/>
              </a:rPr>
              <a:t>LOF + ISF: LOF and ISF Outlier, getting same graph.</a:t>
            </a:r>
          </a:p>
          <a:p>
            <a:endParaRPr lang="en-US" sz="1700">
              <a:latin typeface="Calibri"/>
              <a:ea typeface="Calibri"/>
              <a:cs typeface="Calibri"/>
            </a:endParaRPr>
          </a:p>
          <a:p>
            <a:endParaRPr lang="en-US" sz="1700" b="1">
              <a:ea typeface="Calibri"/>
              <a:cs typeface="Calibri"/>
            </a:endParaRPr>
          </a:p>
        </p:txBody>
      </p:sp>
      <p:pic>
        <p:nvPicPr>
          <p:cNvPr id="5" name="Picture 4" descr="A screen shot of a graph&#10;&#10;AI-generated content may be incorrect.">
            <a:extLst>
              <a:ext uri="{FF2B5EF4-FFF2-40B4-BE49-F238E27FC236}">
                <a16:creationId xmlns:a16="http://schemas.microsoft.com/office/drawing/2014/main" id="{C8404A59-21A5-0014-D329-610A248F924B}"/>
              </a:ext>
            </a:extLst>
          </p:cNvPr>
          <p:cNvPicPr>
            <a:picLocks noChangeAspect="1"/>
          </p:cNvPicPr>
          <p:nvPr/>
        </p:nvPicPr>
        <p:blipFill>
          <a:blip r:embed="rId2"/>
          <a:stretch>
            <a:fillRect/>
          </a:stretch>
        </p:blipFill>
        <p:spPr>
          <a:xfrm>
            <a:off x="593066" y="2407576"/>
            <a:ext cx="7947085" cy="4447461"/>
          </a:xfrm>
          <a:prstGeom prst="rect">
            <a:avLst/>
          </a:prstGeom>
        </p:spPr>
      </p:pic>
    </p:spTree>
    <p:extLst>
      <p:ext uri="{BB962C8B-B14F-4D97-AF65-F5344CB8AC3E}">
        <p14:creationId xmlns:p14="http://schemas.microsoft.com/office/powerpoint/2010/main" val="27492308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02B01D-3807-B6D2-39DC-919E10AF27E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E5D3C29-86AE-C527-1241-9F563B0CFE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37DB1A5B-0287-F1A1-7D35-23C858124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FA603303-BA60-1F94-8E1A-357569300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556B88E0-C622-8472-4B08-28C25E843D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365EA6A6-76E0-0340-970A-D0865B5A0D8B}"/>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Interpret Results for Outlier</a:t>
            </a:r>
            <a:endParaRPr lang="en-CA" sz="2800">
              <a:solidFill>
                <a:srgbClr val="000000"/>
              </a:solidFill>
              <a:ea typeface="Calibri"/>
              <a:cs typeface="Calibri"/>
            </a:endParaRPr>
          </a:p>
        </p:txBody>
      </p:sp>
      <p:sp>
        <p:nvSpPr>
          <p:cNvPr id="3" name="Content Placeholder 2">
            <a:extLst>
              <a:ext uri="{FF2B5EF4-FFF2-40B4-BE49-F238E27FC236}">
                <a16:creationId xmlns:a16="http://schemas.microsoft.com/office/drawing/2014/main" id="{DC0D2B4E-7EC3-2EC8-C58A-AD4733A32BF1}"/>
              </a:ext>
            </a:extLst>
          </p:cNvPr>
          <p:cNvSpPr>
            <a:spLocks noGrp="1"/>
          </p:cNvSpPr>
          <p:nvPr>
            <p:ph idx="1"/>
          </p:nvPr>
        </p:nvSpPr>
        <p:spPr>
          <a:xfrm>
            <a:off x="657225" y="1861084"/>
            <a:ext cx="7779121" cy="4587976"/>
          </a:xfrm>
        </p:spPr>
        <p:txBody>
          <a:bodyPr vert="horz" lIns="91440" tIns="45720" rIns="91440" bIns="45720" rtlCol="0" anchor="t">
            <a:normAutofit/>
          </a:bodyPr>
          <a:lstStyle/>
          <a:p>
            <a:r>
              <a:rPr lang="en-US" sz="1600">
                <a:ea typeface="+mn-lt"/>
                <a:cs typeface="+mn-lt"/>
              </a:rPr>
              <a:t>Theft Trends by Speed</a:t>
            </a:r>
            <a:endParaRPr lang="en-US" sz="1600">
              <a:ea typeface="Calibri"/>
              <a:cs typeface="Calibri"/>
            </a:endParaRPr>
          </a:p>
          <a:p>
            <a:pPr lvl="1"/>
            <a:r>
              <a:rPr lang="en-US" sz="1600">
                <a:ea typeface="+mn-lt"/>
                <a:cs typeface="+mn-lt"/>
              </a:rPr>
              <a:t>Several outliers had very high bike speeds, such as 6.349 and 8.177, which stand out from the rest of the dataset. This may suggest unusual activity or potentially incorrect speed entries.</a:t>
            </a:r>
          </a:p>
          <a:p>
            <a:r>
              <a:rPr lang="en-US" sz="1600">
                <a:ea typeface="+mn-lt"/>
                <a:cs typeface="+mn-lt"/>
              </a:rPr>
              <a:t>Theft Trends by Cost</a:t>
            </a:r>
          </a:p>
          <a:p>
            <a:pPr lvl="1"/>
            <a:r>
              <a:rPr lang="en-US" sz="1600">
                <a:ea typeface="+mn-lt"/>
                <a:cs typeface="+mn-lt"/>
              </a:rPr>
              <a:t>Some thefts involved extremely high-value bikes, with costs reaching 7,237 and even 23,035. These bikes are far above the average and may have been targeted specifically due to their value.</a:t>
            </a:r>
          </a:p>
          <a:p>
            <a:r>
              <a:rPr lang="en-US" sz="1600">
                <a:ea typeface="+mn-lt"/>
                <a:cs typeface="+mn-lt"/>
              </a:rPr>
              <a:t>Theft Trends by Time</a:t>
            </a:r>
            <a:endParaRPr lang="en-US" sz="1600">
              <a:ea typeface="Calibri"/>
              <a:cs typeface="Calibri"/>
            </a:endParaRPr>
          </a:p>
          <a:p>
            <a:pPr lvl="1"/>
            <a:r>
              <a:rPr lang="en-US" sz="1600">
                <a:ea typeface="+mn-lt"/>
                <a:cs typeface="+mn-lt"/>
              </a:rPr>
              <a:t>Multiple outlier records had theft times occurring around early morning hours, represented by OCC_HOUR values like 7 in Morning and 3 in night, which is not common in typical theft patterns.</a:t>
            </a:r>
            <a:endParaRPr lang="en-US" sz="1600">
              <a:ea typeface="Calibri"/>
              <a:cs typeface="Calibri"/>
            </a:endParaRPr>
          </a:p>
          <a:p>
            <a:r>
              <a:rPr lang="en-US" sz="1600">
                <a:ea typeface="+mn-lt"/>
                <a:cs typeface="+mn-lt"/>
              </a:rPr>
              <a:t>Theft Trends by Location</a:t>
            </a:r>
            <a:endParaRPr lang="en-US" sz="1600">
              <a:ea typeface="Calibri"/>
              <a:cs typeface="Calibri"/>
            </a:endParaRPr>
          </a:p>
          <a:p>
            <a:pPr lvl="1"/>
            <a:r>
              <a:rPr lang="en-US" sz="1600">
                <a:ea typeface="+mn-lt"/>
                <a:cs typeface="+mn-lt"/>
              </a:rPr>
              <a:t>Outlier events occurred in uncommon or distant locations, as seen from LAT_WGS84 values like 2.913 and 3.255. These locations were far from the typical clusters of thefts and may indicate isolated or special cases.</a:t>
            </a:r>
            <a:endParaRPr lang="en-US" sz="1600">
              <a:ea typeface="Calibri"/>
              <a:cs typeface="Calibri"/>
            </a:endParaRPr>
          </a:p>
          <a:p>
            <a:endParaRPr lang="en-US" sz="1600">
              <a:ea typeface="Calibri"/>
              <a:cs typeface="Calibri"/>
            </a:endParaRPr>
          </a:p>
        </p:txBody>
      </p:sp>
    </p:spTree>
    <p:extLst>
      <p:ext uri="{BB962C8B-B14F-4D97-AF65-F5344CB8AC3E}">
        <p14:creationId xmlns:p14="http://schemas.microsoft.com/office/powerpoint/2010/main" val="36834573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F5D10F-1D67-9666-08FE-790DF5BD5C7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170CF51-3D26-0570-F8AC-254FDF0E0B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EA2A9355-767D-2168-037E-D984A8E75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8C210E2B-B0D3-E50D-00AF-C8994E5E7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A34D8020-E19C-CD9D-D637-1EB1CD8A5C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5F37067E-BC60-039C-75E6-5BD721C28330}"/>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Review Process for Outlier</a:t>
            </a:r>
            <a:endParaRPr lang="en-CA" sz="2800">
              <a:solidFill>
                <a:srgbClr val="000000"/>
              </a:solidFill>
              <a:ea typeface="Calibri"/>
              <a:cs typeface="Calibri"/>
            </a:endParaRPr>
          </a:p>
        </p:txBody>
      </p:sp>
      <p:sp>
        <p:nvSpPr>
          <p:cNvPr id="3" name="Content Placeholder 2">
            <a:extLst>
              <a:ext uri="{FF2B5EF4-FFF2-40B4-BE49-F238E27FC236}">
                <a16:creationId xmlns:a16="http://schemas.microsoft.com/office/drawing/2014/main" id="{6EEC9BBD-07F5-EA1C-A4AB-CFECA340D8ED}"/>
              </a:ext>
            </a:extLst>
          </p:cNvPr>
          <p:cNvSpPr>
            <a:spLocks noGrp="1"/>
          </p:cNvSpPr>
          <p:nvPr>
            <p:ph idx="1"/>
          </p:nvPr>
        </p:nvSpPr>
        <p:spPr>
          <a:xfrm>
            <a:off x="657225" y="1861084"/>
            <a:ext cx="7779121" cy="4587976"/>
          </a:xfrm>
        </p:spPr>
        <p:txBody>
          <a:bodyPr vert="horz" lIns="91440" tIns="45720" rIns="91440" bIns="45720" rtlCol="0" anchor="t">
            <a:noAutofit/>
          </a:bodyPr>
          <a:lstStyle/>
          <a:p>
            <a:pPr marL="0" indent="0">
              <a:buNone/>
            </a:pPr>
            <a:r>
              <a:rPr lang="en-US" sz="1400">
                <a:ea typeface="+mn-lt"/>
                <a:cs typeface="+mn-lt"/>
              </a:rPr>
              <a:t>The review process involved evaluating the outlier detection results from two different unsupervised machine learning models — Local Outlier Factor (LOF) and Isolation Forest (ISF) — to ensure accuracy and consistency in identifying abnormal theft records.</a:t>
            </a:r>
            <a:endParaRPr lang="en-US" sz="1400">
              <a:ea typeface="Calibri"/>
              <a:cs typeface="Calibri"/>
            </a:endParaRPr>
          </a:p>
          <a:p>
            <a:pPr marL="0" indent="0">
              <a:buNone/>
            </a:pPr>
            <a:r>
              <a:rPr lang="en-US" sz="1400">
                <a:ea typeface="+mn-lt"/>
                <a:cs typeface="+mn-lt"/>
              </a:rPr>
              <a:t>The process included the following steps:</a:t>
            </a:r>
            <a:endParaRPr lang="en-US" sz="1400">
              <a:ea typeface="Calibri"/>
              <a:cs typeface="Calibri"/>
            </a:endParaRPr>
          </a:p>
          <a:p>
            <a:pPr>
              <a:buAutoNum type="arabicPeriod"/>
            </a:pPr>
            <a:r>
              <a:rPr lang="en-US" sz="1400">
                <a:ea typeface="+mn-lt"/>
                <a:cs typeface="+mn-lt"/>
              </a:rPr>
              <a:t>Independent Model Execution</a:t>
            </a:r>
            <a:endParaRPr lang="en-US" sz="1400">
              <a:ea typeface="Calibri"/>
              <a:cs typeface="Calibri"/>
            </a:endParaRPr>
          </a:p>
          <a:p>
            <a:pPr lvl="1">
              <a:buFont typeface="Courier New"/>
              <a:buChar char="o"/>
            </a:pPr>
            <a:r>
              <a:rPr lang="en-US" sz="1400">
                <a:ea typeface="+mn-lt"/>
                <a:cs typeface="+mn-lt"/>
              </a:rPr>
              <a:t>LOF and ISF were each applied to the dataset using separate subprocesses. Each model generated its own outlier labels based on their unique algorithmic logic.</a:t>
            </a:r>
          </a:p>
          <a:p>
            <a:pPr>
              <a:buAutoNum type="arabicPeriod"/>
            </a:pPr>
            <a:r>
              <a:rPr lang="en-US" sz="1400">
                <a:ea typeface="+mn-lt"/>
                <a:cs typeface="+mn-lt"/>
              </a:rPr>
              <a:t>Filtering Based on Thresholds</a:t>
            </a:r>
            <a:endParaRPr lang="en-US" sz="1400">
              <a:ea typeface="Calibri"/>
              <a:cs typeface="Calibri"/>
            </a:endParaRPr>
          </a:p>
          <a:p>
            <a:pPr lvl="1">
              <a:buFont typeface="Courier New"/>
              <a:buChar char="o"/>
            </a:pPr>
            <a:r>
              <a:rPr lang="en-US" sz="1400">
                <a:ea typeface="+mn-lt"/>
                <a:cs typeface="+mn-lt"/>
              </a:rPr>
              <a:t>LOF outliers were filtered using a threshold of LOF score &gt; 1.5</a:t>
            </a:r>
            <a:endParaRPr lang="en-US" sz="1400">
              <a:ea typeface="Calibri"/>
              <a:cs typeface="Calibri"/>
            </a:endParaRPr>
          </a:p>
          <a:p>
            <a:pPr lvl="1">
              <a:buFont typeface="Courier New"/>
              <a:buChar char="o"/>
            </a:pPr>
            <a:r>
              <a:rPr lang="en-US" sz="1400">
                <a:ea typeface="+mn-lt"/>
                <a:cs typeface="+mn-lt"/>
              </a:rPr>
              <a:t>ISF outliers were filtered using a threshold of Prediction score ≥ 0.60</a:t>
            </a:r>
            <a:endParaRPr lang="en-US" sz="1400">
              <a:ea typeface="Calibri"/>
              <a:cs typeface="Calibri"/>
            </a:endParaRPr>
          </a:p>
          <a:p>
            <a:pPr>
              <a:buAutoNum type="arabicPeriod"/>
            </a:pPr>
            <a:r>
              <a:rPr lang="en-US" sz="1400">
                <a:ea typeface="+mn-lt"/>
                <a:cs typeface="+mn-lt"/>
              </a:rPr>
              <a:t>Joining the Results</a:t>
            </a:r>
            <a:endParaRPr lang="en-US" sz="1400">
              <a:ea typeface="Calibri"/>
              <a:cs typeface="Calibri"/>
            </a:endParaRPr>
          </a:p>
          <a:p>
            <a:pPr lvl="1">
              <a:buFont typeface="Courier New"/>
              <a:buChar char="o"/>
            </a:pPr>
            <a:r>
              <a:rPr lang="en-US" sz="1400">
                <a:ea typeface="+mn-lt"/>
                <a:cs typeface="+mn-lt"/>
              </a:rPr>
              <a:t>The outputs from both models were joined using the unique event ID, and a Filter Examples operator was used to extract only those rows that were marked as outliers by both models.</a:t>
            </a:r>
          </a:p>
          <a:p>
            <a:pPr>
              <a:buAutoNum type="arabicPeriod"/>
            </a:pPr>
            <a:r>
              <a:rPr lang="en-US" sz="1400">
                <a:ea typeface="+mn-lt"/>
                <a:cs typeface="+mn-lt"/>
              </a:rPr>
              <a:t>Manual Review of Outlier Records</a:t>
            </a:r>
          </a:p>
          <a:p>
            <a:pPr marL="457200" lvl="1" indent="0">
              <a:buNone/>
            </a:pPr>
            <a:r>
              <a:rPr lang="en-US" sz="1400">
                <a:ea typeface="+mn-lt"/>
                <a:cs typeface="+mn-lt"/>
              </a:rPr>
              <a:t>The filtered outlier list was manually reviewed to observe patterns in: Bike cost, Speed, Theft time (OCC_HOUR), Location (LAT_WGS84).</a:t>
            </a:r>
            <a:endParaRPr lang="en-US" sz="1400">
              <a:ea typeface="Calibri"/>
              <a:cs typeface="Calibri"/>
            </a:endParaRPr>
          </a:p>
          <a:p>
            <a:pPr>
              <a:buAutoNum type="arabicPeriod"/>
            </a:pPr>
            <a:r>
              <a:rPr lang="en-US" sz="1400">
                <a:ea typeface="+mn-lt"/>
                <a:cs typeface="+mn-lt"/>
              </a:rPr>
              <a:t>Interpretation Based on Patterns</a:t>
            </a:r>
            <a:endParaRPr lang="en-US" sz="1400">
              <a:ea typeface="Calibri"/>
              <a:cs typeface="Calibri"/>
            </a:endParaRPr>
          </a:p>
          <a:p>
            <a:pPr lvl="1">
              <a:buFont typeface="Courier New"/>
              <a:buChar char="o"/>
            </a:pPr>
            <a:r>
              <a:rPr lang="en-US" sz="1400">
                <a:ea typeface="+mn-lt"/>
                <a:cs typeface="+mn-lt"/>
              </a:rPr>
              <a:t>Patterns were then categorized by trends in speed, cost, time, and location to explain why each record was considered an outlier.</a:t>
            </a:r>
          </a:p>
        </p:txBody>
      </p:sp>
    </p:spTree>
    <p:extLst>
      <p:ext uri="{BB962C8B-B14F-4D97-AF65-F5344CB8AC3E}">
        <p14:creationId xmlns:p14="http://schemas.microsoft.com/office/powerpoint/2010/main" val="12938171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C5738F-4011-F712-96BC-D6B6E633F26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EDE6C52-4E12-6C4B-59F4-0A4A44E786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EF1B1E36-0E05-5561-9B3B-229A76550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32DBD673-414F-2AA1-1A99-2E7410F73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9A706DDE-348A-AFA8-C9A7-43DC352E6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2D58B1E3-549E-71EE-1D80-C7A937111901}"/>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Next Steps for Outlier</a:t>
            </a:r>
            <a:endParaRPr lang="en-CA" sz="2800">
              <a:solidFill>
                <a:srgbClr val="000000"/>
              </a:solidFill>
              <a:ea typeface="Calibri"/>
              <a:cs typeface="Calibri"/>
            </a:endParaRPr>
          </a:p>
        </p:txBody>
      </p:sp>
      <p:sp>
        <p:nvSpPr>
          <p:cNvPr id="3" name="Content Placeholder 2">
            <a:extLst>
              <a:ext uri="{FF2B5EF4-FFF2-40B4-BE49-F238E27FC236}">
                <a16:creationId xmlns:a16="http://schemas.microsoft.com/office/drawing/2014/main" id="{624B34AE-E235-464B-7841-E9E8A26A5259}"/>
              </a:ext>
            </a:extLst>
          </p:cNvPr>
          <p:cNvSpPr>
            <a:spLocks noGrp="1"/>
          </p:cNvSpPr>
          <p:nvPr>
            <p:ph idx="1"/>
          </p:nvPr>
        </p:nvSpPr>
        <p:spPr>
          <a:xfrm>
            <a:off x="657225" y="1861084"/>
            <a:ext cx="7779121" cy="4587976"/>
          </a:xfrm>
        </p:spPr>
        <p:txBody>
          <a:bodyPr vert="horz" lIns="91440" tIns="45720" rIns="91440" bIns="45720" rtlCol="0" anchor="t">
            <a:noAutofit/>
          </a:bodyPr>
          <a:lstStyle/>
          <a:p>
            <a:pPr marL="0" indent="0">
              <a:buNone/>
            </a:pPr>
            <a:r>
              <a:rPr lang="en-US" sz="1800">
                <a:ea typeface="+mn-lt"/>
                <a:cs typeface="+mn-lt"/>
              </a:rPr>
              <a:t>Next Steps for Improving Analysis and Theft Prevention: </a:t>
            </a:r>
            <a:endParaRPr lang="en-US" sz="1800"/>
          </a:p>
          <a:p>
            <a:pPr marL="0" indent="0">
              <a:buNone/>
            </a:pPr>
            <a:r>
              <a:rPr lang="en-US" sz="1600">
                <a:ea typeface="+mn-lt"/>
                <a:cs typeface="+mn-lt"/>
              </a:rPr>
              <a:t>Incorporate Additional Data Sources:</a:t>
            </a:r>
          </a:p>
          <a:p>
            <a:pPr marL="0" indent="0">
              <a:buNone/>
            </a:pPr>
            <a:r>
              <a:rPr lang="en-US" sz="1600">
                <a:ea typeface="+mn-lt"/>
                <a:cs typeface="+mn-lt"/>
              </a:rPr>
              <a:t> Bring in external datasets such as:</a:t>
            </a:r>
            <a:endParaRPr lang="en-US" sz="1600">
              <a:ea typeface="Calibri"/>
              <a:cs typeface="Calibri"/>
            </a:endParaRPr>
          </a:p>
          <a:p>
            <a:pPr lvl="1"/>
            <a:r>
              <a:rPr lang="en-US" sz="1600">
                <a:ea typeface="+mn-lt"/>
                <a:cs typeface="+mn-lt"/>
              </a:rPr>
              <a:t>Weather conditions</a:t>
            </a:r>
            <a:endParaRPr lang="en-US" sz="1600">
              <a:ea typeface="Calibri"/>
              <a:cs typeface="Calibri"/>
            </a:endParaRPr>
          </a:p>
          <a:p>
            <a:pPr lvl="1"/>
            <a:r>
              <a:rPr lang="en-US" sz="1600">
                <a:ea typeface="+mn-lt"/>
                <a:cs typeface="+mn-lt"/>
              </a:rPr>
              <a:t>Holiday or event calendars</a:t>
            </a:r>
            <a:endParaRPr lang="en-US" sz="1600">
              <a:ea typeface="Calibri"/>
              <a:cs typeface="Calibri"/>
            </a:endParaRPr>
          </a:p>
          <a:p>
            <a:pPr lvl="1"/>
            <a:r>
              <a:rPr lang="en-US" sz="1600">
                <a:ea typeface="+mn-lt"/>
                <a:cs typeface="+mn-lt"/>
              </a:rPr>
              <a:t>Police incident reports</a:t>
            </a:r>
            <a:endParaRPr lang="en-US" sz="1600">
              <a:ea typeface="Calibri"/>
              <a:cs typeface="Calibri"/>
            </a:endParaRPr>
          </a:p>
          <a:p>
            <a:pPr lvl="1"/>
            <a:r>
              <a:rPr lang="en-US" sz="1600">
                <a:ea typeface="+mn-lt"/>
                <a:cs typeface="+mn-lt"/>
              </a:rPr>
              <a:t>to explore correlations with theft spikes or anomalies.</a:t>
            </a:r>
          </a:p>
          <a:p>
            <a:pPr marL="0" indent="0">
              <a:buNone/>
            </a:pPr>
            <a:r>
              <a:rPr lang="en-US" sz="1600">
                <a:ea typeface="+mn-lt"/>
                <a:cs typeface="+mn-lt"/>
              </a:rPr>
              <a:t>Improve Data Quality:</a:t>
            </a:r>
            <a:endParaRPr lang="en-US" sz="1600">
              <a:ea typeface="Calibri"/>
              <a:cs typeface="Calibri"/>
            </a:endParaRPr>
          </a:p>
          <a:p>
            <a:pPr marL="0" indent="0">
              <a:buNone/>
            </a:pPr>
            <a:r>
              <a:rPr lang="en-US" sz="1600">
                <a:ea typeface="+mn-lt"/>
                <a:cs typeface="+mn-lt"/>
              </a:rPr>
              <a:t> Address records with:</a:t>
            </a:r>
            <a:endParaRPr lang="en-US" sz="1600">
              <a:ea typeface="Calibri"/>
              <a:cs typeface="Calibri"/>
            </a:endParaRPr>
          </a:p>
          <a:p>
            <a:pPr lvl="1"/>
            <a:r>
              <a:rPr lang="en-US" sz="1600">
                <a:ea typeface="+mn-lt"/>
                <a:cs typeface="+mn-lt"/>
              </a:rPr>
              <a:t>Incomplete timestamps</a:t>
            </a:r>
            <a:endParaRPr lang="en-US" sz="1600">
              <a:ea typeface="Calibri"/>
              <a:cs typeface="Calibri"/>
            </a:endParaRPr>
          </a:p>
          <a:p>
            <a:pPr lvl="1"/>
            <a:r>
              <a:rPr lang="en-US" sz="1600">
                <a:ea typeface="+mn-lt"/>
                <a:cs typeface="+mn-lt"/>
              </a:rPr>
              <a:t>Negative or extreme speed values</a:t>
            </a:r>
            <a:endParaRPr lang="en-US" sz="1600">
              <a:ea typeface="Calibri"/>
              <a:cs typeface="Calibri"/>
            </a:endParaRPr>
          </a:p>
          <a:p>
            <a:pPr lvl="1"/>
            <a:r>
              <a:rPr lang="en-US" sz="1600">
                <a:ea typeface="+mn-lt"/>
                <a:cs typeface="+mn-lt"/>
              </a:rPr>
              <a:t>Missing or inaccurate locations</a:t>
            </a:r>
            <a:endParaRPr lang="en-US" sz="1600">
              <a:ea typeface="Calibri"/>
              <a:cs typeface="Calibri"/>
            </a:endParaRPr>
          </a:p>
          <a:p>
            <a:pPr lvl="1"/>
            <a:r>
              <a:rPr lang="en-US" sz="1600">
                <a:ea typeface="+mn-lt"/>
                <a:cs typeface="+mn-lt"/>
              </a:rPr>
              <a:t>This ensures outliers reflect real patterns and not just dirty data.</a:t>
            </a:r>
            <a:endParaRPr lang="en-US" sz="1600">
              <a:ea typeface="Calibri"/>
              <a:cs typeface="Calibri"/>
            </a:endParaRPr>
          </a:p>
          <a:p>
            <a:pPr lvl="1"/>
            <a:endParaRPr lang="en-US" sz="1600">
              <a:ea typeface="Calibri"/>
              <a:cs typeface="Calibri"/>
            </a:endParaRPr>
          </a:p>
        </p:txBody>
      </p:sp>
    </p:spTree>
    <p:extLst>
      <p:ext uri="{BB962C8B-B14F-4D97-AF65-F5344CB8AC3E}">
        <p14:creationId xmlns:p14="http://schemas.microsoft.com/office/powerpoint/2010/main" val="11701468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B9A1DE-0794-FCA4-4AEA-D5E74DB60A0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3E5D1C8-BEF4-965F-9112-72D006B23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768"/>
            <a:ext cx="9151630" cy="1519356"/>
            <a:chOff x="-1" y="-29768"/>
            <a:chExt cx="12202175" cy="1519356"/>
          </a:xfrm>
        </p:grpSpPr>
        <p:sp>
          <p:nvSpPr>
            <p:cNvPr id="16" name="Rectangle 15">
              <a:extLst>
                <a:ext uri="{FF2B5EF4-FFF2-40B4-BE49-F238E27FC236}">
                  <a16:creationId xmlns:a16="http://schemas.microsoft.com/office/drawing/2014/main" id="{3A0586B4-91F5-B6F8-1B51-498C52B33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4145BD5C-3792-D27E-9A4E-5921988522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1FEE968C-8A1B-8E0A-EAB7-5D1D9B3C1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5B4E2C37-498E-3B95-354A-345618538F2A}"/>
              </a:ext>
            </a:extLst>
          </p:cNvPr>
          <p:cNvSpPr>
            <a:spLocks noGrp="1"/>
          </p:cNvSpPr>
          <p:nvPr>
            <p:ph type="title"/>
          </p:nvPr>
        </p:nvSpPr>
        <p:spPr>
          <a:xfrm>
            <a:off x="657518" y="301843"/>
            <a:ext cx="7857832" cy="1003532"/>
          </a:xfrm>
        </p:spPr>
        <p:txBody>
          <a:bodyPr anchor="ctr">
            <a:normAutofit/>
          </a:bodyPr>
          <a:lstStyle/>
          <a:p>
            <a:r>
              <a:rPr lang="en-CA" sz="2800">
                <a:solidFill>
                  <a:srgbClr val="FFFFFF"/>
                </a:solidFill>
                <a:ea typeface="Calibri"/>
                <a:cs typeface="Calibri"/>
              </a:rPr>
              <a:t>Next Steps for Outlier</a:t>
            </a:r>
            <a:endParaRPr lang="en-CA" sz="2800">
              <a:solidFill>
                <a:srgbClr val="000000"/>
              </a:solidFill>
              <a:ea typeface="Calibri"/>
              <a:cs typeface="Calibri"/>
            </a:endParaRPr>
          </a:p>
        </p:txBody>
      </p:sp>
      <p:sp>
        <p:nvSpPr>
          <p:cNvPr id="3" name="Content Placeholder 2">
            <a:extLst>
              <a:ext uri="{FF2B5EF4-FFF2-40B4-BE49-F238E27FC236}">
                <a16:creationId xmlns:a16="http://schemas.microsoft.com/office/drawing/2014/main" id="{45871250-E0E2-0F68-CAE6-3233A963D910}"/>
              </a:ext>
            </a:extLst>
          </p:cNvPr>
          <p:cNvSpPr>
            <a:spLocks noGrp="1"/>
          </p:cNvSpPr>
          <p:nvPr>
            <p:ph idx="1"/>
          </p:nvPr>
        </p:nvSpPr>
        <p:spPr>
          <a:xfrm>
            <a:off x="657225" y="1861084"/>
            <a:ext cx="7779121" cy="4587976"/>
          </a:xfrm>
        </p:spPr>
        <p:txBody>
          <a:bodyPr vert="horz" lIns="91440" tIns="45720" rIns="91440" bIns="45720" rtlCol="0" anchor="t">
            <a:noAutofit/>
          </a:bodyPr>
          <a:lstStyle/>
          <a:p>
            <a:r>
              <a:rPr lang="en-US" sz="2000"/>
              <a:t>Map Risk Zones Using Outlier Locations:</a:t>
            </a:r>
            <a:endParaRPr lang="en-US" sz="2000">
              <a:ea typeface="Calibri"/>
              <a:cs typeface="Calibri"/>
            </a:endParaRPr>
          </a:p>
          <a:p>
            <a:pPr lvl="1"/>
            <a:r>
              <a:rPr lang="en-US" sz="1600"/>
              <a:t>Use outlier latitude/longitude data to mark high-risk or uncommon theft areas and recommend preventive measures like:</a:t>
            </a:r>
            <a:endParaRPr lang="en-US" sz="1600">
              <a:ea typeface="Calibri"/>
              <a:cs typeface="Calibri"/>
            </a:endParaRPr>
          </a:p>
          <a:p>
            <a:pPr lvl="1"/>
            <a:r>
              <a:rPr lang="en-US" sz="1600"/>
              <a:t>Increased surveillance</a:t>
            </a:r>
            <a:endParaRPr lang="en-US" sz="1600">
              <a:ea typeface="Calibri"/>
              <a:cs typeface="Calibri"/>
            </a:endParaRPr>
          </a:p>
          <a:p>
            <a:pPr lvl="1"/>
            <a:r>
              <a:rPr lang="en-US" sz="1600"/>
              <a:t>Community alerts</a:t>
            </a:r>
            <a:endParaRPr lang="en-US" sz="1600">
              <a:ea typeface="Calibri"/>
              <a:cs typeface="Calibri"/>
            </a:endParaRPr>
          </a:p>
          <a:p>
            <a:pPr lvl="1"/>
            <a:r>
              <a:rPr lang="en-US" sz="1600"/>
              <a:t>Bike locker installation</a:t>
            </a:r>
            <a:endParaRPr lang="en-US" sz="1600">
              <a:ea typeface="Calibri"/>
              <a:cs typeface="Calibri"/>
            </a:endParaRPr>
          </a:p>
          <a:p>
            <a:pPr lvl="1"/>
            <a:endParaRPr lang="en-US" sz="1600"/>
          </a:p>
          <a:p>
            <a:pPr lvl="1"/>
            <a:endParaRPr lang="en-US" sz="1600"/>
          </a:p>
          <a:p>
            <a:r>
              <a:rPr lang="en-US" sz="2000"/>
              <a:t>Develop Predictive Models:</a:t>
            </a:r>
            <a:endParaRPr lang="en-US" sz="2000">
              <a:ea typeface="Calibri"/>
              <a:cs typeface="Calibri"/>
            </a:endParaRPr>
          </a:p>
          <a:p>
            <a:pPr lvl="1"/>
            <a:r>
              <a:rPr lang="en-US" sz="1600">
                <a:ea typeface="+mn-lt"/>
                <a:cs typeface="+mn-lt"/>
              </a:rPr>
              <a:t>Use historical theft data (and confirmed outliers) to build models that:</a:t>
            </a:r>
            <a:endParaRPr lang="en-US" sz="1600">
              <a:ea typeface="Calibri"/>
              <a:cs typeface="Calibri"/>
            </a:endParaRPr>
          </a:p>
          <a:p>
            <a:pPr lvl="1"/>
            <a:r>
              <a:rPr lang="en-US" sz="1600">
                <a:ea typeface="+mn-lt"/>
                <a:cs typeface="+mn-lt"/>
              </a:rPr>
              <a:t>Predict future theft hotspots</a:t>
            </a:r>
          </a:p>
          <a:p>
            <a:pPr lvl="1"/>
            <a:r>
              <a:rPr lang="en-US" sz="1600">
                <a:ea typeface="+mn-lt"/>
                <a:cs typeface="+mn-lt"/>
              </a:rPr>
              <a:t>Alert authorities or users in advance</a:t>
            </a:r>
          </a:p>
          <a:p>
            <a:endParaRPr lang="en-US" sz="1600">
              <a:ea typeface="Calibri"/>
              <a:cs typeface="Calibri"/>
            </a:endParaRPr>
          </a:p>
        </p:txBody>
      </p:sp>
    </p:spTree>
    <p:extLst>
      <p:ext uri="{BB962C8B-B14F-4D97-AF65-F5344CB8AC3E}">
        <p14:creationId xmlns:p14="http://schemas.microsoft.com/office/powerpoint/2010/main" val="8431038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7.0 Conclusion</a:t>
            </a:r>
          </a:p>
        </p:txBody>
      </p:sp>
      <p:sp>
        <p:nvSpPr>
          <p:cNvPr id="3" name="Content Placeholder 2"/>
          <p:cNvSpPr>
            <a:spLocks noGrp="1"/>
          </p:cNvSpPr>
          <p:nvPr>
            <p:ph idx="1"/>
          </p:nvPr>
        </p:nvSpPr>
        <p:spPr>
          <a:xfrm>
            <a:off x="457200" y="1445014"/>
            <a:ext cx="8229600" cy="4681149"/>
          </a:xfrm>
        </p:spPr>
        <p:txBody>
          <a:bodyPr vert="horz" lIns="91440" tIns="45720" rIns="91440" bIns="45720" rtlCol="0" anchor="t">
            <a:normAutofit/>
          </a:bodyPr>
          <a:lstStyle/>
          <a:p>
            <a:pPr marL="0" indent="0">
              <a:buNone/>
            </a:pPr>
            <a:r>
              <a:rPr lang="en-US" sz="1800" b="1">
                <a:latin typeface="Aptos"/>
                <a:ea typeface="Calibri"/>
                <a:cs typeface="Calibri"/>
              </a:rPr>
              <a:t>Understanding Bicycle Theft Risk in Toronto</a:t>
            </a:r>
            <a:endParaRPr lang="en-US" sz="1800" b="1">
              <a:latin typeface="Aptos"/>
            </a:endParaRPr>
          </a:p>
          <a:p>
            <a:pPr marL="0" indent="0">
              <a:buNone/>
            </a:pPr>
            <a:endParaRPr lang="en-US" sz="1800" b="1">
              <a:latin typeface="Aptos"/>
              <a:ea typeface="Calibri"/>
              <a:cs typeface="Calibri"/>
            </a:endParaRPr>
          </a:p>
          <a:p>
            <a:pPr>
              <a:buFont typeface="Wingdings"/>
              <a:buChar char="Ø"/>
            </a:pPr>
            <a:r>
              <a:rPr lang="en-US" sz="1600" b="1">
                <a:latin typeface="Aptos"/>
                <a:ea typeface="Calibri"/>
                <a:cs typeface="Calibri"/>
              </a:rPr>
              <a:t>Objective:</a:t>
            </a:r>
            <a:endParaRPr lang="en-US" sz="1600" b="1">
              <a:latin typeface="Aptos"/>
            </a:endParaRPr>
          </a:p>
          <a:p>
            <a:pPr lvl="1">
              <a:buFont typeface="Wingdings"/>
              <a:buChar char="ü"/>
            </a:pPr>
            <a:r>
              <a:rPr lang="en-US" sz="1400">
                <a:latin typeface="Aptos"/>
              </a:rPr>
              <a:t>Analyze bicycle theft risk across </a:t>
            </a:r>
            <a:r>
              <a:rPr lang="en-CA" sz="1400">
                <a:latin typeface="Aptos"/>
              </a:rPr>
              <a:t>Low, Medium, </a:t>
            </a:r>
            <a:r>
              <a:rPr lang="en-US" sz="1400">
                <a:latin typeface="Aptos"/>
              </a:rPr>
              <a:t>and High-cost classes using </a:t>
            </a:r>
            <a:r>
              <a:rPr lang="en-CA" sz="1400">
                <a:latin typeface="Aptos"/>
              </a:rPr>
              <a:t>location, time, and date. </a:t>
            </a:r>
            <a:endParaRPr lang="en-US" sz="1400">
              <a:latin typeface="Aptos"/>
              <a:ea typeface="Calibri"/>
              <a:cs typeface="Calibri"/>
            </a:endParaRPr>
          </a:p>
          <a:p>
            <a:pPr>
              <a:buFont typeface="Wingdings"/>
              <a:buChar char="Ø"/>
            </a:pPr>
            <a:endParaRPr lang="en-US" sz="1600">
              <a:latin typeface="Aptos"/>
            </a:endParaRPr>
          </a:p>
          <a:p>
            <a:pPr>
              <a:buFont typeface="Wingdings"/>
              <a:buChar char="Ø"/>
            </a:pPr>
            <a:r>
              <a:rPr lang="en-US" sz="1600" b="1">
                <a:latin typeface="Aptos"/>
                <a:ea typeface="Calibri"/>
                <a:cs typeface="Calibri"/>
              </a:rPr>
              <a:t>Key Findings:</a:t>
            </a:r>
            <a:endParaRPr lang="en-US" sz="1600" b="1">
              <a:latin typeface="Aptos"/>
            </a:endParaRPr>
          </a:p>
          <a:p>
            <a:pPr lvl="1">
              <a:buFont typeface="Wingdings"/>
              <a:buChar char="ü"/>
            </a:pPr>
            <a:r>
              <a:rPr lang="en-US" sz="1400">
                <a:latin typeface="Aptos"/>
              </a:rPr>
              <a:t>High-risk areas and peak theft hours identified through K-Nearest Neighbors (KNN), Decision Trees, Clustering, and Outlier Detection.</a:t>
            </a:r>
            <a:endParaRPr lang="en-US" sz="1400">
              <a:latin typeface="Aptos"/>
              <a:ea typeface="Calibri"/>
              <a:cs typeface="Calibri"/>
            </a:endParaRPr>
          </a:p>
          <a:p>
            <a:pPr lvl="1">
              <a:buFont typeface="Wingdings"/>
              <a:buChar char="ü"/>
            </a:pPr>
            <a:r>
              <a:rPr lang="en-US" sz="1400">
                <a:latin typeface="Aptos"/>
                <a:ea typeface="Calibri"/>
                <a:cs typeface="Calibri"/>
              </a:rPr>
              <a:t>Seasonal trends and bike value correlation observed, </a:t>
            </a:r>
            <a:r>
              <a:rPr lang="en-US" sz="1400">
                <a:latin typeface="Aptos"/>
              </a:rPr>
              <a:t>with</a:t>
            </a:r>
            <a:r>
              <a:rPr lang="en-CA" sz="1400">
                <a:latin typeface="Aptos"/>
              </a:rPr>
              <a:t> higher-cost </a:t>
            </a:r>
            <a:r>
              <a:rPr lang="en-US" sz="1400">
                <a:latin typeface="Aptos"/>
              </a:rPr>
              <a:t>bike </a:t>
            </a:r>
            <a:r>
              <a:rPr lang="en-CA" sz="1400">
                <a:latin typeface="Aptos"/>
              </a:rPr>
              <a:t>targeted </a:t>
            </a:r>
            <a:r>
              <a:rPr lang="en-US" sz="1400">
                <a:latin typeface="Aptos"/>
              </a:rPr>
              <a:t>more </a:t>
            </a:r>
            <a:r>
              <a:rPr lang="en-CA" sz="1400">
                <a:latin typeface="Aptos"/>
              </a:rPr>
              <a:t>in</a:t>
            </a:r>
            <a:r>
              <a:rPr lang="en-US" sz="1400">
                <a:latin typeface="Aptos"/>
              </a:rPr>
              <a:t> certain locations/</a:t>
            </a:r>
            <a:r>
              <a:rPr lang="en-CA" sz="1400">
                <a:latin typeface="Aptos"/>
              </a:rPr>
              <a:t>times.</a:t>
            </a:r>
            <a:endParaRPr lang="en-CA" sz="1400">
              <a:latin typeface="Aptos"/>
              <a:ea typeface="Calibri"/>
              <a:cs typeface="Calibri"/>
            </a:endParaRPr>
          </a:p>
          <a:p>
            <a:pPr lvl="1">
              <a:buFont typeface="Wingdings"/>
              <a:buChar char="ü"/>
            </a:pPr>
            <a:r>
              <a:rPr lang="en-US" sz="1400">
                <a:latin typeface="Aptos"/>
                <a:ea typeface="Calibri"/>
                <a:cs typeface="Calibri"/>
              </a:rPr>
              <a:t>Outlier detection revealed unusual theft patterns.</a:t>
            </a:r>
          </a:p>
          <a:p>
            <a:pPr lvl="1">
              <a:buFont typeface="Wingdings"/>
              <a:buChar char="ü"/>
            </a:pPr>
            <a:endParaRPr lang="en-US" sz="1400">
              <a:latin typeface="Aptos"/>
              <a:ea typeface="Calibri"/>
              <a:cs typeface="Calibri"/>
            </a:endParaRPr>
          </a:p>
          <a:p>
            <a:pPr>
              <a:buFont typeface="Wingdings"/>
              <a:buChar char="Ø"/>
            </a:pPr>
            <a:r>
              <a:rPr lang="en-US" sz="1600" b="1">
                <a:latin typeface="Aptos"/>
                <a:ea typeface="Calibri"/>
                <a:cs typeface="Calibri"/>
              </a:rPr>
              <a:t>Practical Implications:</a:t>
            </a:r>
            <a:endParaRPr lang="en-US" sz="1600" b="1">
              <a:latin typeface="Aptos"/>
            </a:endParaRPr>
          </a:p>
          <a:p>
            <a:pPr lvl="1">
              <a:buFont typeface="Wingdings"/>
              <a:buChar char="ü"/>
            </a:pPr>
            <a:r>
              <a:rPr lang="en-CA" sz="1400">
                <a:latin typeface="Aptos"/>
              </a:rPr>
              <a:t>Cyclists can</a:t>
            </a:r>
            <a:r>
              <a:rPr lang="en-US" sz="1400">
                <a:latin typeface="Aptos"/>
              </a:rPr>
              <a:t> make informed</a:t>
            </a:r>
            <a:r>
              <a:rPr lang="en-CA" sz="1400">
                <a:latin typeface="Aptos"/>
              </a:rPr>
              <a:t> decisions </a:t>
            </a:r>
            <a:r>
              <a:rPr lang="en-US" sz="1400">
                <a:latin typeface="Aptos"/>
              </a:rPr>
              <a:t>on safe parking locations and times.</a:t>
            </a:r>
            <a:endParaRPr lang="en-US" sz="1400">
              <a:latin typeface="Aptos"/>
              <a:ea typeface="Calibri"/>
              <a:cs typeface="Calibri"/>
            </a:endParaRPr>
          </a:p>
          <a:p>
            <a:pPr lvl="1">
              <a:buFont typeface="Wingdings"/>
              <a:buChar char="ü"/>
            </a:pPr>
            <a:r>
              <a:rPr lang="en-US" sz="1400">
                <a:latin typeface="Aptos"/>
              </a:rPr>
              <a:t>Policymakers can develop targeted prevention strategies, such as increasing patrols or awareness</a:t>
            </a:r>
            <a:r>
              <a:rPr lang="en-CA" sz="1400">
                <a:latin typeface="Aptos"/>
              </a:rPr>
              <a:t> </a:t>
            </a:r>
            <a:r>
              <a:rPr lang="en-US" sz="1400">
                <a:latin typeface="Aptos"/>
              </a:rPr>
              <a:t>campaigns</a:t>
            </a:r>
            <a:r>
              <a:rPr lang="en-CA" sz="1400">
                <a:latin typeface="Aptos"/>
              </a:rPr>
              <a:t>.  </a:t>
            </a:r>
            <a:endParaRPr lang="en-CA" sz="1400">
              <a:latin typeface="Aptos"/>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101</Slides>
  <Notes>0</Notes>
  <HiddenSlides>0</HiddenSlides>
  <ScaleCrop>false</ScaleCrop>
  <HeadingPairs>
    <vt:vector size="4" baseType="variant">
      <vt:variant>
        <vt:lpstr>Theme</vt:lpstr>
      </vt:variant>
      <vt:variant>
        <vt:i4>1</vt:i4>
      </vt:variant>
      <vt:variant>
        <vt:lpstr>Slide Titles</vt:lpstr>
      </vt:variant>
      <vt:variant>
        <vt:i4>101</vt:i4>
      </vt:variant>
    </vt:vector>
  </HeadingPairs>
  <TitlesOfParts>
    <vt:vector size="102" baseType="lpstr">
      <vt:lpstr>Office Theme</vt:lpstr>
      <vt:lpstr>Understanding Bicycle Theft Risk:  Drawing Correlations Between Bicycle Cost and Risk of Theft Based on Location &amp; Time Factors </vt:lpstr>
      <vt:lpstr>Introduction</vt:lpstr>
      <vt:lpstr>Our Presentation</vt:lpstr>
      <vt:lpstr>2.0 Business Understanding</vt:lpstr>
      <vt:lpstr>Business Objectives</vt:lpstr>
      <vt:lpstr>The Situation – Data Resources</vt:lpstr>
      <vt:lpstr>The Situation – Bike Theft Risks</vt:lpstr>
      <vt:lpstr>The Situation – Data Mining Goals</vt:lpstr>
      <vt:lpstr>3.0 Data Understanding</vt:lpstr>
      <vt:lpstr>Data Collected</vt:lpstr>
      <vt:lpstr>Data Collected Cont.</vt:lpstr>
      <vt:lpstr>Verify Data Quality</vt:lpstr>
      <vt:lpstr>Describe Data</vt:lpstr>
      <vt:lpstr>Explore Data</vt:lpstr>
      <vt:lpstr>Explore Data</vt:lpstr>
      <vt:lpstr>Verify Data</vt:lpstr>
      <vt:lpstr>Describe Data Cont.</vt:lpstr>
      <vt:lpstr>Explore Data</vt:lpstr>
      <vt:lpstr>Explore Data</vt:lpstr>
      <vt:lpstr>Verify Data</vt:lpstr>
      <vt:lpstr>Describe Data Cont.</vt:lpstr>
      <vt:lpstr>Explore Data</vt:lpstr>
      <vt:lpstr>Verify Data</vt:lpstr>
      <vt:lpstr>Describe Data Cont.</vt:lpstr>
      <vt:lpstr>Visually Explore Data </vt:lpstr>
      <vt:lpstr>Verify Data</vt:lpstr>
      <vt:lpstr>k Nearest Neighbour (kNN)</vt:lpstr>
      <vt:lpstr>4.0 Data Preparation (kNN Model)</vt:lpstr>
      <vt:lpstr>Data Selected (kNN)</vt:lpstr>
      <vt:lpstr>Data Constructed (kNN)</vt:lpstr>
      <vt:lpstr>Data Formatted (kNN)</vt:lpstr>
      <vt:lpstr>5.0 Modelling (kNN)</vt:lpstr>
      <vt:lpstr>Generate Test Design (kNN)   </vt:lpstr>
      <vt:lpstr>Build Model (kNN)</vt:lpstr>
      <vt:lpstr>Access Model/Interpretation (kNN)</vt:lpstr>
      <vt:lpstr>Access Model/Interpretation (kNN)</vt:lpstr>
      <vt:lpstr>6.0 Discussion of Results [kNN]</vt:lpstr>
      <vt:lpstr>Evaluation of Results (kNN) </vt:lpstr>
      <vt:lpstr>Evaluation of Results (kNN)</vt:lpstr>
      <vt:lpstr>Evaluation of Results (kNN)</vt:lpstr>
      <vt:lpstr>Evaluation of Results (kNN)</vt:lpstr>
      <vt:lpstr>Evaluation of Results (kNN)</vt:lpstr>
      <vt:lpstr>Evaluation of Results (kNN)</vt:lpstr>
      <vt:lpstr>Review Process (kNN)</vt:lpstr>
      <vt:lpstr>Review Process (kNN)</vt:lpstr>
      <vt:lpstr>Next Steps (kNN)</vt:lpstr>
      <vt:lpstr>Decision Tree &amp; Random Forest</vt:lpstr>
      <vt:lpstr>4.0 Data Preparation (DT &amp; RF)</vt:lpstr>
      <vt:lpstr>Data Selected (DT &amp; RF)</vt:lpstr>
      <vt:lpstr>Data Constructed (DT &amp; RF)</vt:lpstr>
      <vt:lpstr>Data Formatted (DT &amp; RF)</vt:lpstr>
      <vt:lpstr>5.0 Modelling (DT &amp; RF)</vt:lpstr>
      <vt:lpstr>(DT &amp; RF) Testing/Design</vt:lpstr>
      <vt:lpstr>Build Model  (DT &amp; RF)</vt:lpstr>
      <vt:lpstr>Access Model/Interpretation (DT &amp; RF)</vt:lpstr>
      <vt:lpstr>6.0 Discussion of Results (DT &amp; RF)</vt:lpstr>
      <vt:lpstr>Evaluation of Results (DT &amp; RF)</vt:lpstr>
      <vt:lpstr>Review Process (DT &amp; RF)</vt:lpstr>
      <vt:lpstr>Next Steps (DT &amp; RF)</vt:lpstr>
      <vt:lpstr>Clustering</vt:lpstr>
      <vt:lpstr>4.3 Data Preparation (Clustering)</vt:lpstr>
      <vt:lpstr>Data Selected (Clustering)</vt:lpstr>
      <vt:lpstr>Data Constructed (Clustering)</vt:lpstr>
      <vt:lpstr>Data Formatted (Clustering)</vt:lpstr>
      <vt:lpstr>Modelling (Clustering)</vt:lpstr>
      <vt:lpstr>Generate Test Design (Clustering)  </vt:lpstr>
      <vt:lpstr>Build Model (Clustering)</vt:lpstr>
      <vt:lpstr>Access Model/Interpretation (Clustering)</vt:lpstr>
      <vt:lpstr>Discussion of Results (Clustering)</vt:lpstr>
      <vt:lpstr>Evaluation of Results (Clustering)</vt:lpstr>
      <vt:lpstr>Evaluation of Results (Clustering)</vt:lpstr>
      <vt:lpstr>Evaluation of Results (Clustering)</vt:lpstr>
      <vt:lpstr>Evaluation of Results (Clustering)</vt:lpstr>
      <vt:lpstr>Evaluation of Results (Clustering)</vt:lpstr>
      <vt:lpstr>Interpret Results (Clustering)</vt:lpstr>
      <vt:lpstr>Interpret Results (Clustering)</vt:lpstr>
      <vt:lpstr>Review Process (Clustering)</vt:lpstr>
      <vt:lpstr>Next Steps (Clustering)</vt:lpstr>
      <vt:lpstr>Outlier Detection</vt:lpstr>
      <vt:lpstr>4.0 Data Preparation (Outlier)</vt:lpstr>
      <vt:lpstr>Data Selected (Outlier)</vt:lpstr>
      <vt:lpstr>Data Constructed (Outlier)</vt:lpstr>
      <vt:lpstr>Clean, Construct, and Integrate Data For Outlier</vt:lpstr>
      <vt:lpstr>Format Data For Outlier</vt:lpstr>
      <vt:lpstr>5.0 Modelling (Outlier)</vt:lpstr>
      <vt:lpstr>5.0 Generate Test Design For Outlier</vt:lpstr>
      <vt:lpstr>5.0 Build model For Outlier</vt:lpstr>
      <vt:lpstr>5.0 Build model For Outlier</vt:lpstr>
      <vt:lpstr>5.0 Build model For Outlier</vt:lpstr>
      <vt:lpstr>5.0 Access model For LOF Outlier</vt:lpstr>
      <vt:lpstr>5.0 Access model For ISF Outlier</vt:lpstr>
      <vt:lpstr>Discussion of Results for Outlier</vt:lpstr>
      <vt:lpstr>Evaluation of Results for Outlier</vt:lpstr>
      <vt:lpstr>Evaluation of Results for Outlier</vt:lpstr>
      <vt:lpstr>Evaluation of Results for Outlier</vt:lpstr>
      <vt:lpstr>Evaluation of Results for Outlier</vt:lpstr>
      <vt:lpstr>Interpret Results for Outlier</vt:lpstr>
      <vt:lpstr>Review Process for Outlier</vt:lpstr>
      <vt:lpstr>Next Steps for Outlier</vt:lpstr>
      <vt:lpstr>Next Steps for Outlier</vt:lpstr>
      <vt:lpstr>7.0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Symon Riel</dc:creator>
  <cp:keywords/>
  <dc:description>generated using python-pptx</dc:description>
  <cp:revision>26</cp:revision>
  <dcterms:created xsi:type="dcterms:W3CDTF">2013-01-27T09:14:16Z</dcterms:created>
  <dcterms:modified xsi:type="dcterms:W3CDTF">2025-03-31T03:50:20Z</dcterms:modified>
  <cp:category/>
</cp:coreProperties>
</file>